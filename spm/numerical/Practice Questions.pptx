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344" r:id="rId2"/>
    <p:sldId id="347" r:id="rId3"/>
    <p:sldId id="348" r:id="rId4"/>
    <p:sldId id="349" r:id="rId5"/>
    <p:sldId id="350" r:id="rId6"/>
    <p:sldId id="351" r:id="rId7"/>
    <p:sldId id="352" r:id="rId8"/>
    <p:sldId id="353" r:id="rId9"/>
    <p:sldId id="354" r:id="rId10"/>
    <p:sldId id="355" r:id="rId11"/>
    <p:sldId id="356" r:id="rId12"/>
    <p:sldId id="357" r:id="rId13"/>
    <p:sldId id="359" r:id="rId14"/>
    <p:sldId id="360" r:id="rId15"/>
    <p:sldId id="361" r:id="rId16"/>
    <p:sldId id="362" r:id="rId17"/>
    <p:sldId id="363" r:id="rId18"/>
    <p:sldId id="364" r:id="rId19"/>
    <p:sldId id="365" r:id="rId20"/>
    <p:sldId id="366" r:id="rId21"/>
    <p:sldId id="367" r:id="rId22"/>
    <p:sldId id="368" r:id="rId23"/>
    <p:sldId id="369" r:id="rId24"/>
    <p:sldId id="370" r:id="rId25"/>
    <p:sldId id="371" r:id="rId26"/>
    <p:sldId id="372" r:id="rId27"/>
    <p:sldId id="373" r:id="rId28"/>
    <p:sldId id="37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77E745-0186-4A22-A0EB-2240965AEB62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29371-DAB4-4E6D-A61A-4C7FAD3A7F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833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ED657-8AAA-46DA-9608-0F48FEBCB91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3999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30887-ABCD-D24B-7D1A-5491BCDFE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82D5AF-D60E-37DE-B6B0-2C938599E5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69168-89AC-0974-AA5F-408D8F3B4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2550E-48A2-D1DA-2DF6-D1769E69BE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ED657-8AAA-46DA-9608-0F48FEBCB91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787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6A8BF-FDB1-8439-F25B-CD46F9CD2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3CCD5-B0D0-E3F4-6183-6F5F145CA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470DE1-A91E-1FD4-DBF2-01F7EBD60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720C4-DB8C-2D58-0042-B1124A1B9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ED657-8AAA-46DA-9608-0F48FEBCB91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365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84580-A248-BD72-9AC6-8512DA89C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0403EC-5A32-FA6B-C2E9-3CCBD2204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FE9BB-55CA-8464-158B-E38EB565C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5F005-64E4-BE34-10EB-6F921D088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ED657-8AAA-46DA-9608-0F48FEBCB91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723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B3F1D-6393-119B-55E4-F7FAD5E8E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B5AA8B-5E71-F806-12EE-7EF5948A3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EB8C92-64EB-4B46-BA7C-CE97517384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49735-17A7-CF80-76D8-F093BF8D4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ED657-8AAA-46DA-9608-0F48FEBCB91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967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EEA19-8402-C349-44A1-198E2E911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805BF3-FCCC-35B1-6493-561A777E1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91962F-38C6-69EF-8C7B-C1DABCB39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FA92D-3A4F-3069-19DB-74A753E587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ED657-8AAA-46DA-9608-0F48FEBCB91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853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9F112-029A-4D3F-F5AB-DA3703928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D7190B-F334-D258-D4D4-EC5701101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70726-D793-FE6A-8064-85003826A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9A85D-B5E1-E313-3789-375EA6D18F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ED657-8AAA-46DA-9608-0F48FEBCB91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087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1015B-CFAC-455D-D336-CB76ECF4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472557-F972-E0D7-F42F-AA360CD40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54E6C-C9FE-FFB1-D02A-7FCAB23B3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2F01E-8DCE-EF68-C77E-311FA09E88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ED657-8AAA-46DA-9608-0F48FEBCB91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3669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594C3-A45D-F4C4-400D-18278F5F4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E2BCB9-74B2-268B-5593-4DFFADEB00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83A83C-BCAE-035A-B2C9-E6E4DEF74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0E0CC-9FC7-F47A-284B-188EDB8E9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ED657-8AAA-46DA-9608-0F48FEBCB91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2258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4A83D-5FAD-C726-F65E-876F13382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CBF7C6-C260-BF84-E32E-B8647D4FB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F5F951-155E-9D83-7B8D-F5DB9C69A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DB03D-3A3E-CC52-415F-3DA76263DA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ED657-8AAA-46DA-9608-0F48FEBCB91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9343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30000" dirty="0">
                <a:solidFill>
                  <a:srgbClr val="FF0000"/>
                </a:solidFill>
              </a:rPr>
              <a:t>FTE/ FSP stands for Full-time-equivalent Software Personnel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ED657-8AAA-46DA-9608-0F48FEBCB91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4994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FTE</a:t>
            </a:r>
            <a:r>
              <a:rPr lang="en-IN" dirty="0"/>
              <a:t> = average number of full-time people working continuously</a:t>
            </a:r>
          </a:p>
          <a:p>
            <a:endParaRPr lang="en-IN" dirty="0"/>
          </a:p>
          <a:p>
            <a:r>
              <a:rPr lang="en-IN" dirty="0"/>
              <a:t>Person-Months=FTE (average)×Project Duration (months)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ED657-8AAA-46DA-9608-0F48FEBCB918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3479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CB7DC-2753-2F52-C680-F550CC81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CA4E23-D643-D65B-EF2E-FC7B35B65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A31231-6C59-14EA-C9DB-4835F70D9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93595-F7B5-4FD9-3836-766F2D2061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D1167-6E9D-47D6-8764-2F424853FCE7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6978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B8A92-2E11-4020-94D1-C06377BCD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5BBFE-3A04-958C-EA7B-4E062D0B1A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7C73B3-B4E2-3738-2117-629FCE90D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3CDD6-8651-0AFC-0B19-4946900D1F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D1167-6E9D-47D6-8764-2F424853FCE7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9458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0A8D5-E775-BE06-07AB-F45B40B0D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617159-7BA5-F8C1-A60D-D9356C96B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23685-D1E2-2DE3-BE49-AE8F49886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C4B4C-7D6E-1915-EB20-C07C6DEABC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D1167-6E9D-47D6-8764-2F424853FCE7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611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47F7D-3A23-E091-CEC2-51D99E5CE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DA53BB-673E-D9E1-05E9-1D289A90EF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5A8AE6-02D5-A576-4B22-3FC245920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07508-128B-1D81-60F3-5AD6AB2426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D1167-6E9D-47D6-8764-2F424853FCE7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70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E365E-DD8F-EA67-928E-8B23DD7A9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CD89E6-0DAD-8E88-9B2F-DA2F182FC3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9C444-2F19-6CED-0FF6-0841C572B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9C5F-41EC-48A9-92DE-2AAB393CA446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F55F8-8C77-E267-8E29-94D59F9E4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61EA9-C584-3688-DD87-3DE12510C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29B9-41AC-4BD1-88F9-78D47DAE3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025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E3C96-825E-80CB-CD66-AB02C5468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FF286-82C3-76A8-E6A5-26BB93333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2BD31-3735-F993-641C-23E50F51E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9C5F-41EC-48A9-92DE-2AAB393CA446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F1AD0-3609-2DDF-6089-AC9049BD7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C768D-4BEC-907A-EE20-7B1A72768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29B9-41AC-4BD1-88F9-78D47DAE3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213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4A3F2-A04E-5EC3-189E-1C37EC0F0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90747-C198-B2DF-C876-572698FCE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68994-E185-F6EE-C10F-545FB8D73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9C5F-41EC-48A9-92DE-2AAB393CA446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ABE5D-640C-4270-927D-C72C5AAD4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41BC6-70FC-C856-0656-CF62D9B74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29B9-41AC-4BD1-88F9-78D47DAE3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09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DDBB2-B775-8423-E4AB-AD55A31E6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2A9D1-76A4-BDF6-8CC4-40A4A38549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56A45-1D01-2DE1-B015-753963495C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D8E56-D9B9-4C74-57D0-7B81B6C9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9C5F-41EC-48A9-92DE-2AAB393CA446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44F7E-E2B2-9BAF-95CE-4B22661C9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2B762-1376-A15C-17E4-38231CD9D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29B9-41AC-4BD1-88F9-78D47DAE3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200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FC0A-0A96-3C77-A4DB-51C5626CE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11DFF-CA44-963C-F6E8-6C4675154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75E160-53B4-CFAF-2EEB-BCD542F2F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EB3584-F68A-9245-9D99-418D1208B0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13E86-280F-CB08-6A78-010171A663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8D946E-040F-8BB9-845C-0AA08AC19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9C5F-41EC-48A9-92DE-2AAB393CA446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0F2A85-C973-B7F5-6D8F-01E062194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4C86DF-A106-E835-A969-3779D9AF0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29B9-41AC-4BD1-88F9-78D47DAE3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137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F1CA0-6C2B-4784-D2B3-6BD742459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02BEE4-A31D-F2E6-F72A-91A0545A4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9C5F-41EC-48A9-92DE-2AAB393CA446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147E02-F38E-7A27-153C-6A29B7D1B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E71E4C-41D7-581A-871F-037DE3240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29B9-41AC-4BD1-88F9-78D47DAE3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549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67B4F1-4F32-784D-C58F-BFACD0CEC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9C5F-41EC-48A9-92DE-2AAB393CA446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E37B75-1036-02D0-A4C7-CEE544E1F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AA8EA-0A04-3160-E5EB-91E3FE51F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29B9-41AC-4BD1-88F9-78D47DAE3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15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29273-C8B3-2DE6-2D4C-21F28ACDA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E3D7-BCEF-3791-8BA1-C59457732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CE3DE-55D8-0940-59AC-8065B059FB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D29C48-963A-EA7C-6455-D363226CE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9C5F-41EC-48A9-92DE-2AAB393CA446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908123-41B9-3E66-5610-B136552B6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DFAAB-3FCA-C3A3-B47F-2F8CB7C4F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29B9-41AC-4BD1-88F9-78D47DAE3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343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000FD-1898-2DD2-FA85-AFD2606D7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0BFDE-A56A-7C85-9F80-E335EE350D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3E171-25B8-45A5-8E30-85BE6ADBA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6D710-81D2-1953-4A50-5F5B12EDF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9C5F-41EC-48A9-92DE-2AAB393CA446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6C869-5B33-C6EA-DAF9-6AE83A572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EF673-767E-7CEC-80B4-56C5667E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29B9-41AC-4BD1-88F9-78D47DAE3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147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CCACE-C470-8CF8-C1BC-5FAAFDDA1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024E68-3243-8272-6E41-29CC9F144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AEB78-23B8-18F7-7A05-141D13F9E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9C5F-41EC-48A9-92DE-2AAB393CA446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4D9CC-9BE7-950A-6688-A220328AE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48CAC-C782-7963-D77D-D8BCD809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29B9-41AC-4BD1-88F9-78D47DAE3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579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61EACD-2284-0331-6983-72207B557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9C62F-D24B-1819-EF3A-0B4114593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A76FB-CED6-45C5-D7DC-3AF819678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9C5F-41EC-48A9-92DE-2AAB393CA446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8AE50-E92C-2F45-E4B3-97A15C369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B66C4-A5E7-C05C-A631-17E1A996C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29B9-41AC-4BD1-88F9-78D47DAE3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098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0C2A6-B5D1-1384-7B56-39B62CF2E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EA10F-C244-0DF8-50E5-A8A539F87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0B544-4CA4-4AC0-7B36-7908CDB50F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09C5F-41EC-48A9-92DE-2AAB393CA446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5EF0C-CF2F-EC76-326E-675F4CDC1E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97322-A842-2A75-1451-0100DA701A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0029B9-41AC-4BD1-88F9-78D47DAE3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307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2D9F4-DE22-00A2-102A-64EFB7C26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649" y="-92075"/>
            <a:ext cx="10515600" cy="1325563"/>
          </a:xfrm>
        </p:spPr>
        <p:txBody>
          <a:bodyPr/>
          <a:lstStyle/>
          <a:p>
            <a:r>
              <a:rPr lang="en-US" dirty="0"/>
              <a:t>Practice Question (COCOMO Model):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1FFBF-2DC4-C567-4FBE-0B43DF14D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703" y="1825625"/>
            <a:ext cx="11454713" cy="4351338"/>
          </a:xfrm>
        </p:spPr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en-US" dirty="0"/>
              <a:t>Consider a Semi-Detached mode​ having 32,000 Delivered Source Instructions. Estimate Effort, duration (schedule), productivity and average staffing?</a:t>
            </a:r>
          </a:p>
          <a:p>
            <a:pPr marL="0" indent="0" algn="just" fontAlgn="base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BBF3B183-2DAB-24C6-9375-B100F385BE40}"/>
              </a:ext>
            </a:extLst>
          </p:cNvPr>
          <p:cNvGraphicFramePr>
            <a:graphicFrameLocks noGrp="1"/>
          </p:cNvGraphicFramePr>
          <p:nvPr/>
        </p:nvGraphicFramePr>
        <p:xfrm>
          <a:off x="573954" y="3521710"/>
          <a:ext cx="7164069" cy="2971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4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8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marL="561340" marR="455930" indent="-9652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Software Project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a</a:t>
                      </a:r>
                      <a:endParaRPr sz="1800" baseline="-20833" dirty="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b</a:t>
                      </a:r>
                      <a:endParaRPr sz="1800" baseline="-20833" dirty="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c</a:t>
                      </a:r>
                      <a:endParaRPr sz="1800" baseline="-20833" dirty="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d</a:t>
                      </a:r>
                      <a:endParaRPr sz="1800" baseline="-20833" dirty="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Organic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286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2.4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28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1.05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28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2.5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28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0.38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28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Semidetached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222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3.0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22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1.12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22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2.5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22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0.35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22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59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Embedded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2222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3.6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222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1.20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22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2.5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22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0.32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222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479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2C108-972A-4529-10F1-FD9F8EC40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26F51-58F2-5349-6631-BEAA2C4B4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205" y="2141537"/>
            <a:ext cx="10515600" cy="4351338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		Effort = a(KLOC)</a:t>
            </a:r>
            <a:r>
              <a:rPr lang="en-US" baseline="30000" dirty="0"/>
              <a:t>b </a:t>
            </a:r>
            <a:r>
              <a:rPr lang="en-US" dirty="0"/>
              <a:t>= 3.0*(32)</a:t>
            </a:r>
            <a:r>
              <a:rPr lang="en-US" baseline="30000" dirty="0"/>
              <a:t>1.12</a:t>
            </a:r>
            <a:r>
              <a:rPr lang="en-US" dirty="0"/>
              <a:t> = 146 man-months​</a:t>
            </a:r>
          </a:p>
          <a:p>
            <a:pPr marL="0" indent="0" algn="ctr" fontAlgn="base">
              <a:buNone/>
            </a:pPr>
            <a:r>
              <a:rPr lang="en-US" dirty="0"/>
              <a:t>Schedule = c(E)</a:t>
            </a:r>
            <a:r>
              <a:rPr lang="en-US" baseline="30000" dirty="0"/>
              <a:t>d</a:t>
            </a:r>
            <a:r>
              <a:rPr lang="en-US" dirty="0"/>
              <a:t> = 2.5*(146)</a:t>
            </a:r>
            <a:r>
              <a:rPr lang="en-US" baseline="30000" dirty="0"/>
              <a:t>0.35</a:t>
            </a:r>
            <a:r>
              <a:rPr lang="en-US" dirty="0"/>
              <a:t> = 14 months​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algn="just" fontAlgn="base">
              <a:buNone/>
            </a:pPr>
            <a:r>
              <a:rPr lang="en-US" dirty="0"/>
              <a:t>​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C0CB63-0FFC-E281-0010-781DE13F0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649" y="-92075"/>
            <a:ext cx="10515600" cy="1325563"/>
          </a:xfrm>
        </p:spPr>
        <p:txBody>
          <a:bodyPr/>
          <a:lstStyle/>
          <a:p>
            <a:r>
              <a:rPr lang="en-US" dirty="0"/>
              <a:t>Practice Question 1 (COCOMO Model):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980E35-7849-D6A5-3FF4-534AB0184BF2}"/>
              </a:ext>
            </a:extLst>
          </p:cNvPr>
          <p:cNvSpPr txBox="1">
            <a:spLocks/>
          </p:cNvSpPr>
          <p:nvPr/>
        </p:nvSpPr>
        <p:spPr>
          <a:xfrm>
            <a:off x="195649" y="997722"/>
            <a:ext cx="11454713" cy="1473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base">
              <a:buFont typeface="Arial" panose="020B0604020202020204" pitchFamily="34" charset="0"/>
              <a:buNone/>
            </a:pPr>
            <a:r>
              <a:rPr lang="en-US" dirty="0"/>
              <a:t>Consider a Semi-Detached mode​ having 32,000 Delivered Source Instructions. Estimate Effort, duration (schedule), productivity and average staffing?</a:t>
            </a:r>
          </a:p>
          <a:p>
            <a:pPr marL="0" indent="0" algn="just" fontAlgn="base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Solution: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dirty="0"/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6C47A8FA-1AD7-0DB9-BAA4-CE23EEA221E5}"/>
              </a:ext>
            </a:extLst>
          </p:cNvPr>
          <p:cNvGraphicFramePr>
            <a:graphicFrameLocks noGrp="1"/>
          </p:cNvGraphicFramePr>
          <p:nvPr/>
        </p:nvGraphicFramePr>
        <p:xfrm>
          <a:off x="573954" y="3521710"/>
          <a:ext cx="7164069" cy="2971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4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8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marL="561340" marR="455930" indent="-9652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Software Project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a</a:t>
                      </a:r>
                      <a:endParaRPr sz="1800" baseline="-20833" dirty="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b</a:t>
                      </a:r>
                      <a:endParaRPr sz="1800" baseline="-20833" dirty="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c</a:t>
                      </a:r>
                      <a:endParaRPr sz="1800" baseline="-20833" dirty="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d</a:t>
                      </a:r>
                      <a:endParaRPr sz="1800" baseline="-20833" dirty="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Organic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286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2.4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28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1.05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28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2.5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28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0.38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28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Semidetached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222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3.0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22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1.12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22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2.5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22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0.35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22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59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Embedded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2222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3.6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222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1.20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22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2.5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22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0.32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222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3727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9DDAB-AE77-A65A-66D4-E140DF060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7B896-99BA-5A74-3EA6-74B297200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556" y="2471351"/>
            <a:ext cx="11526795" cy="4351338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		Effort, E = a(KLOC)</a:t>
            </a:r>
            <a:r>
              <a:rPr lang="en-US" baseline="30000" dirty="0"/>
              <a:t>b </a:t>
            </a:r>
            <a:r>
              <a:rPr lang="en-US" dirty="0"/>
              <a:t>= 3.0*(32)</a:t>
            </a:r>
            <a:r>
              <a:rPr lang="en-US" baseline="30000" dirty="0"/>
              <a:t>1.12</a:t>
            </a:r>
            <a:r>
              <a:rPr lang="en-US" dirty="0"/>
              <a:t> = 146 man-months​</a:t>
            </a:r>
          </a:p>
          <a:p>
            <a:pPr marL="0" indent="0" algn="ctr" fontAlgn="base">
              <a:buNone/>
            </a:pPr>
            <a:r>
              <a:rPr lang="en-US" dirty="0"/>
              <a:t>Nominal Development Time, Schedule (or Duration), D = </a:t>
            </a:r>
          </a:p>
          <a:p>
            <a:pPr marL="0" indent="0" algn="ctr" fontAlgn="base">
              <a:buNone/>
            </a:pPr>
            <a:r>
              <a:rPr lang="en-US" dirty="0"/>
              <a:t>c(E)</a:t>
            </a:r>
            <a:r>
              <a:rPr lang="en-US" baseline="30000" dirty="0"/>
              <a:t>d</a:t>
            </a:r>
            <a:r>
              <a:rPr lang="en-US" dirty="0"/>
              <a:t> = 2.5*(146)</a:t>
            </a:r>
            <a:r>
              <a:rPr lang="en-US" baseline="30000" dirty="0"/>
              <a:t>0.35</a:t>
            </a:r>
            <a:r>
              <a:rPr lang="en-US" dirty="0"/>
              <a:t> = 14 months​</a:t>
            </a:r>
          </a:p>
          <a:p>
            <a:pPr marL="0" indent="0" algn="ctr" fontAlgn="base">
              <a:buNone/>
            </a:pPr>
            <a:r>
              <a:rPr lang="en-US" dirty="0"/>
              <a:t>Productivity = KLOC/ E = 32 / 146 ​ = 0.219 DSI/MM​</a:t>
            </a:r>
          </a:p>
          <a:p>
            <a:pPr marL="0" indent="0" algn="ctr" fontAlgn="base">
              <a:buNone/>
            </a:pPr>
            <a:r>
              <a:rPr lang="en-US" dirty="0"/>
              <a:t>Average Staffing (staff size) = E/D </a:t>
            </a:r>
          </a:p>
          <a:p>
            <a:pPr marL="0" indent="0" algn="ctr" fontAlgn="base">
              <a:buNone/>
            </a:pPr>
            <a:r>
              <a:rPr lang="en-US" dirty="0"/>
              <a:t>=  146 MM /14 months ​= 10 Person​ ( or FSP)</a:t>
            </a:r>
          </a:p>
          <a:p>
            <a:pPr marL="0" indent="0" algn="r" fontAlgn="base">
              <a:buNone/>
            </a:pPr>
            <a:endParaRPr lang="en-US" baseline="30000" dirty="0">
              <a:solidFill>
                <a:srgbClr val="FF0000"/>
              </a:solidFill>
            </a:endParaRPr>
          </a:p>
          <a:p>
            <a:pPr marL="0" indent="0" algn="r" fontAlgn="base">
              <a:buNone/>
            </a:pPr>
            <a:r>
              <a:rPr lang="en-US" baseline="30000" dirty="0">
                <a:solidFill>
                  <a:srgbClr val="FF0000"/>
                </a:solidFill>
              </a:rPr>
              <a:t>FSP stands for Full-time-equivalent Software Personnel.​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0A7F42-864F-FD07-DEC1-F45AA715C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649" y="-92075"/>
            <a:ext cx="10515600" cy="1325563"/>
          </a:xfrm>
        </p:spPr>
        <p:txBody>
          <a:bodyPr/>
          <a:lstStyle/>
          <a:p>
            <a:r>
              <a:rPr lang="en-US" dirty="0"/>
              <a:t>Practice Question 1 (COCOMO Model):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E7646B-E77E-867B-BA76-45B3F52AE1FD}"/>
              </a:ext>
            </a:extLst>
          </p:cNvPr>
          <p:cNvSpPr txBox="1">
            <a:spLocks/>
          </p:cNvSpPr>
          <p:nvPr/>
        </p:nvSpPr>
        <p:spPr>
          <a:xfrm>
            <a:off x="195649" y="997722"/>
            <a:ext cx="11454713" cy="1473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base">
              <a:buFont typeface="Arial" panose="020B0604020202020204" pitchFamily="34" charset="0"/>
              <a:buNone/>
            </a:pPr>
            <a:r>
              <a:rPr lang="en-US" dirty="0"/>
              <a:t>Consider a Semi-Detached mode​ having 32,000 Delivered Source Instructions. Estimate Effort, duration (schedule), productivity and average staffing?</a:t>
            </a:r>
          </a:p>
          <a:p>
            <a:pPr marL="0" indent="0" algn="just" fontAlgn="base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Solution: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327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6FA93-7630-0D1E-BE16-261A3187C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A8BF0DE-858C-8103-0C50-2F9F43174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649" y="-92075"/>
            <a:ext cx="10515600" cy="1325563"/>
          </a:xfrm>
        </p:spPr>
        <p:txBody>
          <a:bodyPr/>
          <a:lstStyle/>
          <a:p>
            <a:r>
              <a:rPr lang="en-US" dirty="0"/>
              <a:t>Practice Question 1 (COCOMO Model):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13DF6DB-51FA-E662-02D0-FCBCBB34D3EC}"/>
              </a:ext>
            </a:extLst>
          </p:cNvPr>
          <p:cNvSpPr txBox="1">
            <a:spLocks/>
          </p:cNvSpPr>
          <p:nvPr/>
        </p:nvSpPr>
        <p:spPr>
          <a:xfrm>
            <a:off x="195649" y="1233488"/>
            <a:ext cx="11454713" cy="2406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base">
              <a:buFont typeface="Arial" panose="020B0604020202020204" pitchFamily="34" charset="0"/>
              <a:buNone/>
            </a:pPr>
            <a:r>
              <a:rPr lang="en-US" dirty="0"/>
              <a:t>Consider a Semi-Detached mode​ having 32,000 Delivered Source Instructions. Estimate Effort, duration (schedule), productivity and average staffing?</a:t>
            </a:r>
          </a:p>
          <a:p>
            <a:pPr marL="0" indent="0" algn="just" fontAlgn="base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Calculate total cost for developing this project if avg salary per developer is Rs. 15,000?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497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96092-A67D-ED3F-FE42-F72556CAC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6F8A9-2502-ECB7-B1AE-7691346B3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649" y="3453713"/>
            <a:ext cx="11526795" cy="4351338"/>
          </a:xfrm>
        </p:spPr>
        <p:txBody>
          <a:bodyPr>
            <a:normAutofit/>
          </a:bodyPr>
          <a:lstStyle/>
          <a:p>
            <a:pPr marL="0" indent="0" algn="ctr" fontAlgn="base">
              <a:buNone/>
            </a:pPr>
            <a:r>
              <a:rPr lang="en-US" dirty="0"/>
              <a:t>Duration, D = 14 months​</a:t>
            </a:r>
          </a:p>
          <a:p>
            <a:pPr marL="0" indent="0" algn="ctr" fontAlgn="base">
              <a:buNone/>
            </a:pPr>
            <a:r>
              <a:rPr lang="en-US" dirty="0"/>
              <a:t>Cost Required to develop product= D* Avg Salary</a:t>
            </a:r>
          </a:p>
          <a:p>
            <a:pPr marL="0" indent="0" algn="ctr" fontAlgn="base">
              <a:buNone/>
            </a:pPr>
            <a:r>
              <a:rPr lang="en-US" dirty="0"/>
              <a:t>	                			= 14 * 15000</a:t>
            </a:r>
          </a:p>
          <a:p>
            <a:pPr marL="0" indent="0" algn="ctr" fontAlgn="base">
              <a:buNone/>
            </a:pPr>
            <a:r>
              <a:rPr lang="en-US" dirty="0"/>
              <a:t>					=Rs. 2,10,000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2380208-D4FA-C983-72A4-BD8D1E3FB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649" y="-92075"/>
            <a:ext cx="10515600" cy="1325563"/>
          </a:xfrm>
        </p:spPr>
        <p:txBody>
          <a:bodyPr/>
          <a:lstStyle/>
          <a:p>
            <a:r>
              <a:rPr lang="en-US" dirty="0"/>
              <a:t>Practice Question 1 (COCOMO Model):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872DC25-9F0B-71E4-42C1-F90BCC2A0760}"/>
              </a:ext>
            </a:extLst>
          </p:cNvPr>
          <p:cNvSpPr txBox="1">
            <a:spLocks/>
          </p:cNvSpPr>
          <p:nvPr/>
        </p:nvSpPr>
        <p:spPr>
          <a:xfrm>
            <a:off x="195649" y="997722"/>
            <a:ext cx="11454713" cy="2406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base">
              <a:buFont typeface="Arial" panose="020B0604020202020204" pitchFamily="34" charset="0"/>
              <a:buNone/>
            </a:pPr>
            <a:r>
              <a:rPr lang="en-US" dirty="0"/>
              <a:t>Consider a Semi-Detached mode​ having 32,000 Delivered Source Instructions. Estimate Effort, duration (schedule), productivity and average staffing?</a:t>
            </a:r>
          </a:p>
          <a:p>
            <a:pPr marL="0" indent="0" algn="just" fontAlgn="base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Calculate total cost for developing this project if avg salary per developer is Rs. 15,000?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49098-CDED-6EC6-0FAB-EBB4182F1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DECC633-6A45-0505-4549-00982FD10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649" y="-92075"/>
            <a:ext cx="10515600" cy="1325563"/>
          </a:xfrm>
        </p:spPr>
        <p:txBody>
          <a:bodyPr/>
          <a:lstStyle/>
          <a:p>
            <a:r>
              <a:rPr lang="en-US" dirty="0"/>
              <a:t>Practice Question 2: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15F6F8E-A0A1-D48A-057E-549135E6B63C}"/>
              </a:ext>
            </a:extLst>
          </p:cNvPr>
          <p:cNvSpPr txBox="1">
            <a:spLocks/>
          </p:cNvSpPr>
          <p:nvPr/>
        </p:nvSpPr>
        <p:spPr>
          <a:xfrm>
            <a:off x="195649" y="1356068"/>
            <a:ext cx="11813059" cy="2406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sz="2000" dirty="0"/>
              <a:t>A software company is developing a </a:t>
            </a:r>
            <a:r>
              <a:rPr lang="en-IN" sz="2000" b="1" dirty="0"/>
              <a:t>Hospital Management System (HMS)</a:t>
            </a:r>
            <a:r>
              <a:rPr lang="en-IN" sz="2000" dirty="0"/>
              <a:t> to handle patient records, billing, appointments, and pharmacy integration. The estimated </a:t>
            </a:r>
            <a:r>
              <a:rPr lang="en-IN" sz="2000" b="1" dirty="0"/>
              <a:t>size of the project</a:t>
            </a:r>
            <a:r>
              <a:rPr lang="en-IN" sz="2000" dirty="0"/>
              <a:t> is </a:t>
            </a:r>
            <a:r>
              <a:rPr lang="en-IN" sz="2000" b="1" dirty="0"/>
              <a:t>60,000 Delivered Source Instructions (DSI)</a:t>
            </a:r>
            <a:r>
              <a:rPr lang="en-IN" sz="2000" dirty="0"/>
              <a:t>. The project falls into the </a:t>
            </a:r>
            <a:r>
              <a:rPr lang="en-IN" sz="2000" b="1" dirty="0"/>
              <a:t>Semi-Detached mode</a:t>
            </a:r>
            <a:r>
              <a:rPr lang="en-IN" sz="2000" dirty="0"/>
              <a:t> because it involves a medium-sized team with mixed experience. The </a:t>
            </a:r>
            <a:r>
              <a:rPr lang="en-IN" sz="2000" b="1" dirty="0"/>
              <a:t>cost drivers (EAF multipliers)</a:t>
            </a:r>
            <a:r>
              <a:rPr lang="en-IN" sz="2000" dirty="0"/>
              <a:t> have been assessed as follows:</a:t>
            </a:r>
          </a:p>
          <a:p>
            <a:pPr marL="0" indent="0" algn="just" fontAlgn="base">
              <a:buFont typeface="Arial" panose="020B0604020202020204" pitchFamily="34" charset="0"/>
              <a:buNone/>
            </a:pPr>
            <a:endParaRPr lang="en-US" sz="20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F1DF892-1868-14E6-4E97-404879CC2C4A}"/>
              </a:ext>
            </a:extLst>
          </p:cNvPr>
          <p:cNvGraphicFramePr>
            <a:graphicFrameLocks noGrp="1"/>
          </p:cNvGraphicFramePr>
          <p:nvPr/>
        </p:nvGraphicFramePr>
        <p:xfrm>
          <a:off x="195649" y="2698891"/>
          <a:ext cx="5747951" cy="2926080"/>
        </p:xfrm>
        <a:graphic>
          <a:graphicData uri="http://schemas.openxmlformats.org/drawingml/2006/table">
            <a:tbl>
              <a:tblPr/>
              <a:tblGrid>
                <a:gridCol w="3262630">
                  <a:extLst>
                    <a:ext uri="{9D8B030D-6E8A-4147-A177-3AD203B41FA5}">
                      <a16:colId xmlns:a16="http://schemas.microsoft.com/office/drawing/2014/main" val="1089888904"/>
                    </a:ext>
                  </a:extLst>
                </a:gridCol>
                <a:gridCol w="1186244">
                  <a:extLst>
                    <a:ext uri="{9D8B030D-6E8A-4147-A177-3AD203B41FA5}">
                      <a16:colId xmlns:a16="http://schemas.microsoft.com/office/drawing/2014/main" val="1685686845"/>
                    </a:ext>
                  </a:extLst>
                </a:gridCol>
                <a:gridCol w="1299077">
                  <a:extLst>
                    <a:ext uri="{9D8B030D-6E8A-4147-A177-3AD203B41FA5}">
                      <a16:colId xmlns:a16="http://schemas.microsoft.com/office/drawing/2014/main" val="24917507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Driver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512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Reliability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551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454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Execution Time Constraint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72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Analyst 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03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Programmer 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394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of Software Tools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950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Development 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38107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768F8B-30A0-8218-1426-B504D28FB24D}"/>
                  </a:ext>
                </a:extLst>
              </p:cNvPr>
              <p:cNvSpPr txBox="1"/>
              <p:nvPr/>
            </p:nvSpPr>
            <p:spPr>
              <a:xfrm>
                <a:off x="6621162" y="3220388"/>
                <a:ext cx="5375189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Compute the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Effort Adjustment Factor (EAF)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Using the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Intermediate COCOMO model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estimate: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Effort (in person-months)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Development Time (in months)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Productivity (LOC per PM)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 Staffing (persons)</a:t>
                </a:r>
              </a:p>
              <a:p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Semi-Detached constants: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=3.0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=1.12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=2.5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=0.35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768F8B-30A0-8218-1426-B504D28FB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1162" y="3220388"/>
                <a:ext cx="5375189" cy="2862322"/>
              </a:xfrm>
              <a:prstGeom prst="rect">
                <a:avLst/>
              </a:prstGeom>
              <a:blipFill>
                <a:blip r:embed="rId3"/>
                <a:stretch>
                  <a:fillRect l="-943" t="-881" r="-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3209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A5CD1-1376-FC76-8D6D-9BC5A5767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49EB53-CA05-A9F0-D42E-3426AA6B8F5C}"/>
              </a:ext>
            </a:extLst>
          </p:cNvPr>
          <p:cNvSpPr txBox="1">
            <a:spLocks/>
          </p:cNvSpPr>
          <p:nvPr/>
        </p:nvSpPr>
        <p:spPr>
          <a:xfrm>
            <a:off x="37071" y="79085"/>
            <a:ext cx="10157254" cy="2406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sz="1800" dirty="0"/>
              <a:t>A software company is developing a </a:t>
            </a:r>
            <a:r>
              <a:rPr lang="en-IN" sz="1800" b="1" dirty="0"/>
              <a:t>Hospital Management System (HMS)</a:t>
            </a:r>
            <a:r>
              <a:rPr lang="en-IN" sz="1800" dirty="0"/>
              <a:t> to handle patient records, billing, appointments, and pharmacy integration. The estimated </a:t>
            </a:r>
            <a:r>
              <a:rPr lang="en-IN" sz="1800" b="1" dirty="0"/>
              <a:t>size of the project</a:t>
            </a:r>
            <a:r>
              <a:rPr lang="en-IN" sz="1800" dirty="0"/>
              <a:t> is </a:t>
            </a:r>
            <a:r>
              <a:rPr lang="en-IN" sz="1800" b="1" dirty="0"/>
              <a:t>60,000 Delivered Source Instructions (DSI)</a:t>
            </a:r>
            <a:r>
              <a:rPr lang="en-IN" sz="1800" dirty="0"/>
              <a:t>. The project falls into the </a:t>
            </a:r>
            <a:r>
              <a:rPr lang="en-IN" sz="1800" b="1" dirty="0"/>
              <a:t>Semi-Detached mode</a:t>
            </a:r>
            <a:r>
              <a:rPr lang="en-IN" sz="1800" dirty="0"/>
              <a:t> because it involves a medium-sized team with mixed experience. The </a:t>
            </a:r>
            <a:r>
              <a:rPr lang="en-IN" sz="1800" b="1" dirty="0"/>
              <a:t>cost drivers (EAF multipliers)</a:t>
            </a:r>
            <a:r>
              <a:rPr lang="en-IN" sz="1800" dirty="0"/>
              <a:t> have been assessed as follows:</a:t>
            </a:r>
          </a:p>
          <a:p>
            <a:pPr marL="0" indent="0" algn="just" fontAlgn="base">
              <a:buFont typeface="Arial" panose="020B0604020202020204" pitchFamily="34" charset="0"/>
              <a:buNone/>
            </a:pPr>
            <a:endParaRPr lang="en-US" sz="18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7FD97FD-7CF4-B78E-0676-DC60310949D9}"/>
              </a:ext>
            </a:extLst>
          </p:cNvPr>
          <p:cNvGraphicFramePr>
            <a:graphicFrameLocks noGrp="1"/>
          </p:cNvGraphicFramePr>
          <p:nvPr/>
        </p:nvGraphicFramePr>
        <p:xfrm>
          <a:off x="109152" y="1282367"/>
          <a:ext cx="5747951" cy="2926080"/>
        </p:xfrm>
        <a:graphic>
          <a:graphicData uri="http://schemas.openxmlformats.org/drawingml/2006/table">
            <a:tbl>
              <a:tblPr/>
              <a:tblGrid>
                <a:gridCol w="3262630">
                  <a:extLst>
                    <a:ext uri="{9D8B030D-6E8A-4147-A177-3AD203B41FA5}">
                      <a16:colId xmlns:a16="http://schemas.microsoft.com/office/drawing/2014/main" val="1089888904"/>
                    </a:ext>
                  </a:extLst>
                </a:gridCol>
                <a:gridCol w="1186244">
                  <a:extLst>
                    <a:ext uri="{9D8B030D-6E8A-4147-A177-3AD203B41FA5}">
                      <a16:colId xmlns:a16="http://schemas.microsoft.com/office/drawing/2014/main" val="1685686845"/>
                    </a:ext>
                  </a:extLst>
                </a:gridCol>
                <a:gridCol w="1299077">
                  <a:extLst>
                    <a:ext uri="{9D8B030D-6E8A-4147-A177-3AD203B41FA5}">
                      <a16:colId xmlns:a16="http://schemas.microsoft.com/office/drawing/2014/main" val="24917507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Driver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512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Reliability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551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454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Execution Time Constraint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72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Analyst 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03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Programmer 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394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of Software Tools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950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Development 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38107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FFAF3B-248B-EB01-2FB6-E1B190A9492C}"/>
                  </a:ext>
                </a:extLst>
              </p:cNvPr>
              <p:cNvSpPr txBox="1"/>
              <p:nvPr/>
            </p:nvSpPr>
            <p:spPr>
              <a:xfrm>
                <a:off x="5997147" y="1282367"/>
                <a:ext cx="6334896" cy="3170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Solution:</a:t>
                </a:r>
              </a:p>
              <a:p>
                <a:pPr marL="342900" indent="-342900">
                  <a:buAutoNum type="arabicPeriod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the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Effort Adjustment Factor (EAF)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>
                  <a:buAutoNum type="arabicPeriod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EAF=1.15×1.08×1.00×0.86×1.00×0.91×1.00= 0.97199</a:t>
                </a:r>
              </a:p>
              <a:p>
                <a:pPr algn="ctr"/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Using the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Intermediate COCOMO model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estimate: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Effort (in person-months)</a:t>
                </a:r>
              </a:p>
              <a:p>
                <a:pPr algn="ctr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Effort (PM)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EAF</m:t>
                    </m:r>
                    <m:r>
                      <a:rPr lang="en-I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I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×(</m:t>
                    </m:r>
                    <m:r>
                      <m:rPr>
                        <m:nor/>
                      </m:rPr>
                      <a: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KLOC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"/>
                            <m:ctrlPr>
                              <a:rPr lang="ar-AE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= 0.97199 × 3.0 × 60</a:t>
                </a:r>
                <a:r>
                  <a:rPr lang="en-I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1.12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≈ 285.96 person-months </a:t>
                </a:r>
              </a:p>
              <a:p>
                <a:pPr algn="ctr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FFAF3B-248B-EB01-2FB6-E1B190A94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7147" y="1282367"/>
                <a:ext cx="6334896" cy="3170740"/>
              </a:xfrm>
              <a:prstGeom prst="rect">
                <a:avLst/>
              </a:prstGeom>
              <a:blipFill>
                <a:blip r:embed="rId3"/>
                <a:stretch>
                  <a:fillRect l="-800" t="-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BD6297-10E2-2B23-7C35-D9A5DB3E47B4}"/>
                  </a:ext>
                </a:extLst>
              </p:cNvPr>
              <p:cNvSpPr txBox="1"/>
              <p:nvPr/>
            </p:nvSpPr>
            <p:spPr>
              <a:xfrm>
                <a:off x="109152" y="4312508"/>
                <a:ext cx="56614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Semi-Detached constants: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BD6297-10E2-2B23-7C35-D9A5DB3E4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52" y="4312508"/>
                <a:ext cx="5661454" cy="923330"/>
              </a:xfrm>
              <a:prstGeom prst="rect">
                <a:avLst/>
              </a:prstGeom>
              <a:blipFill>
                <a:blip r:embed="rId4"/>
                <a:stretch>
                  <a:fillRect l="-895"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7213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29C72-57F2-0EC1-0165-E458E60B3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A16F5D4-398F-8DC8-A39A-C27E80ABA866}"/>
              </a:ext>
            </a:extLst>
          </p:cNvPr>
          <p:cNvSpPr txBox="1">
            <a:spLocks/>
          </p:cNvSpPr>
          <p:nvPr/>
        </p:nvSpPr>
        <p:spPr>
          <a:xfrm>
            <a:off x="37071" y="79085"/>
            <a:ext cx="10157254" cy="2406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sz="1800" dirty="0"/>
              <a:t>A software company is developing a </a:t>
            </a:r>
            <a:r>
              <a:rPr lang="en-IN" sz="1800" b="1" dirty="0"/>
              <a:t>Hospital Management System (HMS)</a:t>
            </a:r>
            <a:r>
              <a:rPr lang="en-IN" sz="1800" dirty="0"/>
              <a:t> to handle patient records, billing, appointments, and pharmacy integration. The estimated </a:t>
            </a:r>
            <a:r>
              <a:rPr lang="en-IN" sz="1800" b="1" dirty="0"/>
              <a:t>size of the project</a:t>
            </a:r>
            <a:r>
              <a:rPr lang="en-IN" sz="1800" dirty="0"/>
              <a:t> is </a:t>
            </a:r>
            <a:r>
              <a:rPr lang="en-IN" sz="1800" b="1" dirty="0"/>
              <a:t>60,000 Delivered Source Instructions (DSI)</a:t>
            </a:r>
            <a:r>
              <a:rPr lang="en-IN" sz="1800" dirty="0"/>
              <a:t>. The project falls into the </a:t>
            </a:r>
            <a:r>
              <a:rPr lang="en-IN" sz="1800" b="1" dirty="0"/>
              <a:t>Semi-Detached mode</a:t>
            </a:r>
            <a:r>
              <a:rPr lang="en-IN" sz="1800" dirty="0"/>
              <a:t> because it involves a medium-sized team with mixed experience. The </a:t>
            </a:r>
            <a:r>
              <a:rPr lang="en-IN" sz="1800" b="1" dirty="0"/>
              <a:t>cost drivers (EAF multipliers)</a:t>
            </a:r>
            <a:r>
              <a:rPr lang="en-IN" sz="1800" dirty="0"/>
              <a:t> have been assessed as follows:</a:t>
            </a:r>
          </a:p>
          <a:p>
            <a:pPr marL="0" indent="0" algn="just" fontAlgn="base">
              <a:buFont typeface="Arial" panose="020B0604020202020204" pitchFamily="34" charset="0"/>
              <a:buNone/>
            </a:pPr>
            <a:endParaRPr lang="en-US" sz="18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78A7F61-0261-E832-5686-A5BD0F5F4684}"/>
              </a:ext>
            </a:extLst>
          </p:cNvPr>
          <p:cNvGraphicFramePr>
            <a:graphicFrameLocks noGrp="1"/>
          </p:cNvGraphicFramePr>
          <p:nvPr/>
        </p:nvGraphicFramePr>
        <p:xfrm>
          <a:off x="109152" y="1282367"/>
          <a:ext cx="5747951" cy="2926080"/>
        </p:xfrm>
        <a:graphic>
          <a:graphicData uri="http://schemas.openxmlformats.org/drawingml/2006/table">
            <a:tbl>
              <a:tblPr/>
              <a:tblGrid>
                <a:gridCol w="3262630">
                  <a:extLst>
                    <a:ext uri="{9D8B030D-6E8A-4147-A177-3AD203B41FA5}">
                      <a16:colId xmlns:a16="http://schemas.microsoft.com/office/drawing/2014/main" val="1089888904"/>
                    </a:ext>
                  </a:extLst>
                </a:gridCol>
                <a:gridCol w="1186244">
                  <a:extLst>
                    <a:ext uri="{9D8B030D-6E8A-4147-A177-3AD203B41FA5}">
                      <a16:colId xmlns:a16="http://schemas.microsoft.com/office/drawing/2014/main" val="1685686845"/>
                    </a:ext>
                  </a:extLst>
                </a:gridCol>
                <a:gridCol w="1299077">
                  <a:extLst>
                    <a:ext uri="{9D8B030D-6E8A-4147-A177-3AD203B41FA5}">
                      <a16:colId xmlns:a16="http://schemas.microsoft.com/office/drawing/2014/main" val="24917507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Driver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512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Reliability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551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454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Execution Time Constraint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72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Analyst 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03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Programmer 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394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of Software Tools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950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Development 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38107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0D77B2-3DA5-A76C-5511-88A0118E8D5B}"/>
                  </a:ext>
                </a:extLst>
              </p:cNvPr>
              <p:cNvSpPr txBox="1"/>
              <p:nvPr/>
            </p:nvSpPr>
            <p:spPr>
              <a:xfrm>
                <a:off x="6048634" y="1268079"/>
                <a:ext cx="6258696" cy="57545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Solution:</a:t>
                </a:r>
              </a:p>
              <a:p>
                <a:pPr marL="342900" indent="-342900">
                  <a:buAutoNum type="arabicPeriod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the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Effort Adjustment Factor (EAF)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>
                  <a:buAutoNum type="arabicPeriod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EAF=1.15×1.08×1.00×0.86×1.00×0.91×1.00= 0.97199</a:t>
                </a:r>
              </a:p>
              <a:p>
                <a:pPr algn="ctr"/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Using the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Intermediate COCOMO model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estimate: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Effort (in person-months)</a:t>
                </a:r>
              </a:p>
              <a:p>
                <a:pPr algn="ctr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Effort (PM)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EAF</m:t>
                    </m:r>
                    <m:r>
                      <a:rPr lang="en-I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I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×(</m:t>
                    </m:r>
                    <m:r>
                      <m:rPr>
                        <m:nor/>
                      </m:rPr>
                      <a: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KLOC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"/>
                            <m:ctrlPr>
                              <a:rPr lang="ar-AE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= 0.97199 × 3.0 × 60</a:t>
                </a:r>
                <a:r>
                  <a:rPr lang="en-I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1.12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≈ 285.96 person-months </a:t>
                </a:r>
              </a:p>
              <a:p>
                <a:pPr algn="ctr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Development Time (in months)</a:t>
                </a:r>
              </a:p>
              <a:p>
                <a:pPr lvl="1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m:rPr>
                        <m:nor/>
                      </m:rPr>
                      <a: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Effort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"/>
                            <m:ctrlPr>
                              <a:rPr lang="ar-AE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IN" dirty="0"/>
                  <a:t> =  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2.5×(285.96)</a:t>
                </a:r>
                <a:r>
                  <a:rPr lang="en-I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0.35 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≈ 18.10 months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Productivity (LOC per PM)</a:t>
                </a:r>
              </a:p>
              <a:p>
                <a:pPr lvl="1"/>
                <a:r>
                  <a:rPr lang="en-IN" dirty="0"/>
                  <a:t>                     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KLOC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Effort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285.96</m:t>
                        </m:r>
                      </m:den>
                    </m:f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≈ 0.2098 = 209.8 LOC/PM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 Staffing (persons)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= </a:t>
                </a:r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Effort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Duration</m:t>
                        </m:r>
                      </m:den>
                    </m:f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=18.10285.96​ ≈ 15.80 persons</a:t>
                </a:r>
              </a:p>
              <a:p>
                <a:pPr algn="ctr"/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0D77B2-3DA5-A76C-5511-88A0118E8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8634" y="1268079"/>
                <a:ext cx="6258696" cy="5754524"/>
              </a:xfrm>
              <a:prstGeom prst="rect">
                <a:avLst/>
              </a:prstGeom>
              <a:blipFill>
                <a:blip r:embed="rId3"/>
                <a:stretch>
                  <a:fillRect l="-810" t="-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EB21FEC-678A-85A6-EA60-0FFCB840F152}"/>
                  </a:ext>
                </a:extLst>
              </p:cNvPr>
              <p:cNvSpPr txBox="1"/>
              <p:nvPr/>
            </p:nvSpPr>
            <p:spPr>
              <a:xfrm>
                <a:off x="109152" y="4312508"/>
                <a:ext cx="56614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Semi-Detached constants: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EB21FEC-678A-85A6-EA60-0FFCB840F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52" y="4312508"/>
                <a:ext cx="5661454" cy="923330"/>
              </a:xfrm>
              <a:prstGeom prst="rect">
                <a:avLst/>
              </a:prstGeom>
              <a:blipFill>
                <a:blip r:embed="rId4"/>
                <a:stretch>
                  <a:fillRect l="-895"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5662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2ECF9-2161-FAB7-73CD-1E19C2C85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92677CC-CF51-06DC-AD9F-16A3781A7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649" y="-92075"/>
            <a:ext cx="10515600" cy="1325563"/>
          </a:xfrm>
        </p:spPr>
        <p:txBody>
          <a:bodyPr/>
          <a:lstStyle/>
          <a:p>
            <a:r>
              <a:rPr lang="en-US" dirty="0"/>
              <a:t>Practice Question 3: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974418D-CB9E-355D-4534-8B4591B18C93}"/>
              </a:ext>
            </a:extLst>
          </p:cNvPr>
          <p:cNvSpPr txBox="1">
            <a:spLocks/>
          </p:cNvSpPr>
          <p:nvPr/>
        </p:nvSpPr>
        <p:spPr>
          <a:xfrm>
            <a:off x="195649" y="1356068"/>
            <a:ext cx="11813059" cy="5353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dirty="0"/>
              <a:t>A bank is developing an </a:t>
            </a:r>
            <a:r>
              <a:rPr lang="en-IN" sz="2000" b="1" dirty="0"/>
              <a:t>online banking application</a:t>
            </a:r>
            <a:r>
              <a:rPr lang="en-IN" sz="2000" dirty="0"/>
              <a:t> with the following functions:</a:t>
            </a:r>
          </a:p>
          <a:p>
            <a:r>
              <a:rPr lang="en-IN" sz="2000" b="1" dirty="0"/>
              <a:t>External Inputs:</a:t>
            </a:r>
            <a:r>
              <a:rPr lang="en-IN" sz="2000" dirty="0"/>
              <a:t> 10 average (fund transfer, bill payment, login, account update, etc.)</a:t>
            </a:r>
          </a:p>
          <a:p>
            <a:r>
              <a:rPr lang="en-IN" sz="2000" b="1" dirty="0"/>
              <a:t>External Outputs:</a:t>
            </a:r>
            <a:r>
              <a:rPr lang="en-IN" sz="2000" dirty="0"/>
              <a:t> 8 complex (monthly statement, balance summary, loan report, etc.)</a:t>
            </a:r>
          </a:p>
          <a:p>
            <a:r>
              <a:rPr lang="en-IN" sz="2000" b="1" dirty="0"/>
              <a:t>External Inquiries:</a:t>
            </a:r>
            <a:r>
              <a:rPr lang="en-IN" sz="2000" dirty="0"/>
              <a:t> 6 average (mini statement, balance inquiry, loan status, etc.)</a:t>
            </a:r>
          </a:p>
          <a:p>
            <a:r>
              <a:rPr lang="en-IN" sz="2000" b="1" dirty="0"/>
              <a:t>Internal Logical Files:</a:t>
            </a:r>
            <a:r>
              <a:rPr lang="en-IN" sz="2000" dirty="0"/>
              <a:t> 5 complex (Accounts file, Loan file, Customer file, Transaction file, Audit log)</a:t>
            </a:r>
          </a:p>
          <a:p>
            <a:r>
              <a:rPr lang="en-IN" sz="2000" b="1" dirty="0"/>
              <a:t>External Interface Files:</a:t>
            </a:r>
            <a:r>
              <a:rPr lang="en-IN" sz="2000" dirty="0"/>
              <a:t> 4 average (Credit card DB, RBI DB, Payment gateway, ATM switch)</a:t>
            </a:r>
          </a:p>
          <a:p>
            <a:pPr marL="0" indent="0">
              <a:buNone/>
            </a:pPr>
            <a:r>
              <a:rPr lang="en-IN" sz="2000" b="1" dirty="0"/>
              <a:t>Tasks: </a:t>
            </a:r>
          </a:p>
          <a:p>
            <a:pPr marL="457200" indent="-457200">
              <a:buAutoNum type="arabicPeriod"/>
            </a:pPr>
            <a:r>
              <a:rPr lang="en-IN" sz="2000" dirty="0"/>
              <a:t>Calculate </a:t>
            </a:r>
            <a:r>
              <a:rPr lang="en-IN" sz="2000" b="1" dirty="0"/>
              <a:t>UFP</a:t>
            </a:r>
            <a:r>
              <a:rPr lang="en-IN" sz="2000" dirty="0"/>
              <a:t>.       </a:t>
            </a:r>
          </a:p>
          <a:p>
            <a:pPr marL="457200" indent="-457200">
              <a:buAutoNum type="arabicPeriod"/>
            </a:pPr>
            <a:r>
              <a:rPr lang="en-IN" sz="2000" dirty="0"/>
              <a:t>Assume </a:t>
            </a:r>
            <a:r>
              <a:rPr lang="en-IN" sz="2000" b="1" dirty="0"/>
              <a:t>VAF = 1.10</a:t>
            </a:r>
            <a:r>
              <a:rPr lang="en-IN" sz="2000" dirty="0"/>
              <a:t>, compute </a:t>
            </a:r>
            <a:r>
              <a:rPr lang="en-IN" sz="2000" b="1" dirty="0"/>
              <a:t>AFP</a:t>
            </a:r>
            <a:r>
              <a:rPr lang="en-IN" sz="2000" dirty="0"/>
              <a:t>.   </a:t>
            </a:r>
          </a:p>
          <a:p>
            <a:pPr marL="457200" indent="-457200">
              <a:buAutoNum type="arabicPeriod"/>
            </a:pPr>
            <a:r>
              <a:rPr lang="en-IN" sz="2000" dirty="0"/>
              <a:t>If average effort = </a:t>
            </a:r>
            <a:r>
              <a:rPr lang="en-IN" sz="2000" b="1" dirty="0"/>
              <a:t>12 hours per FP</a:t>
            </a:r>
            <a:r>
              <a:rPr lang="en-IN" sz="2000" dirty="0"/>
              <a:t>, estimate the </a:t>
            </a:r>
            <a:r>
              <a:rPr lang="en-IN" sz="2000" b="1" dirty="0"/>
              <a:t>total effort (hours)</a:t>
            </a:r>
            <a:r>
              <a:rPr lang="en-IN" sz="2000" dirty="0"/>
              <a:t>. Convert this into </a:t>
            </a:r>
            <a:r>
              <a:rPr lang="en-IN" sz="2000" b="1" dirty="0"/>
              <a:t>person-months</a:t>
            </a:r>
            <a:r>
              <a:rPr lang="en-IN" sz="2000" dirty="0"/>
              <a:t> (assume 1 person-month = 160 hours)</a:t>
            </a:r>
          </a:p>
          <a:p>
            <a:pPr marL="0" indent="0" algn="just">
              <a:buNone/>
            </a:pPr>
            <a:endParaRPr lang="en-US" sz="2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AE17027-7B03-11B7-EE7D-A6190828E276}"/>
              </a:ext>
            </a:extLst>
          </p:cNvPr>
          <p:cNvGraphicFramePr>
            <a:graphicFrameLocks noGrp="1"/>
          </p:cNvGraphicFramePr>
          <p:nvPr/>
        </p:nvGraphicFramePr>
        <p:xfrm>
          <a:off x="8694946" y="0"/>
          <a:ext cx="3497054" cy="1597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267">
                  <a:extLst>
                    <a:ext uri="{9D8B030D-6E8A-4147-A177-3AD203B41FA5}">
                      <a16:colId xmlns:a16="http://schemas.microsoft.com/office/drawing/2014/main" val="3616588572"/>
                    </a:ext>
                  </a:extLst>
                </a:gridCol>
                <a:gridCol w="647790">
                  <a:extLst>
                    <a:ext uri="{9D8B030D-6E8A-4147-A177-3AD203B41FA5}">
                      <a16:colId xmlns:a16="http://schemas.microsoft.com/office/drawing/2014/main" val="1485891063"/>
                    </a:ext>
                  </a:extLst>
                </a:gridCol>
                <a:gridCol w="647790">
                  <a:extLst>
                    <a:ext uri="{9D8B030D-6E8A-4147-A177-3AD203B41FA5}">
                      <a16:colId xmlns:a16="http://schemas.microsoft.com/office/drawing/2014/main" val="935800123"/>
                    </a:ext>
                  </a:extLst>
                </a:gridCol>
                <a:gridCol w="516207">
                  <a:extLst>
                    <a:ext uri="{9D8B030D-6E8A-4147-A177-3AD203B41FA5}">
                      <a16:colId xmlns:a16="http://schemas.microsoft.com/office/drawing/2014/main" val="3584843848"/>
                    </a:ext>
                  </a:extLst>
                </a:gridCol>
              </a:tblGrid>
              <a:tr h="197054">
                <a:tc rowSpan="2">
                  <a:txBody>
                    <a:bodyPr/>
                    <a:lstStyle/>
                    <a:p>
                      <a:pPr marL="868680" algn="l" rtl="0" eaLnBrk="1" latinLnBrk="0" hangingPunct="1">
                        <a:spcBef>
                          <a:spcPts val="1960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spc="-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Functional</a:t>
                      </a:r>
                      <a:r>
                        <a:rPr lang="en-IN" sz="800" kern="1200" spc="-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800" kern="1200" spc="-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Units</a:t>
                      </a:r>
                      <a:endParaRPr lang="en-IN" sz="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832104" algn="l" rtl="0" eaLnBrk="1" latinLnBrk="0" hangingPunct="1"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spc="-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Weighting</a:t>
                      </a:r>
                      <a:r>
                        <a:rPr lang="en-IN" sz="800" kern="1200" spc="-5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800" kern="1200" spc="-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factors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146246"/>
                  </a:ext>
                </a:extLst>
              </a:tr>
              <a:tr h="1970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spc="-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spc="-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spc="-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124044"/>
                  </a:ext>
                </a:extLst>
              </a:tr>
              <a:tr h="197054">
                <a:tc>
                  <a:txBody>
                    <a:bodyPr/>
                    <a:lstStyle/>
                    <a:p>
                      <a:pPr marL="73152" algn="l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spc="-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External Inputs</a:t>
                      </a:r>
                      <a:r>
                        <a:rPr lang="en-IN" sz="800" kern="1200" spc="-6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800" kern="1200" spc="-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(EI)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318117"/>
                  </a:ext>
                </a:extLst>
              </a:tr>
              <a:tr h="197054">
                <a:tc>
                  <a:txBody>
                    <a:bodyPr/>
                    <a:lstStyle/>
                    <a:p>
                      <a:pPr marL="73152" algn="l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spc="-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External Output</a:t>
                      </a:r>
                      <a:r>
                        <a:rPr lang="en-IN" sz="800" kern="1200" spc="-6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800" kern="1200" spc="-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(EO)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N" sz="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491687"/>
                  </a:ext>
                </a:extLst>
              </a:tr>
              <a:tr h="197054">
                <a:tc>
                  <a:txBody>
                    <a:bodyPr/>
                    <a:lstStyle/>
                    <a:p>
                      <a:pPr marL="73152" algn="l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spc="-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External Inquiries</a:t>
                      </a:r>
                      <a:r>
                        <a:rPr lang="en-IN" sz="800" kern="1200" spc="-4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800" kern="1200" spc="-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(EQ)</a:t>
                      </a:r>
                      <a:endParaRPr lang="en-IN" sz="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N" sz="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N" sz="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N" sz="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825700"/>
                  </a:ext>
                </a:extLst>
              </a:tr>
              <a:tr h="306082">
                <a:tc>
                  <a:txBody>
                    <a:bodyPr/>
                    <a:lstStyle/>
                    <a:p>
                      <a:pPr marL="73152" algn="l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spc="-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External </a:t>
                      </a:r>
                      <a:r>
                        <a:rPr lang="en-IN" sz="8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logical </a:t>
                      </a:r>
                      <a:r>
                        <a:rPr lang="en-IN" sz="800" kern="1200" spc="-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files</a:t>
                      </a:r>
                      <a:r>
                        <a:rPr lang="en-IN" sz="800" kern="1200" spc="-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800" kern="1200" spc="-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(ILF)</a:t>
                      </a:r>
                      <a:endParaRPr lang="en-IN" sz="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spc="-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spc="-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880894"/>
                  </a:ext>
                </a:extLst>
              </a:tr>
              <a:tr h="306082">
                <a:tc>
                  <a:txBody>
                    <a:bodyPr/>
                    <a:lstStyle/>
                    <a:p>
                      <a:pPr marL="73152" algn="l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spc="-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External Interface files</a:t>
                      </a:r>
                      <a:r>
                        <a:rPr lang="en-IN" sz="800" kern="1200" spc="-3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800" kern="1200" spc="-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(EIF)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spc="-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IN" sz="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05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7632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AA893-9074-7E45-3CDD-706CFB3AC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4765329-2F4C-F129-1F33-32212BF3E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649" y="-92075"/>
            <a:ext cx="10515600" cy="1325563"/>
          </a:xfrm>
        </p:spPr>
        <p:txBody>
          <a:bodyPr/>
          <a:lstStyle/>
          <a:p>
            <a:r>
              <a:rPr lang="en-US" dirty="0"/>
              <a:t>Practice Question 3: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1ED4BAC-E8C6-F4AA-75F0-59FC3D714025}"/>
              </a:ext>
            </a:extLst>
          </p:cNvPr>
          <p:cNvSpPr txBox="1">
            <a:spLocks/>
          </p:cNvSpPr>
          <p:nvPr/>
        </p:nvSpPr>
        <p:spPr>
          <a:xfrm>
            <a:off x="195649" y="1356068"/>
            <a:ext cx="11813059" cy="5353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dirty="0"/>
              <a:t>A bank is developing an </a:t>
            </a:r>
            <a:r>
              <a:rPr lang="en-IN" sz="2000" b="1" dirty="0"/>
              <a:t>online banking application</a:t>
            </a:r>
            <a:r>
              <a:rPr lang="en-IN" sz="2000" dirty="0"/>
              <a:t> with the following functions:</a:t>
            </a:r>
          </a:p>
          <a:p>
            <a:r>
              <a:rPr lang="en-IN" sz="2000" b="1" dirty="0"/>
              <a:t>External Inputs:</a:t>
            </a:r>
            <a:r>
              <a:rPr lang="en-IN" sz="2000" dirty="0"/>
              <a:t> 10 average (fund transfer, bill payment, login, account update, etc.)</a:t>
            </a:r>
          </a:p>
          <a:p>
            <a:r>
              <a:rPr lang="en-IN" sz="2000" b="1" dirty="0"/>
              <a:t>External Outputs:</a:t>
            </a:r>
            <a:r>
              <a:rPr lang="en-IN" sz="2000" dirty="0"/>
              <a:t> 8 complex (monthly statement, balance summary, loan report, etc.)</a:t>
            </a:r>
          </a:p>
          <a:p>
            <a:r>
              <a:rPr lang="en-IN" sz="2000" b="1" dirty="0"/>
              <a:t>External Inquiries:</a:t>
            </a:r>
            <a:r>
              <a:rPr lang="en-IN" sz="2000" dirty="0"/>
              <a:t> 6 average (mini statement, balance inquiry, loan status, etc.)</a:t>
            </a:r>
          </a:p>
          <a:p>
            <a:r>
              <a:rPr lang="en-IN" sz="2000" b="1" dirty="0"/>
              <a:t>Internal Logical Files:</a:t>
            </a:r>
            <a:r>
              <a:rPr lang="en-IN" sz="2000" dirty="0"/>
              <a:t> 5 complex (Accounts file, Loan file, Customer file, Transaction file, Audit log)</a:t>
            </a:r>
          </a:p>
          <a:p>
            <a:r>
              <a:rPr lang="en-IN" sz="2000" b="1" dirty="0"/>
              <a:t>External Interface Files:</a:t>
            </a:r>
            <a:r>
              <a:rPr lang="en-IN" sz="2000" dirty="0"/>
              <a:t> 4 average (Credit card DB, RBI DB, Payment gateway, ATM switch)</a:t>
            </a:r>
          </a:p>
          <a:p>
            <a:pPr marL="0" indent="0">
              <a:buNone/>
            </a:pPr>
            <a:r>
              <a:rPr lang="en-IN" sz="2000" b="1" dirty="0"/>
              <a:t>Tasks: </a:t>
            </a:r>
          </a:p>
          <a:p>
            <a:pPr marL="457200" indent="-457200">
              <a:buAutoNum type="arabicPeriod"/>
            </a:pPr>
            <a:r>
              <a:rPr lang="en-IN" sz="2000" dirty="0"/>
              <a:t>Calculate </a:t>
            </a:r>
            <a:r>
              <a:rPr lang="en-IN" sz="2000" b="1" dirty="0"/>
              <a:t>UFP</a:t>
            </a:r>
            <a:r>
              <a:rPr lang="en-IN" sz="2000" dirty="0"/>
              <a:t>.       </a:t>
            </a:r>
          </a:p>
          <a:p>
            <a:pPr marL="0" indent="0" algn="just">
              <a:buNone/>
            </a:pPr>
            <a:endParaRPr lang="en-US" sz="2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A9BEB60-BA36-42BE-D211-023E41A595DB}"/>
              </a:ext>
            </a:extLst>
          </p:cNvPr>
          <p:cNvGraphicFramePr>
            <a:graphicFrameLocks noGrp="1"/>
          </p:cNvGraphicFramePr>
          <p:nvPr/>
        </p:nvGraphicFramePr>
        <p:xfrm>
          <a:off x="8511654" y="5112285"/>
          <a:ext cx="3497054" cy="1597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267">
                  <a:extLst>
                    <a:ext uri="{9D8B030D-6E8A-4147-A177-3AD203B41FA5}">
                      <a16:colId xmlns:a16="http://schemas.microsoft.com/office/drawing/2014/main" val="3616588572"/>
                    </a:ext>
                  </a:extLst>
                </a:gridCol>
                <a:gridCol w="647790">
                  <a:extLst>
                    <a:ext uri="{9D8B030D-6E8A-4147-A177-3AD203B41FA5}">
                      <a16:colId xmlns:a16="http://schemas.microsoft.com/office/drawing/2014/main" val="1485891063"/>
                    </a:ext>
                  </a:extLst>
                </a:gridCol>
                <a:gridCol w="647790">
                  <a:extLst>
                    <a:ext uri="{9D8B030D-6E8A-4147-A177-3AD203B41FA5}">
                      <a16:colId xmlns:a16="http://schemas.microsoft.com/office/drawing/2014/main" val="935800123"/>
                    </a:ext>
                  </a:extLst>
                </a:gridCol>
                <a:gridCol w="516207">
                  <a:extLst>
                    <a:ext uri="{9D8B030D-6E8A-4147-A177-3AD203B41FA5}">
                      <a16:colId xmlns:a16="http://schemas.microsoft.com/office/drawing/2014/main" val="3584843848"/>
                    </a:ext>
                  </a:extLst>
                </a:gridCol>
              </a:tblGrid>
              <a:tr h="197054">
                <a:tc rowSpan="2">
                  <a:txBody>
                    <a:bodyPr/>
                    <a:lstStyle/>
                    <a:p>
                      <a:pPr marL="868680" algn="l" rtl="0" eaLnBrk="1" latinLnBrk="0" hangingPunct="1">
                        <a:spcBef>
                          <a:spcPts val="1960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spc="-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Functional</a:t>
                      </a:r>
                      <a:r>
                        <a:rPr lang="en-IN" sz="800" kern="1200" spc="-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800" kern="1200" spc="-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Units</a:t>
                      </a:r>
                      <a:endParaRPr lang="en-IN" sz="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832104" algn="l" rtl="0" eaLnBrk="1" latinLnBrk="0" hangingPunct="1"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spc="-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Weighting</a:t>
                      </a:r>
                      <a:r>
                        <a:rPr lang="en-IN" sz="800" kern="1200" spc="-5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800" kern="1200" spc="-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factors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146246"/>
                  </a:ext>
                </a:extLst>
              </a:tr>
              <a:tr h="1970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spc="-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spc="-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spc="-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124044"/>
                  </a:ext>
                </a:extLst>
              </a:tr>
              <a:tr h="197054">
                <a:tc>
                  <a:txBody>
                    <a:bodyPr/>
                    <a:lstStyle/>
                    <a:p>
                      <a:pPr marL="73152" algn="l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spc="-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External Inputs</a:t>
                      </a:r>
                      <a:r>
                        <a:rPr lang="en-IN" sz="800" kern="1200" spc="-6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800" kern="1200" spc="-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(EI)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318117"/>
                  </a:ext>
                </a:extLst>
              </a:tr>
              <a:tr h="197054">
                <a:tc>
                  <a:txBody>
                    <a:bodyPr/>
                    <a:lstStyle/>
                    <a:p>
                      <a:pPr marL="73152" algn="l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spc="-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External Output</a:t>
                      </a:r>
                      <a:r>
                        <a:rPr lang="en-IN" sz="800" kern="1200" spc="-6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800" kern="1200" spc="-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(EO)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N" sz="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491687"/>
                  </a:ext>
                </a:extLst>
              </a:tr>
              <a:tr h="197054">
                <a:tc>
                  <a:txBody>
                    <a:bodyPr/>
                    <a:lstStyle/>
                    <a:p>
                      <a:pPr marL="73152" algn="l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spc="-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External Inquiries</a:t>
                      </a:r>
                      <a:r>
                        <a:rPr lang="en-IN" sz="800" kern="1200" spc="-4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800" kern="1200" spc="-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(EQ)</a:t>
                      </a:r>
                      <a:endParaRPr lang="en-IN" sz="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N" sz="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825700"/>
                  </a:ext>
                </a:extLst>
              </a:tr>
              <a:tr h="306082">
                <a:tc>
                  <a:txBody>
                    <a:bodyPr/>
                    <a:lstStyle/>
                    <a:p>
                      <a:pPr marL="73152" algn="l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spc="-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External </a:t>
                      </a:r>
                      <a:r>
                        <a:rPr lang="en-IN" sz="8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logical </a:t>
                      </a:r>
                      <a:r>
                        <a:rPr lang="en-IN" sz="800" kern="1200" spc="-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files</a:t>
                      </a:r>
                      <a:r>
                        <a:rPr lang="en-IN" sz="800" kern="1200" spc="-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800" kern="1200" spc="-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(ILF)</a:t>
                      </a:r>
                      <a:endParaRPr lang="en-IN" sz="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spc="-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spc="-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880894"/>
                  </a:ext>
                </a:extLst>
              </a:tr>
              <a:tr h="306082">
                <a:tc>
                  <a:txBody>
                    <a:bodyPr/>
                    <a:lstStyle/>
                    <a:p>
                      <a:pPr marL="73152" algn="l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spc="-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External Interface files</a:t>
                      </a:r>
                      <a:r>
                        <a:rPr lang="en-IN" sz="800" kern="1200" spc="-3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800" kern="1200" spc="-5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(EIF)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IN" sz="80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" algn="ctr" rtl="0" eaLnBrk="1" latinLnBrk="0" hangingPunct="1"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IN" sz="800" kern="1200" spc="-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IN" sz="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0573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024F762-2049-FCC4-347E-490F5AFF407F}"/>
              </a:ext>
            </a:extLst>
          </p:cNvPr>
          <p:cNvSpPr txBox="1"/>
          <p:nvPr/>
        </p:nvSpPr>
        <p:spPr>
          <a:xfrm>
            <a:off x="1742303" y="4905632"/>
            <a:ext cx="5071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UFP =  10 * 4 + 8 * 7 + 6 * 4 + 5 * 15 + 4 * 7 = 223 </a:t>
            </a:r>
          </a:p>
        </p:txBody>
      </p:sp>
    </p:spTree>
    <p:extLst>
      <p:ext uri="{BB962C8B-B14F-4D97-AF65-F5344CB8AC3E}">
        <p14:creationId xmlns:p14="http://schemas.microsoft.com/office/powerpoint/2010/main" val="4159794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D9E10-E7D8-8BAD-FE16-233EBB234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FA4438C-CEF9-3046-0EED-E40FF13DD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649" y="-92075"/>
            <a:ext cx="10515600" cy="1325563"/>
          </a:xfrm>
        </p:spPr>
        <p:txBody>
          <a:bodyPr/>
          <a:lstStyle/>
          <a:p>
            <a:r>
              <a:rPr lang="en-US" dirty="0"/>
              <a:t>Practice Question 3: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35BAC73-9771-F243-DF6F-26CEE4D7F2F5}"/>
              </a:ext>
            </a:extLst>
          </p:cNvPr>
          <p:cNvSpPr txBox="1">
            <a:spLocks/>
          </p:cNvSpPr>
          <p:nvPr/>
        </p:nvSpPr>
        <p:spPr>
          <a:xfrm>
            <a:off x="195649" y="1356068"/>
            <a:ext cx="11813059" cy="5353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dirty="0"/>
              <a:t>A bank is developing an </a:t>
            </a:r>
            <a:r>
              <a:rPr lang="en-IN" sz="2000" b="1" dirty="0"/>
              <a:t>online banking application</a:t>
            </a:r>
            <a:r>
              <a:rPr lang="en-IN" sz="2000" dirty="0"/>
              <a:t> with the following functions:</a:t>
            </a:r>
          </a:p>
          <a:p>
            <a:r>
              <a:rPr lang="en-IN" sz="2000" b="1" dirty="0"/>
              <a:t>External Inputs:</a:t>
            </a:r>
            <a:r>
              <a:rPr lang="en-IN" sz="2000" dirty="0"/>
              <a:t> 10 average (fund transfer, bill payment, login, account update, etc.)</a:t>
            </a:r>
          </a:p>
          <a:p>
            <a:r>
              <a:rPr lang="en-IN" sz="2000" b="1" dirty="0"/>
              <a:t>External Outputs:</a:t>
            </a:r>
            <a:r>
              <a:rPr lang="en-IN" sz="2000" dirty="0"/>
              <a:t> 8 complex (monthly statement, balance summary, loan report, etc.)</a:t>
            </a:r>
          </a:p>
          <a:p>
            <a:r>
              <a:rPr lang="en-IN" sz="2000" b="1" dirty="0"/>
              <a:t>External Inquiries:</a:t>
            </a:r>
            <a:r>
              <a:rPr lang="en-IN" sz="2000" dirty="0"/>
              <a:t> 6 average (mini statement, balance inquiry, loan status, etc.)</a:t>
            </a:r>
          </a:p>
          <a:p>
            <a:r>
              <a:rPr lang="en-IN" sz="2000" b="1" dirty="0"/>
              <a:t>Internal Logical Files:</a:t>
            </a:r>
            <a:r>
              <a:rPr lang="en-IN" sz="2000" dirty="0"/>
              <a:t> 5 complex (Accounts file, Loan file, Customer file, Transaction file, Audit log)</a:t>
            </a:r>
          </a:p>
          <a:p>
            <a:r>
              <a:rPr lang="en-IN" sz="2000" b="1" dirty="0"/>
              <a:t>External Interface Files:</a:t>
            </a:r>
            <a:r>
              <a:rPr lang="en-IN" sz="2000" dirty="0"/>
              <a:t> 4 average (Credit card DB, RBI DB, Payment gateway, ATM switch)</a:t>
            </a:r>
          </a:p>
          <a:p>
            <a:pPr marL="0" indent="0">
              <a:buNone/>
            </a:pPr>
            <a:r>
              <a:rPr lang="en-IN" sz="2000" b="1" dirty="0"/>
              <a:t>Tasks: </a:t>
            </a:r>
          </a:p>
          <a:p>
            <a:pPr marL="457200" indent="-457200">
              <a:buAutoNum type="arabicPeriod"/>
            </a:pPr>
            <a:r>
              <a:rPr lang="en-IN" sz="2000" dirty="0"/>
              <a:t>Calculate </a:t>
            </a:r>
            <a:r>
              <a:rPr lang="en-IN" sz="2000" b="1" dirty="0"/>
              <a:t>UFP</a:t>
            </a:r>
            <a:r>
              <a:rPr lang="en-IN" sz="2000" dirty="0"/>
              <a:t>.       </a:t>
            </a:r>
          </a:p>
          <a:p>
            <a:pPr marL="457200" indent="-457200">
              <a:buAutoNum type="arabicPeriod"/>
            </a:pPr>
            <a:r>
              <a:rPr lang="en-IN" sz="2000" dirty="0"/>
              <a:t>Assume </a:t>
            </a:r>
            <a:r>
              <a:rPr lang="en-IN" sz="2000" b="1" dirty="0"/>
              <a:t>VAF = 1.10</a:t>
            </a:r>
            <a:r>
              <a:rPr lang="en-IN" sz="2000" dirty="0"/>
              <a:t>, compute </a:t>
            </a:r>
            <a:r>
              <a:rPr lang="en-IN" sz="2000" b="1" dirty="0"/>
              <a:t>AFP (Adjusted Function Point)</a:t>
            </a:r>
            <a:endParaRPr lang="en-IN" sz="2000" dirty="0"/>
          </a:p>
          <a:p>
            <a:pPr marL="0" indent="0" algn="just">
              <a:buNone/>
            </a:pPr>
            <a:r>
              <a:rPr lang="en-IN" sz="2000" dirty="0"/>
              <a:t>	   AFP (or FP) = UFP × VAF = 223 × 1.10 = 245.3</a:t>
            </a:r>
          </a:p>
          <a:p>
            <a:pPr marL="0" indent="0" algn="just">
              <a:buNone/>
            </a:pP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EFE816-AD04-7455-072E-00BD58ABDCF4}"/>
              </a:ext>
            </a:extLst>
          </p:cNvPr>
          <p:cNvSpPr txBox="1"/>
          <p:nvPr/>
        </p:nvSpPr>
        <p:spPr>
          <a:xfrm>
            <a:off x="2594919" y="4164227"/>
            <a:ext cx="4766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 10 * 4 + 8 * 7 + 6 * 4 + 5 * 15 + 4 * 7 = 223 </a:t>
            </a:r>
          </a:p>
        </p:txBody>
      </p:sp>
    </p:spTree>
    <p:extLst>
      <p:ext uri="{BB962C8B-B14F-4D97-AF65-F5344CB8AC3E}">
        <p14:creationId xmlns:p14="http://schemas.microsoft.com/office/powerpoint/2010/main" val="660039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743A2-A679-0266-264B-25938707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7AC8382-9B51-6AE1-38F8-1CD0936CF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649" y="-92075"/>
            <a:ext cx="10515600" cy="1325563"/>
          </a:xfrm>
        </p:spPr>
        <p:txBody>
          <a:bodyPr/>
          <a:lstStyle/>
          <a:p>
            <a:r>
              <a:rPr lang="en-US" dirty="0"/>
              <a:t>Practice Question 3: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A40CF3-F7EA-23DB-CBE0-4E4ADCB58A17}"/>
              </a:ext>
            </a:extLst>
          </p:cNvPr>
          <p:cNvSpPr txBox="1">
            <a:spLocks/>
          </p:cNvSpPr>
          <p:nvPr/>
        </p:nvSpPr>
        <p:spPr>
          <a:xfrm>
            <a:off x="195649" y="1356068"/>
            <a:ext cx="11813059" cy="5353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dirty="0"/>
              <a:t>A bank is developing an </a:t>
            </a:r>
            <a:r>
              <a:rPr lang="en-IN" sz="2000" b="1" dirty="0"/>
              <a:t>online banking application</a:t>
            </a:r>
            <a:r>
              <a:rPr lang="en-IN" sz="2000" dirty="0"/>
              <a:t> with the following functions:</a:t>
            </a:r>
          </a:p>
          <a:p>
            <a:pPr marL="0" indent="0">
              <a:buNone/>
            </a:pPr>
            <a:r>
              <a:rPr lang="en-IN" sz="2000" b="1" dirty="0"/>
              <a:t>Tasks: </a:t>
            </a:r>
          </a:p>
          <a:p>
            <a:pPr marL="457200" indent="-457200">
              <a:buAutoNum type="arabicPeriod"/>
            </a:pPr>
            <a:r>
              <a:rPr lang="en-IN" sz="2000" dirty="0"/>
              <a:t>Calculate </a:t>
            </a:r>
            <a:r>
              <a:rPr lang="en-IN" sz="2000" b="1" dirty="0"/>
              <a:t>UFP</a:t>
            </a:r>
            <a:r>
              <a:rPr lang="en-IN" sz="2000" dirty="0"/>
              <a:t>.       </a:t>
            </a:r>
          </a:p>
          <a:p>
            <a:pPr marL="457200" indent="-457200">
              <a:buAutoNum type="arabicPeriod"/>
            </a:pPr>
            <a:r>
              <a:rPr lang="en-IN" sz="2000" dirty="0"/>
              <a:t>Assume </a:t>
            </a:r>
            <a:r>
              <a:rPr lang="en-IN" sz="2000" b="1" dirty="0"/>
              <a:t>VAF = 1.10</a:t>
            </a:r>
            <a:r>
              <a:rPr lang="en-IN" sz="2000" dirty="0"/>
              <a:t>, compute </a:t>
            </a:r>
            <a:r>
              <a:rPr lang="en-IN" sz="2000" b="1" dirty="0"/>
              <a:t>AFP (Adjusted Function Point) </a:t>
            </a:r>
            <a:r>
              <a:rPr lang="en-IN" sz="2000" dirty="0"/>
              <a:t> = UFP × VAF = 223 × 1.10 = 245.3</a:t>
            </a:r>
          </a:p>
          <a:p>
            <a:pPr marL="0" indent="0" algn="just">
              <a:buNone/>
            </a:pPr>
            <a:r>
              <a:rPr lang="en-IN" sz="2000" dirty="0"/>
              <a:t>3.   If average effort = </a:t>
            </a:r>
            <a:r>
              <a:rPr lang="en-IN" sz="2000" b="1" dirty="0"/>
              <a:t>12 hours per FP</a:t>
            </a:r>
            <a:r>
              <a:rPr lang="en-IN" sz="2000" dirty="0"/>
              <a:t>, estimate the </a:t>
            </a:r>
            <a:r>
              <a:rPr lang="en-IN" sz="2000" b="1" dirty="0"/>
              <a:t>total effort (hours)</a:t>
            </a:r>
            <a:r>
              <a:rPr lang="en-IN" sz="2000" dirty="0"/>
              <a:t>. Convert this into </a:t>
            </a:r>
            <a:r>
              <a:rPr lang="en-IN" sz="2000" b="1" dirty="0"/>
              <a:t>person-months</a:t>
            </a:r>
            <a:r>
              <a:rPr lang="en-IN" sz="2000" dirty="0"/>
              <a:t> (assume 1 person-month = 160 hours)</a:t>
            </a:r>
          </a:p>
          <a:p>
            <a:pPr marL="0" indent="0" algn="just">
              <a:buNone/>
            </a:pPr>
            <a:endParaRPr lang="en-IN" sz="2000" dirty="0"/>
          </a:p>
          <a:p>
            <a:pPr marL="0" indent="0" algn="just">
              <a:buNone/>
            </a:pP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175E66-885F-07F1-9CCC-B3A31F14AFDE}"/>
              </a:ext>
            </a:extLst>
          </p:cNvPr>
          <p:cNvSpPr txBox="1"/>
          <p:nvPr/>
        </p:nvSpPr>
        <p:spPr>
          <a:xfrm>
            <a:off x="2446638" y="2179798"/>
            <a:ext cx="4823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10 * 4 + 8 * 7 + 6 * 4 + 5 * 15 + 4 * 7 = 223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BF50FF-09C3-CCE0-0DA0-110FBB3A3EE8}"/>
                  </a:ext>
                </a:extLst>
              </p:cNvPr>
              <p:cNvSpPr txBox="1"/>
              <p:nvPr/>
            </p:nvSpPr>
            <p:spPr>
              <a:xfrm>
                <a:off x="2872776" y="3793526"/>
                <a:ext cx="6175601" cy="18708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Efforts = AFP × 12 = 245.3 × 12 </a:t>
                </a:r>
                <a14:m>
                  <m:oMath xmlns:m="http://schemas.openxmlformats.org/officeDocument/2006/math">
                    <m:r>
                      <a:rPr lang="en-IN" sz="2000">
                        <a:latin typeface="Cambria Math" panose="02040503050406030204" pitchFamily="18" charset="0"/>
                      </a:rPr>
                      <m:t>=2943.6</m:t>
                    </m:r>
                    <m:r>
                      <m:rPr>
                        <m:nor/>
                      </m:rPr>
                      <a: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hours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Person</m:t>
                      </m:r>
                      <m:r>
                        <m:rPr>
                          <m:nor/>
                        </m:rP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months</m:t>
                      </m:r>
                      <m:r>
                        <a:rPr lang="en-IN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2943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160</m:t>
                          </m:r>
                        </m:den>
                      </m:f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18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3975</m:t>
                      </m:r>
                      <m:r>
                        <m:rPr>
                          <m:nor/>
                        </m:rPr>
                        <a:rPr lang="ar-AE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PM</m:t>
                      </m:r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cs typeface="+mj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BF50FF-09C3-CCE0-0DA0-110FBB3A3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776" y="3793526"/>
                <a:ext cx="6175601" cy="1870897"/>
              </a:xfrm>
              <a:prstGeom prst="rect">
                <a:avLst/>
              </a:prstGeom>
              <a:blipFill>
                <a:blip r:embed="rId3"/>
                <a:stretch>
                  <a:fillRect t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6173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16369-2E3C-E688-21F4-828F4B14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1689"/>
            <a:ext cx="10515600" cy="1325563"/>
          </a:xfrm>
        </p:spPr>
        <p:txBody>
          <a:bodyPr/>
          <a:lstStyle/>
          <a:p>
            <a:r>
              <a:rPr lang="en-US" dirty="0"/>
              <a:t>Practice Question-4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C98CDC-063A-1365-BF1B-C42321DF21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1221026"/>
                <a:ext cx="11669486" cy="584880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Given: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KLOC,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year.</a:t>
                </a:r>
                <a:br>
                  <a:rPr lang="en-IN" dirty="0"/>
                </a:br>
                <a:r>
                  <a:rPr lang="en-IN" dirty="0"/>
                  <a:t>Find total effort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IN" dirty="0"/>
                  <a:t> (person-years) and average staffing (FTE).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C98CDC-063A-1365-BF1B-C42321DF21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1221026"/>
                <a:ext cx="11669486" cy="5848803"/>
              </a:xfrm>
              <a:blipFill>
                <a:blip r:embed="rId3"/>
                <a:stretch>
                  <a:fillRect l="-1087" t="-1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1FC06A2F-1DDD-F490-5893-9360DCBC5A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3146" y="3173970"/>
            <a:ext cx="7620000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294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B5E4F-2898-E186-8B45-7793CE8C3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882F5-75CE-A521-227C-C7F5475C6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1689"/>
            <a:ext cx="10515600" cy="1325563"/>
          </a:xfrm>
        </p:spPr>
        <p:txBody>
          <a:bodyPr/>
          <a:lstStyle/>
          <a:p>
            <a:r>
              <a:rPr lang="en-US" dirty="0"/>
              <a:t>Practice Question-4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65484C-46F0-BCDB-48A2-EA136824DC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1221026"/>
                <a:ext cx="11669486" cy="584880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Given: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IN" dirty="0"/>
                  <a:t> KLOC,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year.</a:t>
                </a:r>
                <a:br>
                  <a:rPr lang="en-IN" dirty="0"/>
                </a:br>
                <a:r>
                  <a:rPr lang="en-IN" dirty="0"/>
                  <a:t>Find total effort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IN" dirty="0"/>
                  <a:t> (person-years) and average staffing (FTE).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65484C-46F0-BCDB-48A2-EA136824DC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1221026"/>
                <a:ext cx="11669486" cy="5848803"/>
              </a:xfrm>
              <a:blipFill>
                <a:blip r:embed="rId2"/>
                <a:stretch>
                  <a:fillRect l="-1087" t="-1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D68DE8D7-DFF2-C81C-47A9-0304F1984B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410" y="3465342"/>
            <a:ext cx="6952735" cy="30360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884722-E5D4-ED2D-80B8-4D2EA19760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63" y="2196068"/>
            <a:ext cx="11174673" cy="12814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2DB3C8-4EC0-69AD-D7A0-DDA35AFEE444}"/>
              </a:ext>
            </a:extLst>
          </p:cNvPr>
          <p:cNvSpPr txBox="1"/>
          <p:nvPr/>
        </p:nvSpPr>
        <p:spPr>
          <a:xfrm>
            <a:off x="185399" y="2196068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974599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15FF5-AAC3-DDC4-80EA-B1FE1E902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6BEBA-92F8-E9EA-9E9E-BD4413C4D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1689"/>
            <a:ext cx="10515600" cy="1325563"/>
          </a:xfrm>
        </p:spPr>
        <p:txBody>
          <a:bodyPr/>
          <a:lstStyle/>
          <a:p>
            <a:r>
              <a:rPr lang="en-US" dirty="0"/>
              <a:t>Practice Question-4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53CBD1-0B37-43FC-76FC-1164AB912D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1221026"/>
                <a:ext cx="11669486" cy="584880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Given: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KLOC,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year.</a:t>
                </a:r>
                <a:br>
                  <a:rPr lang="en-IN" dirty="0"/>
                </a:br>
                <a:r>
                  <a:rPr lang="en-IN" dirty="0"/>
                  <a:t>Find total effort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IN" dirty="0"/>
                  <a:t> (person-years) and average staffing (FTE).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53CBD1-0B37-43FC-76FC-1164AB912D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1221026"/>
                <a:ext cx="11669486" cy="5848803"/>
              </a:xfrm>
              <a:blipFill>
                <a:blip r:embed="rId3"/>
                <a:stretch>
                  <a:fillRect l="-1087" t="-1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E409A1F-3C18-476A-AC6A-E1A229F896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91" y="2431989"/>
            <a:ext cx="11033252" cy="12651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C7EFAC-1A86-68ED-AEF3-B6F5E144CC02}"/>
              </a:ext>
            </a:extLst>
          </p:cNvPr>
          <p:cNvSpPr txBox="1"/>
          <p:nvPr/>
        </p:nvSpPr>
        <p:spPr>
          <a:xfrm>
            <a:off x="185399" y="2196068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Solution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B19C03-2D47-9B9E-05CB-9C3D7DA20D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925" y="3793413"/>
            <a:ext cx="8878510" cy="7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344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280D7-2EF8-EA11-B6AB-8C20E5D9C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0A2E1-2577-F83D-2832-64C24BC2D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1689"/>
            <a:ext cx="10515600" cy="1325563"/>
          </a:xfrm>
        </p:spPr>
        <p:txBody>
          <a:bodyPr/>
          <a:lstStyle/>
          <a:p>
            <a:r>
              <a:rPr lang="en-US" dirty="0"/>
              <a:t>Practice Question-5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87A41D-F38A-1DEA-D90A-4225D7D040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1053874"/>
                <a:ext cx="11669486" cy="584880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Given: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IN" dirty="0"/>
                  <a:t> KLOC,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year.</a:t>
                </a:r>
                <a:br>
                  <a:rPr lang="en-IN" dirty="0"/>
                </a:br>
                <a:r>
                  <a:rPr lang="en-IN" dirty="0"/>
                  <a:t>Find total effort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(person-years) and average staffing (FTE).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Management wants delivery in 9 months instead of 12 months (so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=0.75</m:t>
                    </m:r>
                  </m:oMath>
                </a14:m>
                <a:r>
                  <a:rPr lang="en-IN" dirty="0"/>
                  <a:t>yr). Compute the new effort and percent increase vs original plan.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87A41D-F38A-1DEA-D90A-4225D7D040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1053874"/>
                <a:ext cx="11669486" cy="5848803"/>
              </a:xfrm>
              <a:blipFill>
                <a:blip r:embed="rId2"/>
                <a:stretch>
                  <a:fillRect l="-1087" t="-1952" r="-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5508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797E8-36C9-6FAF-8986-BB42D165A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45B51-2214-315D-692D-A6A7A427B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1689"/>
            <a:ext cx="10515600" cy="1325563"/>
          </a:xfrm>
        </p:spPr>
        <p:txBody>
          <a:bodyPr/>
          <a:lstStyle/>
          <a:p>
            <a:r>
              <a:rPr lang="en-US" dirty="0"/>
              <a:t>Practice Question-5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727E3C-01E4-F377-48C2-121B207D1B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1053874"/>
                <a:ext cx="11669486" cy="584880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Given: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KLOC,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year.</a:t>
                </a:r>
                <a:br>
                  <a:rPr lang="en-IN" dirty="0"/>
                </a:br>
                <a:r>
                  <a:rPr lang="en-IN" dirty="0"/>
                  <a:t>Find total effort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IN" dirty="0"/>
                  <a:t>(person-years) and average staffing (FTE).</a:t>
                </a:r>
              </a:p>
              <a:p>
                <a:pPr marL="0" indent="0">
                  <a:buNone/>
                </a:pPr>
                <a:endParaRPr lang="en-IN" sz="800" dirty="0"/>
              </a:p>
              <a:p>
                <a:pPr marL="0" indent="0">
                  <a:buNone/>
                </a:pPr>
                <a:r>
                  <a:rPr lang="en-IN" dirty="0"/>
                  <a:t>Management wants delivery in 9 months instead of 12 months (so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lang="en-IN" dirty="0"/>
                  <a:t>yr). Compute the new effort and percent increase vs original plan.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727E3C-01E4-F377-48C2-121B207D1B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1053874"/>
                <a:ext cx="11669486" cy="5848803"/>
              </a:xfrm>
              <a:blipFill>
                <a:blip r:embed="rId2"/>
                <a:stretch>
                  <a:fillRect l="-1087" t="-1952" r="-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DA354421-A818-8A0A-72A3-815524A48B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69" r="28199" b="72910"/>
          <a:stretch>
            <a:fillRect/>
          </a:stretch>
        </p:blipFill>
        <p:spPr>
          <a:xfrm>
            <a:off x="384106" y="3113902"/>
            <a:ext cx="3359992" cy="963955"/>
          </a:xfrm>
          <a:prstGeom prst="rect">
            <a:avLst/>
          </a:prstGeom>
        </p:spPr>
      </p:pic>
      <p:pic>
        <p:nvPicPr>
          <p:cNvPr id="6" name="Picture 5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085BBB59-3C5F-806B-AAB8-0877AFE94F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715" y="4096392"/>
            <a:ext cx="3641007" cy="13070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538B76-0794-C59C-293C-25178DDC5B57}"/>
              </a:ext>
            </a:extLst>
          </p:cNvPr>
          <p:cNvSpPr txBox="1"/>
          <p:nvPr/>
        </p:nvSpPr>
        <p:spPr>
          <a:xfrm>
            <a:off x="3744098" y="4458153"/>
            <a:ext cx="2377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cs typeface="Times New Roman" panose="02020603050405020304" pitchFamily="18" charset="0"/>
              </a:rPr>
              <a:t>=</a:t>
            </a:r>
            <a:r>
              <a:rPr lang="en-IN" dirty="0">
                <a:latin typeface="Cambria" panose="02040503050406030204" pitchFamily="18" charset="0"/>
                <a:cs typeface="Times New Roman" panose="02020603050405020304" pitchFamily="18" charset="0"/>
              </a:rPr>
              <a:t>14.6319 person-year</a:t>
            </a:r>
            <a:endParaRPr lang="en-US" dirty="0"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D0FA9A-425E-55AB-B2FC-EA069E367D64}"/>
              </a:ext>
            </a:extLst>
          </p:cNvPr>
          <p:cNvSpPr txBox="1"/>
          <p:nvPr/>
        </p:nvSpPr>
        <p:spPr>
          <a:xfrm>
            <a:off x="200502" y="3064279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3221805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1AD97-9606-ED72-631E-2D5D969B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D28C3-5CE5-7111-C81B-A951485DA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1689"/>
            <a:ext cx="10515600" cy="1325563"/>
          </a:xfrm>
        </p:spPr>
        <p:txBody>
          <a:bodyPr/>
          <a:lstStyle/>
          <a:p>
            <a:r>
              <a:rPr lang="en-US" dirty="0"/>
              <a:t>Practice Question-5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DA5508-A7E3-A0FB-1E33-03743D4594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1053874"/>
                <a:ext cx="11669486" cy="584880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Given: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KLOC,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year.</a:t>
                </a:r>
                <a:br>
                  <a:rPr lang="en-IN" dirty="0"/>
                </a:br>
                <a:r>
                  <a:rPr lang="en-IN" dirty="0"/>
                  <a:t>Find total effort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IN" dirty="0"/>
                  <a:t>(person-years) and average staffing (FTE).</a:t>
                </a:r>
              </a:p>
              <a:p>
                <a:pPr marL="0" indent="0">
                  <a:buNone/>
                </a:pPr>
                <a:endParaRPr lang="en-IN" sz="800" dirty="0"/>
              </a:p>
              <a:p>
                <a:pPr marL="0" indent="0">
                  <a:buNone/>
                </a:pPr>
                <a:r>
                  <a:rPr lang="en-IN" dirty="0"/>
                  <a:t>Management wants delivery in 9 months instead of 12 months (so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=0.75</m:t>
                    </m:r>
                  </m:oMath>
                </a14:m>
                <a:r>
                  <a:rPr lang="en-IN" dirty="0"/>
                  <a:t>yr). Compute the new effort and percent increase vs original plan.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DA5508-A7E3-A0FB-1E33-03743D4594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1053874"/>
                <a:ext cx="11669486" cy="5848803"/>
              </a:xfrm>
              <a:blipFill>
                <a:blip r:embed="rId2"/>
                <a:stretch>
                  <a:fillRect l="-1087" t="-1952" r="-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9F6916BD-BF45-2EFF-02FC-EF10E48623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69" r="28199" b="72910"/>
          <a:stretch>
            <a:fillRect/>
          </a:stretch>
        </p:blipFill>
        <p:spPr>
          <a:xfrm>
            <a:off x="384106" y="3113902"/>
            <a:ext cx="3359992" cy="963955"/>
          </a:xfrm>
          <a:prstGeom prst="rect">
            <a:avLst/>
          </a:prstGeom>
        </p:spPr>
      </p:pic>
      <p:pic>
        <p:nvPicPr>
          <p:cNvPr id="6" name="Picture 5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2BEC80D2-4DA0-CB50-68FD-855A04DD17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715" y="4096392"/>
            <a:ext cx="3641007" cy="13070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84B968-7517-D8C9-95AD-F935ED22A3FE}"/>
              </a:ext>
            </a:extLst>
          </p:cNvPr>
          <p:cNvSpPr txBox="1"/>
          <p:nvPr/>
        </p:nvSpPr>
        <p:spPr>
          <a:xfrm>
            <a:off x="3744098" y="4458153"/>
            <a:ext cx="2377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cs typeface="Times New Roman" panose="02020603050405020304" pitchFamily="18" charset="0"/>
              </a:rPr>
              <a:t>=</a:t>
            </a:r>
            <a:r>
              <a:rPr lang="en-IN" dirty="0">
                <a:latin typeface="Cambria" panose="02040503050406030204" pitchFamily="18" charset="0"/>
                <a:cs typeface="Times New Roman" panose="02020603050405020304" pitchFamily="18" charset="0"/>
              </a:rPr>
              <a:t>14.6319 person-year</a:t>
            </a:r>
            <a:endParaRPr lang="en-US" dirty="0"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number with numbers on it&#10;&#10;AI-generated content may be incorrect.">
            <a:extLst>
              <a:ext uri="{FF2B5EF4-FFF2-40B4-BE49-F238E27FC236}">
                <a16:creationId xmlns:a16="http://schemas.microsoft.com/office/drawing/2014/main" id="{1AF8364F-0EF6-888A-6BD6-C3FCEA25BA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93"/>
          <a:stretch>
            <a:fillRect/>
          </a:stretch>
        </p:blipFill>
        <p:spPr>
          <a:xfrm>
            <a:off x="1481183" y="5489546"/>
            <a:ext cx="6903724" cy="9514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82E663-7560-FF02-AA62-044EC8A617FD}"/>
              </a:ext>
            </a:extLst>
          </p:cNvPr>
          <p:cNvSpPr txBox="1"/>
          <p:nvPr/>
        </p:nvSpPr>
        <p:spPr>
          <a:xfrm>
            <a:off x="1841157" y="6391742"/>
            <a:ext cx="776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Cambria" panose="02040503050406030204" pitchFamily="18" charset="0"/>
              </a:rPr>
              <a:t>Shrinking schedule by 25% more than </a:t>
            </a:r>
            <a:r>
              <a:rPr lang="en-IN" i="1" dirty="0">
                <a:solidFill>
                  <a:srgbClr val="FF0000"/>
                </a:solidFill>
                <a:latin typeface="Cambria" panose="02040503050406030204" pitchFamily="18" charset="0"/>
              </a:rPr>
              <a:t>triples</a:t>
            </a:r>
            <a:r>
              <a:rPr lang="en-IN" dirty="0">
                <a:solidFill>
                  <a:srgbClr val="FF0000"/>
                </a:solidFill>
                <a:latin typeface="Cambria" panose="02040503050406030204" pitchFamily="18" charset="0"/>
              </a:rPr>
              <a:t> effort (huge cost in manpower).</a:t>
            </a:r>
            <a:endParaRPr lang="en-US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38BED7-AB54-2C4E-B0D3-DCFEAAB73733}"/>
              </a:ext>
            </a:extLst>
          </p:cNvPr>
          <p:cNvSpPr txBox="1"/>
          <p:nvPr/>
        </p:nvSpPr>
        <p:spPr>
          <a:xfrm>
            <a:off x="200502" y="3064279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273464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84CB0-3604-F3AA-67D3-2C0EB193F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6AF90-D80F-D91A-C2CA-14406DE66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1689"/>
            <a:ext cx="10515600" cy="1325563"/>
          </a:xfrm>
        </p:spPr>
        <p:txBody>
          <a:bodyPr/>
          <a:lstStyle/>
          <a:p>
            <a:r>
              <a:rPr lang="en-US" dirty="0"/>
              <a:t>Practice Question-6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20A70-8F9C-41A8-3C5F-5827ABD7F7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1053874"/>
                <a:ext cx="11669486" cy="584880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Given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15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KLOC,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dirty="0"/>
                  <a:t> years. Compute total effort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IN" dirty="0"/>
                  <a:t>, average staffing, then approximate peak staffing and time-to-peak.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20A70-8F9C-41A8-3C5F-5827ABD7F7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1053874"/>
                <a:ext cx="11669486" cy="5848803"/>
              </a:xfrm>
              <a:blipFill>
                <a:blip r:embed="rId2"/>
                <a:stretch>
                  <a:fillRect l="-1087" t="-1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2099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846EC-BE03-0D78-4595-85F7E4AB5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83500-0E76-7DD9-5C0A-59F862C13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1689"/>
            <a:ext cx="10515600" cy="1325563"/>
          </a:xfrm>
        </p:spPr>
        <p:txBody>
          <a:bodyPr/>
          <a:lstStyle/>
          <a:p>
            <a:r>
              <a:rPr lang="en-US" dirty="0"/>
              <a:t>Practice Question-6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12E0B4-D263-B946-719E-0C902310E4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1053874"/>
                <a:ext cx="11669486" cy="584880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Given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IN" dirty="0"/>
                  <a:t> KLOC,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=1.2</m:t>
                    </m:r>
                  </m:oMath>
                </a14:m>
                <a:r>
                  <a:rPr lang="en-IN" dirty="0"/>
                  <a:t> years. Compute total effort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IN" dirty="0"/>
                  <a:t>, average staffing, then approximate peak staffing and time-to-peak.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12E0B4-D263-B946-719E-0C902310E4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1053874"/>
                <a:ext cx="11669486" cy="5848803"/>
              </a:xfrm>
              <a:blipFill>
                <a:blip r:embed="rId2"/>
                <a:stretch>
                  <a:fillRect l="-1087" t="-1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2852319-B02D-FD6A-D5B7-10D484B49D64}"/>
              </a:ext>
            </a:extLst>
          </p:cNvPr>
          <p:cNvSpPr txBox="1"/>
          <p:nvPr/>
        </p:nvSpPr>
        <p:spPr>
          <a:xfrm>
            <a:off x="0" y="2010105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6DE015-B29D-F563-A9FD-6B549E98B237}"/>
                  </a:ext>
                </a:extLst>
              </p:cNvPr>
              <p:cNvSpPr txBox="1"/>
              <p:nvPr/>
            </p:nvSpPr>
            <p:spPr>
              <a:xfrm>
                <a:off x="1606379" y="2361663"/>
                <a:ext cx="7632795" cy="1384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2800" dirty="0">
                    <a:latin typeface="Cambria" panose="02040503050406030204" pitchFamily="18" charset="0"/>
                  </a:rPr>
                  <a:t>E≈7.535 person-years.</a:t>
                </a:r>
              </a:p>
              <a:p>
                <a:pPr algn="ctr"/>
                <a:endParaRPr lang="en-IN" sz="2800" dirty="0">
                  <a:latin typeface="Cambria" panose="02040503050406030204" pitchFamily="18" charset="0"/>
                </a:endParaRPr>
              </a:p>
              <a:p>
                <a:pPr algn="ctr"/>
                <a:r>
                  <a:rPr lang="en-IN" sz="2800" dirty="0">
                    <a:latin typeface="Cambria" panose="02040503050406030204" pitchFamily="18" charset="0"/>
                  </a:rPr>
                  <a:t>Average staffing = </a:t>
                </a:r>
                <a14:m>
                  <m:oMath xmlns:m="http://schemas.openxmlformats.org/officeDocument/2006/math">
                    <m:r>
                      <a:rPr lang="en-IN" sz="2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≈7.535/1.2=6.279</m:t>
                    </m:r>
                  </m:oMath>
                </a14:m>
                <a:r>
                  <a:rPr lang="en-IN" sz="2800" dirty="0">
                    <a:latin typeface="Cambria" panose="02040503050406030204" pitchFamily="18" charset="0"/>
                  </a:rPr>
                  <a:t>FTE.</a:t>
                </a:r>
                <a:endParaRPr lang="en-US" sz="28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6DE015-B29D-F563-A9FD-6B549E98B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379" y="2361663"/>
                <a:ext cx="7632795" cy="1384995"/>
              </a:xfrm>
              <a:prstGeom prst="rect">
                <a:avLst/>
              </a:prstGeom>
              <a:blipFill>
                <a:blip r:embed="rId3"/>
                <a:stretch>
                  <a:fillRect l="-1163" t="-4505" r="-1163" b="-9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3914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642F3-A8B5-D672-8E7C-CE1DBC902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64D3D-28C1-8E66-6538-CB9091EAA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1689"/>
            <a:ext cx="10515600" cy="1325563"/>
          </a:xfrm>
        </p:spPr>
        <p:txBody>
          <a:bodyPr/>
          <a:lstStyle/>
          <a:p>
            <a:r>
              <a:rPr lang="en-US" dirty="0"/>
              <a:t>Practice Question-6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1BE1BA-6BB2-2EAC-20DF-A6531FB391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1053874"/>
                <a:ext cx="11669486" cy="584880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Given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IN" dirty="0"/>
                  <a:t> KLOC,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dirty="0"/>
                  <a:t> years. Compute total effort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IN" dirty="0"/>
                  <a:t>, average staffing, then approximate peak staffing and time-to-peak.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1BE1BA-6BB2-2EAC-20DF-A6531FB391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1053874"/>
                <a:ext cx="11669486" cy="5848803"/>
              </a:xfrm>
              <a:blipFill>
                <a:blip r:embed="rId2"/>
                <a:stretch>
                  <a:fillRect l="-1087" t="-1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946C6C6-C8F4-0200-AD93-4D195B3FB756}"/>
              </a:ext>
            </a:extLst>
          </p:cNvPr>
          <p:cNvSpPr txBox="1"/>
          <p:nvPr/>
        </p:nvSpPr>
        <p:spPr>
          <a:xfrm>
            <a:off x="0" y="2010105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F2740C-FE24-98B3-7BAE-12FBAF6898A4}"/>
                  </a:ext>
                </a:extLst>
              </p:cNvPr>
              <p:cNvSpPr txBox="1"/>
              <p:nvPr/>
            </p:nvSpPr>
            <p:spPr>
              <a:xfrm>
                <a:off x="630194" y="2029401"/>
                <a:ext cx="11158152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dirty="0">
                    <a:latin typeface="Cambria" panose="02040503050406030204" pitchFamily="18" charset="0"/>
                  </a:rPr>
                  <a:t>E≈7.535 person-years.</a:t>
                </a:r>
              </a:p>
              <a:p>
                <a:pPr algn="ctr"/>
                <a:r>
                  <a:rPr lang="en-IN" sz="2400" dirty="0">
                    <a:latin typeface="Cambria" panose="02040503050406030204" pitchFamily="18" charset="0"/>
                  </a:rPr>
                  <a:t>Average staffing =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535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279</m:t>
                    </m:r>
                  </m:oMath>
                </a14:m>
                <a:r>
                  <a:rPr lang="en-IN" sz="2400" dirty="0">
                    <a:latin typeface="Cambria" panose="02040503050406030204" pitchFamily="18" charset="0"/>
                  </a:rPr>
                  <a:t>FTE.</a:t>
                </a:r>
              </a:p>
              <a:p>
                <a:pPr algn="ctr"/>
                <a:endParaRPr lang="en-IN" sz="2400" dirty="0">
                  <a:latin typeface="Cambria" panose="02040503050406030204" pitchFamily="18" charset="0"/>
                </a:endParaRPr>
              </a:p>
              <a:p>
                <a:pPr algn="just"/>
                <a:r>
                  <a:rPr lang="en-IN" sz="2400" dirty="0">
                    <a:latin typeface="Cambria" panose="02040503050406030204" pitchFamily="18" charset="0"/>
                  </a:rPr>
                  <a:t>Rayleigh-type staffing profiles for SLIM usually peak before delivery. QSM/ SLIM docs often use a peak location ~40–45% of the development duration and a peak level roughly 1.2–1.5× the average (exact shape depends on chosen Rayleigh parameters). </a:t>
                </a:r>
              </a:p>
              <a:p>
                <a:pPr algn="just"/>
                <a:endParaRPr lang="en-IN" sz="2400" dirty="0">
                  <a:latin typeface="Cambria" panose="02040503050406030204" pitchFamily="18" charset="0"/>
                </a:endParaRPr>
              </a:p>
              <a:p>
                <a:pPr algn="ctr"/>
                <a:endParaRPr lang="en-US" sz="24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F2740C-FE24-98B3-7BAE-12FBAF689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94" y="2029401"/>
                <a:ext cx="11158152" cy="3416320"/>
              </a:xfrm>
              <a:prstGeom prst="rect">
                <a:avLst/>
              </a:prstGeom>
              <a:blipFill>
                <a:blip r:embed="rId3"/>
                <a:stretch>
                  <a:fillRect l="-795" t="-1111" r="-7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5106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11C98-B499-8131-A572-89FDF7DFD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6052A-8898-D2E1-4624-3DDC3C3E3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1689"/>
            <a:ext cx="10515600" cy="1325563"/>
          </a:xfrm>
        </p:spPr>
        <p:txBody>
          <a:bodyPr/>
          <a:lstStyle/>
          <a:p>
            <a:r>
              <a:rPr lang="en-US" dirty="0"/>
              <a:t>Practice Question-6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44EA1D-4199-5332-FED6-030617F286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1053874"/>
                <a:ext cx="11669486" cy="584880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Given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IN" dirty="0"/>
                  <a:t> KLOC,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dirty="0"/>
                  <a:t> years. Compute total effort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IN" dirty="0"/>
                  <a:t>, average staffing, then approximate peak staffing and time-to-peak.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44EA1D-4199-5332-FED6-030617F286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1053874"/>
                <a:ext cx="11669486" cy="5848803"/>
              </a:xfrm>
              <a:blipFill>
                <a:blip r:embed="rId2"/>
                <a:stretch>
                  <a:fillRect l="-1087" t="-1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342125B-55B1-F435-6DC7-13C60401AA7C}"/>
              </a:ext>
            </a:extLst>
          </p:cNvPr>
          <p:cNvSpPr txBox="1"/>
          <p:nvPr/>
        </p:nvSpPr>
        <p:spPr>
          <a:xfrm>
            <a:off x="0" y="2010105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57F877-AC34-68D8-F393-3520EE1C75A0}"/>
                  </a:ext>
                </a:extLst>
              </p:cNvPr>
              <p:cNvSpPr txBox="1"/>
              <p:nvPr/>
            </p:nvSpPr>
            <p:spPr>
              <a:xfrm>
                <a:off x="630194" y="2029401"/>
                <a:ext cx="11158152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IN" sz="2400" dirty="0">
                    <a:latin typeface="Cambria" panose="02040503050406030204" pitchFamily="18" charset="0"/>
                  </a:rPr>
                  <a:t>E ≈ 7.535 person-years.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IN" sz="2400" dirty="0">
                    <a:latin typeface="Cambria" panose="02040503050406030204" pitchFamily="18" charset="0"/>
                  </a:rPr>
                  <a:t>Average staffing =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535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279</m:t>
                    </m:r>
                  </m:oMath>
                </a14:m>
                <a:r>
                  <a:rPr lang="en-IN" sz="2400" dirty="0">
                    <a:latin typeface="Cambria" panose="02040503050406030204" pitchFamily="18" charset="0"/>
                  </a:rPr>
                  <a:t>FTE.</a:t>
                </a:r>
              </a:p>
              <a:p>
                <a:pPr algn="ctr"/>
                <a:endParaRPr lang="en-IN" sz="2400" dirty="0">
                  <a:latin typeface="Cambria" panose="02040503050406030204" pitchFamily="18" charset="0"/>
                </a:endParaRPr>
              </a:p>
              <a:p>
                <a:pPr algn="just"/>
                <a:r>
                  <a:rPr lang="en-IN" sz="2400" dirty="0">
                    <a:latin typeface="Cambria" panose="02040503050406030204" pitchFamily="18" charset="0"/>
                  </a:rPr>
                  <a:t>Rayleigh-type staffing profiles for SLIM usually peak before delivery. QSM/ SLIM docs often use a peak location ~40–45% of the development duration and a peak level roughly 1.2–1.5× the average (exact shape depends on chosen Rayleigh parameters). </a:t>
                </a:r>
              </a:p>
              <a:p>
                <a:pPr algn="just"/>
                <a:endParaRPr lang="en-IN" sz="2400" dirty="0">
                  <a:latin typeface="Cambria" panose="02040503050406030204" pitchFamily="18" charset="0"/>
                </a:endParaRPr>
              </a:p>
              <a:p>
                <a:pPr algn="just"/>
                <a:r>
                  <a:rPr lang="en-IN" sz="2400" dirty="0">
                    <a:latin typeface="Cambria" panose="02040503050406030204" pitchFamily="18" charset="0"/>
                  </a:rPr>
                  <a:t>Using 45% and a factor 1.4:</a:t>
                </a:r>
              </a:p>
              <a:p>
                <a:pPr algn="ctr"/>
                <a:r>
                  <a:rPr lang="en-IN" sz="2400" dirty="0">
                    <a:latin typeface="Cambria" panose="02040503050406030204" pitchFamily="18" charset="0"/>
                  </a:rPr>
                  <a:t>Peak time 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45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lang="en-IN" sz="2400" dirty="0">
                    <a:latin typeface="Cambria" panose="02040503050406030204" pitchFamily="18" charset="0"/>
                  </a:rPr>
                  <a:t> years (≈ </a:t>
                </a:r>
                <a:r>
                  <a:rPr lang="en-IN" sz="2400" b="1" dirty="0">
                    <a:latin typeface="Cambria" panose="02040503050406030204" pitchFamily="18" charset="0"/>
                  </a:rPr>
                  <a:t>6.5 months</a:t>
                </a:r>
                <a:r>
                  <a:rPr lang="en-IN" sz="2400" dirty="0">
                    <a:latin typeface="Cambria" panose="02040503050406030204" pitchFamily="18" charset="0"/>
                  </a:rPr>
                  <a:t>).</a:t>
                </a:r>
              </a:p>
              <a:p>
                <a:pPr algn="ctr"/>
                <a:r>
                  <a:rPr lang="en-IN" sz="2400" dirty="0">
                    <a:latin typeface="Cambria" panose="02040503050406030204" pitchFamily="18" charset="0"/>
                  </a:rPr>
                  <a:t>Peak staffing ≈ 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279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79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latin typeface="Cambria" panose="02040503050406030204" pitchFamily="18" charset="0"/>
                  </a:rPr>
                  <a:t>FTE.</a:t>
                </a:r>
              </a:p>
              <a:p>
                <a:pPr algn="ctr"/>
                <a:endParaRPr lang="en-US" sz="24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57F877-AC34-68D8-F393-3520EE1C7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94" y="2029401"/>
                <a:ext cx="11158152" cy="4893647"/>
              </a:xfrm>
              <a:prstGeom prst="rect">
                <a:avLst/>
              </a:prstGeom>
              <a:blipFill>
                <a:blip r:embed="rId3"/>
                <a:stretch>
                  <a:fillRect l="-795" r="-7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8312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634E7-8758-1437-62A8-226473766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D66E0-0EA4-882F-710D-724E9956B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1689"/>
            <a:ext cx="10515600" cy="1325563"/>
          </a:xfrm>
        </p:spPr>
        <p:txBody>
          <a:bodyPr/>
          <a:lstStyle/>
          <a:p>
            <a:r>
              <a:rPr lang="en-US" dirty="0"/>
              <a:t>Practice Question- 7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2CA510-BF48-5C02-34E5-D26C79B2A7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1053874"/>
                <a:ext cx="11669486" cy="584880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Take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IN" dirty="0"/>
                  <a:t> KLOC and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dirty="0"/>
                  <a:t> year. Compute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for two different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IN" dirty="0"/>
                  <a:t>values: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IN" dirty="0"/>
                  <a:t> (worse process) and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IN" dirty="0"/>
                  <a:t> (better process).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2CA510-BF48-5C02-34E5-D26C79B2A7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1053874"/>
                <a:ext cx="11669486" cy="5848803"/>
              </a:xfrm>
              <a:blipFill>
                <a:blip r:embed="rId2"/>
                <a:stretch>
                  <a:fillRect l="-1087" t="-1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2153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C733D-C251-3C90-6855-B02243ADC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ABDD7-9ECA-AD11-9234-E3B50080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1689"/>
            <a:ext cx="10515600" cy="1325563"/>
          </a:xfrm>
        </p:spPr>
        <p:txBody>
          <a:bodyPr/>
          <a:lstStyle/>
          <a:p>
            <a:r>
              <a:rPr lang="en-US" dirty="0"/>
              <a:t>Practice Question-7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D4E64D-FCF7-1DC9-E2BD-E1045CDB6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864974"/>
                <a:ext cx="11669486" cy="1145132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IN" dirty="0"/>
                  <a:t>Take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KLOC and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year. Compute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IN" dirty="0"/>
                  <a:t> for two different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IN" dirty="0"/>
                  <a:t>values: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(worse process) and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(better process).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D4E64D-FCF7-1DC9-E2BD-E1045CDB6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864974"/>
                <a:ext cx="11669486" cy="1145132"/>
              </a:xfrm>
              <a:blipFill>
                <a:blip r:embed="rId2"/>
                <a:stretch>
                  <a:fillRect l="-1087" t="-7692" b="-98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57A5FD8-7B56-45D8-11A2-B6605B83561E}"/>
              </a:ext>
            </a:extLst>
          </p:cNvPr>
          <p:cNvSpPr txBox="1"/>
          <p:nvPr/>
        </p:nvSpPr>
        <p:spPr>
          <a:xfrm>
            <a:off x="407773" y="2334170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E69AC6-824E-08EF-2E7B-EC3782986008}"/>
              </a:ext>
            </a:extLst>
          </p:cNvPr>
          <p:cNvSpPr txBox="1"/>
          <p:nvPr/>
        </p:nvSpPr>
        <p:spPr>
          <a:xfrm>
            <a:off x="2379467" y="2785792"/>
            <a:ext cx="6187912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Cambria" panose="02040503050406030204" pitchFamily="18" charset="0"/>
              </a:rPr>
              <a:t> For C=4: E≈15.625 person-years.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3200" dirty="0">
              <a:latin typeface="Cambria" panose="020405030504060302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Cambria" panose="02040503050406030204" pitchFamily="18" charset="0"/>
              </a:rPr>
              <a:t> For C=8: E≈1.953 person-years.</a:t>
            </a:r>
          </a:p>
          <a:p>
            <a:endParaRPr lang="en-US" sz="3200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B6F3F9-F296-8A85-4397-2FD9B2DDFFD1}"/>
                  </a:ext>
                </a:extLst>
              </p:cNvPr>
              <p:cNvSpPr txBox="1"/>
              <p:nvPr/>
            </p:nvSpPr>
            <p:spPr>
              <a:xfrm>
                <a:off x="1583430" y="4948121"/>
                <a:ext cx="1178834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200" dirty="0">
                    <a:latin typeface="Cambria" panose="02040503050406030204" pitchFamily="18" charset="0"/>
                  </a:rPr>
                  <a:t>Doubling </a:t>
                </a:r>
                <a14:m>
                  <m:oMath xmlns:m="http://schemas.openxmlformats.org/officeDocument/2006/math">
                    <m:r>
                      <a:rPr lang="en-IN" sz="32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IN" sz="3200" dirty="0">
                    <a:latin typeface="Cambria" panose="02040503050406030204" pitchFamily="18" charset="0"/>
                  </a:rPr>
                  <a:t> dramatically reduces required effort.</a:t>
                </a:r>
                <a:endParaRPr lang="en-US" sz="32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B6F3F9-F296-8A85-4397-2FD9B2DDF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430" y="4948121"/>
                <a:ext cx="11788346" cy="584775"/>
              </a:xfrm>
              <a:prstGeom prst="rect">
                <a:avLst/>
              </a:prstGeom>
              <a:blipFill>
                <a:blip r:embed="rId3"/>
                <a:stretch>
                  <a:fillRect l="-1290" t="-12766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4080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7C16B-1D59-AE18-369E-1D9D101B8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23589-6489-7EEC-B680-07885B677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-27214"/>
            <a:ext cx="8229600" cy="1143000"/>
          </a:xfrm>
        </p:spPr>
        <p:txBody>
          <a:bodyPr/>
          <a:lstStyle/>
          <a:p>
            <a:r>
              <a:rPr lang="en-US" dirty="0"/>
              <a:t>Practice Question-8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1D8D14-7C58-563B-6182-FD80696CC17E}"/>
              </a:ext>
            </a:extLst>
          </p:cNvPr>
          <p:cNvSpPr txBox="1"/>
          <p:nvPr/>
        </p:nvSpPr>
        <p:spPr>
          <a:xfrm>
            <a:off x="590551" y="971550"/>
            <a:ext cx="1124902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at Completion (BAC) = ₹20, 00,000.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month 6: Planned % complete = 50%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Value (PV) = 50% × BAC.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Cost (AC) so far = ₹12, 00,000.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physical progress = 40%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Earned Value (EV) = 40% × BAC.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CV, SV, CPI, SPI, EAC, and ETC.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4529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F7579-47C0-9055-17E0-C76AEF32E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3174D-E181-1F7E-48A4-2DE9F4CAB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-27214"/>
            <a:ext cx="8229600" cy="1143000"/>
          </a:xfrm>
        </p:spPr>
        <p:txBody>
          <a:bodyPr/>
          <a:lstStyle/>
          <a:p>
            <a:r>
              <a:rPr lang="en-US" dirty="0"/>
              <a:t>Practice Question-8 : </a:t>
            </a:r>
            <a:r>
              <a:rPr lang="en-US" dirty="0">
                <a:solidFill>
                  <a:srgbClr val="FF0000"/>
                </a:solidFill>
              </a:rPr>
              <a:t>Solution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D6455D-3120-4EFD-D021-E71DD3ACD72D}"/>
              </a:ext>
            </a:extLst>
          </p:cNvPr>
          <p:cNvSpPr txBox="1"/>
          <p:nvPr/>
        </p:nvSpPr>
        <p:spPr>
          <a:xfrm>
            <a:off x="590551" y="971550"/>
            <a:ext cx="1124902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Value (PV) = 0.50 × 20,00,000 =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₹10, 00,000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Earned Value (EV) = 0.40 × 20,00,000 =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₹8,00,000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Cost (AC) =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₹12,00,000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Variance (CV)     = EV − AC </a:t>
            </a:r>
          </a:p>
          <a:p>
            <a:pPr lvl="2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= 800,000 − 1,200,000 =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−₹400,000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(over budget).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Variance (SV) = EV − PV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   = 800,000 − 1,000,000 =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−₹200,000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(behind schedule).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Performance Index (CPI) = EV / AC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   = 800,000 / 1,200,000 =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0.6667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24428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551F8-DA7C-FC34-9F04-6D3943CAA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84E9D-FE18-E53E-AC5A-EB99C3995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-27214"/>
            <a:ext cx="8229600" cy="1143000"/>
          </a:xfrm>
        </p:spPr>
        <p:txBody>
          <a:bodyPr/>
          <a:lstStyle/>
          <a:p>
            <a:r>
              <a:rPr lang="en-US" dirty="0"/>
              <a:t>Practice Question-8 : </a:t>
            </a:r>
            <a:r>
              <a:rPr lang="en-US" dirty="0">
                <a:solidFill>
                  <a:srgbClr val="FF0000"/>
                </a:solidFill>
              </a:rPr>
              <a:t>Solution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3664BE-7E48-B478-9F0E-FE0C84A3AC46}"/>
              </a:ext>
            </a:extLst>
          </p:cNvPr>
          <p:cNvSpPr txBox="1"/>
          <p:nvPr/>
        </p:nvSpPr>
        <p:spPr>
          <a:xfrm>
            <a:off x="590551" y="971550"/>
            <a:ext cx="11249024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Value (PV) = 0.50 × 20,00,000 =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₹10, 00,000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Earned Value (EV) = 0.40 × 20,00,000 =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₹8,00,000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Cost (AC) =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₹12,00,000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Variance (CV)     =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−₹400,000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Variance (SV) =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−₹200,000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Performance Index (CPI) =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0.6667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Performance Index (SPI) = EV / PV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= 800,000 / 1,000,000 =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at Completion (EAC)       = BAC / CPI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= 2,000,000 / 0.6667 ≈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₹3,000,000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43032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1F354-69AD-BF10-D439-ABC534D9C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1A32F-B957-E8A8-A409-43AB4067D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-27214"/>
            <a:ext cx="8229600" cy="1143000"/>
          </a:xfrm>
        </p:spPr>
        <p:txBody>
          <a:bodyPr/>
          <a:lstStyle/>
          <a:p>
            <a:r>
              <a:rPr lang="en-US" dirty="0"/>
              <a:t>Practice Question-8 : </a:t>
            </a:r>
            <a:r>
              <a:rPr lang="en-US" dirty="0">
                <a:solidFill>
                  <a:srgbClr val="FF0000"/>
                </a:solidFill>
              </a:rPr>
              <a:t>Solution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8ADCB5-ED95-3E12-FD50-02A111B25B33}"/>
              </a:ext>
            </a:extLst>
          </p:cNvPr>
          <p:cNvSpPr txBox="1"/>
          <p:nvPr/>
        </p:nvSpPr>
        <p:spPr>
          <a:xfrm>
            <a:off x="590551" y="971550"/>
            <a:ext cx="1124902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Value (PV) = 0.50 × 20,00,000 =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₹10, 00,000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Earned Value (EV) = 0.40 × 20,00,000 =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₹8,00,000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Cost (AC) =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₹12,00,000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Variance (CV)     =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−₹400,000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Variance (SV) =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−₹200,000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Performance Index (CPI) =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0.6667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Performance Index (SPI) =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at Completion (EAC) =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₹3,000,000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to Complete (ETC) = EAC − AC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= 3,000,000 − 1,200,000 =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₹1,800,000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853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1672</TotalTime>
  <Words>2808</Words>
  <Application>Microsoft Office PowerPoint</Application>
  <PresentationFormat>Widescreen</PresentationFormat>
  <Paragraphs>412</Paragraphs>
  <Slides>28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Aptos</vt:lpstr>
      <vt:lpstr>Aptos Display</vt:lpstr>
      <vt:lpstr>Arial</vt:lpstr>
      <vt:lpstr>Arial MT</vt:lpstr>
      <vt:lpstr>Cambria</vt:lpstr>
      <vt:lpstr>Cambria Math</vt:lpstr>
      <vt:lpstr>Times New Roman</vt:lpstr>
      <vt:lpstr>Office Theme</vt:lpstr>
      <vt:lpstr>Practice Question (COCOMO Model):</vt:lpstr>
      <vt:lpstr>Practice Question 1 (COCOMO Model):</vt:lpstr>
      <vt:lpstr>Practice Question 1 (COCOMO Model):</vt:lpstr>
      <vt:lpstr>Practice Question 1 (COCOMO Model):</vt:lpstr>
      <vt:lpstr>Practice Question 1 (COCOMO Model):</vt:lpstr>
      <vt:lpstr>Practice Question 2:</vt:lpstr>
      <vt:lpstr>PowerPoint Presentation</vt:lpstr>
      <vt:lpstr>PowerPoint Presentation</vt:lpstr>
      <vt:lpstr>Practice Question 3:</vt:lpstr>
      <vt:lpstr>Practice Question 3:</vt:lpstr>
      <vt:lpstr>Practice Question 3:</vt:lpstr>
      <vt:lpstr>Practice Question 3:</vt:lpstr>
      <vt:lpstr>Practice Question-4</vt:lpstr>
      <vt:lpstr>Practice Question-4</vt:lpstr>
      <vt:lpstr>Practice Question-4</vt:lpstr>
      <vt:lpstr>Practice Question-5</vt:lpstr>
      <vt:lpstr>Practice Question-5</vt:lpstr>
      <vt:lpstr>Practice Question-5</vt:lpstr>
      <vt:lpstr>Practice Question-6</vt:lpstr>
      <vt:lpstr>Practice Question-6</vt:lpstr>
      <vt:lpstr>Practice Question-6</vt:lpstr>
      <vt:lpstr>Practice Question-6</vt:lpstr>
      <vt:lpstr>Practice Question- 7</vt:lpstr>
      <vt:lpstr>Practice Question-7</vt:lpstr>
      <vt:lpstr>Practice Question-8</vt:lpstr>
      <vt:lpstr>Practice Question-8 : Solution</vt:lpstr>
      <vt:lpstr>Practice Question-8 : Solution</vt:lpstr>
      <vt:lpstr>Practice Question-8 : 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Anjali</dc:creator>
  <cp:lastModifiedBy>Neha Kumari</cp:lastModifiedBy>
  <cp:revision>1</cp:revision>
  <dcterms:created xsi:type="dcterms:W3CDTF">2025-09-30T04:55:16Z</dcterms:created>
  <dcterms:modified xsi:type="dcterms:W3CDTF">2025-10-02T11:13:00Z</dcterms:modified>
</cp:coreProperties>
</file>