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1" r:id="rId7"/>
    <p:sldId id="262" r:id="rId8"/>
    <p:sldId id="260" r:id="rId9"/>
    <p:sldId id="263" r:id="rId10"/>
    <p:sldId id="264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E7389-A72B-444E-B72A-5C89730BB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96C2DD-354A-CDF4-9FF9-7D685A64C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141CA-1A16-BDEB-3753-018A5738C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99083-DAF0-8C4A-ABFE-539479627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E9A6A-1F20-69E2-D98D-B791DD85B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810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F8A2-4344-2D5D-C431-E4A8B66E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D094-C640-44D9-E7C5-B28FDCE0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37C4-48C6-F6E5-7097-931181C83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5AD57-B1DF-5C2B-7454-77F38252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ACCB-76CC-F66D-E713-11361747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922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F8785-E5E1-79A6-5870-877DC409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4A03C-84EE-06B8-9495-73C017F41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3FA86-6FDD-FE28-C139-4F79249F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63E46-4874-4B7C-446F-8C20D858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F0B14-841F-1861-CEE0-89ABB52E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0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522E-CC75-192F-1BF1-E1BFAAC5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61D6-F1FF-6949-9471-4548C9A72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97078-E6E4-9937-1E92-50988143E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292C7-2D8B-1CB9-8A1B-4DB44E90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88441-E8CC-A84C-F35B-9FCA2747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0C313-2DCB-BF08-F0CC-B077EEB0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49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ED0E-2C0F-A836-2D92-26A0D678B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38E05-2E20-CC64-42EA-CABB036C3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19163-7E4C-362C-779F-0CD65DC22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7104C-FA91-8BA0-2A4E-022551638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80F0F-9F3D-498E-EFA1-0AE4C167B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B7DFE-1D64-27AD-DACE-767585CB9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68164-D93B-29F0-B7C8-88E71D657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26153-D4D8-A64F-0AF5-3204B1BB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B6077-1545-0B83-2EA6-9F9DC618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1DC841-7CF7-41C9-3C3C-E1148ADA9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67B96-8C65-7847-CCD2-AE957A46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909EE-E35D-87F4-1A59-7C95938D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841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E234E1-11C7-8724-349F-DF1206523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6F0F4-46DF-12FC-6EA6-1220783C6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D3FE1-7141-4A4F-C8D9-D81A44748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952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DC7D6-5E88-7C5C-DAC4-BEF4E0C7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1C3AB-E4A2-FDB5-22C3-53353B6B2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EA26F-4150-3017-F4D9-15B15FC26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D5700-AD9F-0836-3705-6C710F96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BAC45-70BC-C8E2-07B5-8B0766B4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CF17BD-4CD5-91CE-4D33-6C0E46E2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2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DB5BB-455F-9CBE-E377-0EB4BC4F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ACF22-297B-2385-F338-D50236D33D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9D375-4454-5FF4-7906-F3932E0A0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05A46-7413-6879-84AA-4E06ADE3A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5544F-D1F4-0E88-6469-2DFE4AB2D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AFEBC-A6C8-9500-5715-84F3FD19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90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17934-6444-E7C5-AEB0-62DDE800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20147-9814-B919-9E7F-56074CB4C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3FFE3-5FFC-28BD-6D8E-B51473972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E1304-3CE1-CC39-656F-666DE2C0B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5C60-86F2-25D1-3A84-6BED210A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16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327BD-2AF4-93BD-05F3-E00EA59272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82C23-36D0-C1AB-CD0E-A4CA89B0E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CDCEB-20BD-E742-3CB6-12C198E7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57A89-4ED8-EF85-6CB2-0B4B09BD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7BBA3-C579-B0CD-F260-07E968CD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13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929EDC-68E8-3FDE-C5A1-E5CF0C934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5C45A-9B6B-65ED-77BD-D20EA8B66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953E3-6EAB-D130-5B29-B99768EE1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11751-5429-41E3-9BB3-E93FBE54ED0C}" type="datetimeFigureOut">
              <a:rPr lang="en-IN" smtClean="0"/>
              <a:t>01-10-2025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84AC2-7A2B-4599-400C-1DD1961F6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B8B4C-D348-08F3-4126-A89BA2AF8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64345-3C97-4C57-BA6E-B1BBAE19CC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22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2A08-0DA3-E2CC-34B1-89E1EF4C3D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Practice Questions</a:t>
            </a:r>
            <a:br>
              <a:rPr lang="en-US" dirty="0"/>
            </a:br>
            <a:r>
              <a:rPr lang="en-US" dirty="0"/>
              <a:t>CPM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851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29172-6185-C6C0-9B16-E2D18D913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159" y="547332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Scenario: Office Building Construction</a:t>
            </a:r>
          </a:p>
          <a:p>
            <a:pPr marL="0" indent="0">
              <a:buNone/>
            </a:pPr>
            <a:r>
              <a:rPr lang="en-US" b="1" dirty="0"/>
              <a:t>BuildRight Construction</a:t>
            </a:r>
            <a:r>
              <a:rPr lang="en-US" dirty="0"/>
              <a:t> is managing an office building project with the following activities:</a:t>
            </a:r>
          </a:p>
          <a:p>
            <a:pPr marL="0" indent="0">
              <a:buNone/>
            </a:pPr>
            <a:r>
              <a:rPr lang="en-US" b="1" dirty="0"/>
              <a:t>Activities &amp; Durations:</a:t>
            </a:r>
          </a:p>
          <a:p>
            <a:pPr marL="0" indent="0">
              <a:buNone/>
            </a:pPr>
            <a:r>
              <a:rPr lang="en-US" b="1" dirty="0"/>
              <a:t>A</a:t>
            </a:r>
            <a:r>
              <a:rPr lang="en-US" dirty="0"/>
              <a:t>: Site Preparation (2 weeks)</a:t>
            </a:r>
          </a:p>
          <a:p>
            <a:pPr marL="0" indent="0">
              <a:buNone/>
            </a:pPr>
            <a:r>
              <a:rPr lang="en-US" b="1" dirty="0"/>
              <a:t>B</a:t>
            </a:r>
            <a:r>
              <a:rPr lang="en-US" dirty="0"/>
              <a:t>: Design Finalization (3 weeks)</a:t>
            </a:r>
          </a:p>
          <a:p>
            <a:pPr marL="0" indent="0">
              <a:buNone/>
            </a:pPr>
            <a:r>
              <a:rPr lang="en-US" b="1" dirty="0"/>
              <a:t>C</a:t>
            </a:r>
            <a:r>
              <a:rPr lang="en-US" dirty="0"/>
              <a:t>: Structural Approval (2 weeks)</a:t>
            </a:r>
          </a:p>
          <a:p>
            <a:pPr marL="0" indent="0">
              <a:buNone/>
            </a:pPr>
            <a:r>
              <a:rPr lang="en-US" b="1" dirty="0"/>
              <a:t>D</a:t>
            </a:r>
            <a:r>
              <a:rPr lang="en-US" dirty="0"/>
              <a:t>: Foundation Construction (4 weeks)</a:t>
            </a:r>
          </a:p>
          <a:p>
            <a:pPr marL="0" indent="0">
              <a:buNone/>
            </a:pPr>
            <a:r>
              <a:rPr lang="en-US" b="1" dirty="0"/>
              <a:t>E</a:t>
            </a:r>
            <a:r>
              <a:rPr lang="en-US" dirty="0"/>
              <a:t>: Steel Framework (4 weeks)</a:t>
            </a:r>
          </a:p>
          <a:p>
            <a:pPr marL="0" indent="0">
              <a:buNone/>
            </a:pPr>
            <a:r>
              <a:rPr lang="en-US" b="1" dirty="0"/>
              <a:t>F</a:t>
            </a:r>
            <a:r>
              <a:rPr lang="en-US" dirty="0"/>
              <a:t>: Utilities Installation (3 weeks)</a:t>
            </a:r>
          </a:p>
          <a:p>
            <a:pPr marL="0" indent="0">
              <a:buNone/>
            </a:pPr>
            <a:r>
              <a:rPr lang="en-US" b="1" dirty="0"/>
              <a:t>G</a:t>
            </a:r>
            <a:r>
              <a:rPr lang="en-US" dirty="0"/>
              <a:t>: Main Structure Assembly (5 weeks)</a:t>
            </a:r>
          </a:p>
          <a:p>
            <a:pPr marL="0" indent="0">
              <a:buNone/>
            </a:pPr>
            <a:r>
              <a:rPr lang="en-US" b="1" dirty="0"/>
              <a:t>H</a:t>
            </a:r>
            <a:r>
              <a:rPr lang="en-US" dirty="0"/>
              <a:t>: Final Inspection (2 weeks)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747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ED8E-5118-643E-9F4D-25130FCA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168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Dependencies:</a:t>
            </a:r>
          </a:p>
          <a:p>
            <a:r>
              <a:rPr lang="en-IN" dirty="0"/>
              <a:t>Start → A, B</a:t>
            </a:r>
          </a:p>
          <a:p>
            <a:r>
              <a:rPr lang="en-IN" dirty="0"/>
              <a:t>A → D</a:t>
            </a:r>
          </a:p>
          <a:p>
            <a:r>
              <a:rPr lang="en-IN" dirty="0"/>
              <a:t>B → C</a:t>
            </a:r>
          </a:p>
          <a:p>
            <a:r>
              <a:rPr lang="en-IN" dirty="0"/>
              <a:t>C → E</a:t>
            </a:r>
          </a:p>
          <a:p>
            <a:r>
              <a:rPr lang="en-IN" dirty="0"/>
              <a:t>D → F</a:t>
            </a:r>
          </a:p>
          <a:p>
            <a:r>
              <a:rPr lang="en-IN" b="1" dirty="0"/>
              <a:t>E → G</a:t>
            </a:r>
            <a:r>
              <a:rPr lang="en-IN" dirty="0"/>
              <a:t> ✓</a:t>
            </a:r>
          </a:p>
          <a:p>
            <a:r>
              <a:rPr lang="en-IN" b="1" dirty="0"/>
              <a:t>F → G</a:t>
            </a:r>
            <a:r>
              <a:rPr lang="en-IN" dirty="0"/>
              <a:t> ✓</a:t>
            </a:r>
          </a:p>
          <a:p>
            <a:r>
              <a:rPr lang="en-IN" dirty="0"/>
              <a:t>G → H</a:t>
            </a:r>
          </a:p>
          <a:p>
            <a:r>
              <a:rPr lang="en-IN" dirty="0"/>
              <a:t>H → Finish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44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ED7C41-6656-C832-AFF9-C7169894F5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7798" y="929627"/>
            <a:ext cx="79192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79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E2883-E642-587F-534C-A48C495D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Draw the complete network diagram showing all activities, nodes, and dependencies. Label each activity with its duration.</a:t>
            </a:r>
          </a:p>
          <a:p>
            <a:r>
              <a:rPr lang="en-US" b="1" dirty="0"/>
              <a:t>Q2.</a:t>
            </a:r>
            <a:r>
              <a:rPr lang="en-US" dirty="0"/>
              <a:t> Using Forward Pass method, calculate the Early Start (ES) and Early Finish (EF) for each activity. Show your calculations.</a:t>
            </a:r>
            <a:br>
              <a:rPr lang="en-US" b="1" dirty="0"/>
            </a:br>
            <a:endParaRPr lang="en-US" b="1" dirty="0"/>
          </a:p>
          <a:p>
            <a:r>
              <a:rPr lang="en-US" b="1" dirty="0"/>
              <a:t>Q3.</a:t>
            </a:r>
            <a:r>
              <a:rPr lang="en-US" dirty="0"/>
              <a:t> Identify ALL critical path(s) and determine the minimum project completion time.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9565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2409-13D8-BD9F-BA3B-8CE162EE5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2564"/>
            <a:ext cx="10515600" cy="4351338"/>
          </a:xfrm>
        </p:spPr>
        <p:txBody>
          <a:bodyPr/>
          <a:lstStyle/>
          <a:p>
            <a:r>
              <a:rPr lang="en-US" b="1" dirty="0"/>
              <a:t>Slack = LS − ES</a:t>
            </a:r>
            <a:endParaRPr lang="en-US" dirty="0"/>
          </a:p>
          <a:p>
            <a:r>
              <a:rPr lang="en-US" b="1" dirty="0"/>
              <a:t>Slack = LF − EF</a:t>
            </a:r>
            <a:endParaRPr lang="en-US" dirty="0"/>
          </a:p>
          <a:p>
            <a:r>
              <a:rPr lang="en-US" dirty="0"/>
              <a:t>Both give the same result.</a:t>
            </a:r>
          </a:p>
          <a:p>
            <a:r>
              <a:rPr lang="en-US" dirty="0"/>
              <a:t>To compute slack, we must first complete the </a:t>
            </a:r>
            <a:r>
              <a:rPr lang="en-US" b="1" dirty="0"/>
              <a:t>Forward Pass</a:t>
            </a:r>
            <a:r>
              <a:rPr lang="en-US" dirty="0"/>
              <a:t> (to find ES &amp; EF) and </a:t>
            </a:r>
            <a:r>
              <a:rPr lang="en-US" b="1" dirty="0"/>
              <a:t>Backward Pass</a:t>
            </a:r>
            <a:r>
              <a:rPr lang="en-US" dirty="0"/>
              <a:t> (to find LS &amp; LF).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✓ LF of H = 16 (project deadline)</a:t>
            </a:r>
          </a:p>
          <a:p>
            <a:r>
              <a:rPr lang="en-US" dirty="0"/>
              <a:t>✓ LS of H = LF - Duration = 16 - 2 = </a:t>
            </a:r>
            <a:r>
              <a:rPr lang="en-US" b="1" dirty="0"/>
              <a:t>14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638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D3C8-E717-54EC-2D2C-3D501367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837" y="799258"/>
            <a:ext cx="10515600" cy="4351338"/>
          </a:xfrm>
        </p:spPr>
        <p:txBody>
          <a:bodyPr/>
          <a:lstStyle/>
          <a:p>
            <a:r>
              <a:rPr lang="en-US" b="1" dirty="0"/>
              <a:t>Step 1: Forward Pass (ES &amp; EF)</a:t>
            </a:r>
          </a:p>
          <a:p>
            <a:r>
              <a:rPr lang="en-US" dirty="0"/>
              <a:t>Rules:</a:t>
            </a:r>
          </a:p>
          <a:p>
            <a:r>
              <a:rPr lang="en-US" b="1" dirty="0"/>
              <a:t>ES (Earliest Start)</a:t>
            </a:r>
            <a:r>
              <a:rPr lang="en-US" dirty="0"/>
              <a:t> = maximum EF of all predecessor activities</a:t>
            </a:r>
          </a:p>
          <a:p>
            <a:r>
              <a:rPr lang="en-US" b="1" dirty="0"/>
              <a:t>EF (Earliest Finish)</a:t>
            </a:r>
            <a:r>
              <a:rPr lang="en-US" dirty="0"/>
              <a:t> = ES + Duration</a:t>
            </a:r>
            <a:br>
              <a:rPr lang="en-US" dirty="0"/>
            </a:br>
            <a:r>
              <a:rPr lang="en-US" b="1" dirty="0"/>
              <a:t>Forward Pass (ES/EF):</a:t>
            </a:r>
            <a:r>
              <a:rPr lang="en-US" dirty="0"/>
              <a:t> Shows the fastest possible schedule</a:t>
            </a:r>
          </a:p>
          <a:p>
            <a:r>
              <a:rPr lang="en-US" b="1" dirty="0"/>
              <a:t>Backward Pass (LS/LF):</a:t>
            </a:r>
            <a:r>
              <a:rPr lang="en-US" dirty="0"/>
              <a:t> Shows how late activities can run</a:t>
            </a:r>
          </a:p>
          <a:p>
            <a:r>
              <a:rPr lang="en-US" b="1" dirty="0"/>
              <a:t>Slack = LS - ES:</a:t>
            </a:r>
            <a:r>
              <a:rPr lang="en-US" dirty="0"/>
              <a:t> Shows flexibility (zero slack = critical activity!).</a:t>
            </a:r>
            <a:br>
              <a:rPr lang="en-US" dirty="0"/>
            </a:br>
            <a:r>
              <a:rPr lang="en-US" dirty="0"/>
              <a:t>Slack = The amount of time an activity can be DELAYED without delaying the project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553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D747AF-255F-15F0-77CE-3EDA01100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46" b="4883"/>
          <a:stretch>
            <a:fillRect/>
          </a:stretch>
        </p:blipFill>
        <p:spPr>
          <a:xfrm>
            <a:off x="1892946" y="742981"/>
            <a:ext cx="8406108" cy="33344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211B35-AC20-0077-820B-3D1829F47445}"/>
              </a:ext>
            </a:extLst>
          </p:cNvPr>
          <p:cNvSpPr txBox="1"/>
          <p:nvPr/>
        </p:nvSpPr>
        <p:spPr>
          <a:xfrm>
            <a:off x="2425959" y="4637314"/>
            <a:ext cx="367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Project Duration = 16 weeks</a:t>
            </a:r>
          </a:p>
        </p:txBody>
      </p:sp>
    </p:spTree>
    <p:extLst>
      <p:ext uri="{BB962C8B-B14F-4D97-AF65-F5344CB8AC3E}">
        <p14:creationId xmlns:p14="http://schemas.microsoft.com/office/powerpoint/2010/main" val="1043418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B6C4-9B7F-A69E-60B0-FAE7F05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 Pass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9260C0-B5B6-05F9-0DEA-350C2C1AB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034" y="1690688"/>
            <a:ext cx="8221222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46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0EE612-F2AA-40A3-1EB0-65DA73E8E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731" y="1073379"/>
            <a:ext cx="8154538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6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F3806-2460-C012-99FC-71E0B3AEC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441" y="948547"/>
            <a:ext cx="10515600" cy="4351338"/>
          </a:xfrm>
        </p:spPr>
        <p:txBody>
          <a:bodyPr/>
          <a:lstStyle/>
          <a:p>
            <a:r>
              <a:rPr lang="en-US" dirty="0"/>
              <a:t>Slack = LS - ES  (or LF - EF)</a:t>
            </a:r>
          </a:p>
          <a:p>
            <a:endParaRPr lang="en-US" dirty="0"/>
          </a:p>
          <a:p>
            <a:r>
              <a:rPr lang="en-US" dirty="0"/>
              <a:t>If Slack = 0  → CRITICAL activity ⚠️</a:t>
            </a:r>
          </a:p>
          <a:p>
            <a:r>
              <a:rPr lang="en-US" dirty="0"/>
              <a:t>If Slack &gt; 0  → NON-CRITICAL activity ✓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5822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53423-0D21-A37C-CBB4-BAE0FC9F4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89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Suppose we are </a:t>
            </a:r>
            <a:r>
              <a:rPr lang="en-IN" dirty="0" err="1"/>
              <a:t>analyzing</a:t>
            </a:r>
            <a:r>
              <a:rPr lang="en-IN" dirty="0"/>
              <a:t> a </a:t>
            </a:r>
            <a:r>
              <a:rPr lang="en-IN" b="1" dirty="0"/>
              <a:t>Library Management System</a:t>
            </a:r>
            <a:r>
              <a:rPr lang="en-IN" dirty="0"/>
              <a:t>.</a:t>
            </a:r>
          </a:p>
          <a:p>
            <a:r>
              <a:rPr lang="en-IN" b="1" dirty="0"/>
              <a:t>Functional Components:</a:t>
            </a:r>
          </a:p>
          <a:p>
            <a:r>
              <a:rPr lang="en-IN" b="1" dirty="0"/>
              <a:t>External Inputs (EI):</a:t>
            </a:r>
            <a:r>
              <a:rPr lang="en-IN" dirty="0"/>
              <a:t> 10 (e.g., book entry, student registration, borrow/return transaction) → weight = 4</a:t>
            </a:r>
          </a:p>
          <a:p>
            <a:r>
              <a:rPr lang="en-IN" b="1" dirty="0"/>
              <a:t>External Outputs (EO):</a:t>
            </a:r>
            <a:r>
              <a:rPr lang="en-IN" dirty="0"/>
              <a:t> 5 (e.g., overdue report, fine summary) → weight = 5</a:t>
            </a:r>
          </a:p>
          <a:p>
            <a:r>
              <a:rPr lang="en-IN" b="1" dirty="0"/>
              <a:t>External Inquiries (EQ):</a:t>
            </a:r>
            <a:r>
              <a:rPr lang="en-IN" dirty="0"/>
              <a:t> 8 (e.g., search book, check borrower details) → weight = 4</a:t>
            </a:r>
          </a:p>
          <a:p>
            <a:r>
              <a:rPr lang="en-IN" b="1" dirty="0"/>
              <a:t>Internal Logical Files (ILF):</a:t>
            </a:r>
            <a:r>
              <a:rPr lang="en-IN" dirty="0"/>
              <a:t> 7 (e.g., Books file, Students file) → weight = 10</a:t>
            </a:r>
          </a:p>
          <a:p>
            <a:r>
              <a:rPr lang="en-IN" b="1" dirty="0"/>
              <a:t>External Interface Files (EIF):</a:t>
            </a:r>
            <a:r>
              <a:rPr lang="en-IN" dirty="0"/>
              <a:t> 2 (e.g., integration with external </a:t>
            </a:r>
            <a:r>
              <a:rPr lang="en-IN" dirty="0" err="1"/>
              <a:t>catalog</a:t>
            </a:r>
            <a:r>
              <a:rPr lang="en-IN" dirty="0"/>
              <a:t> API) → weight = 7</a:t>
            </a:r>
          </a:p>
          <a:p>
            <a:r>
              <a:rPr lang="en-IN" dirty="0"/>
              <a:t>(Weights used: </a:t>
            </a:r>
            <a:r>
              <a:rPr lang="en-IN" b="1" dirty="0"/>
              <a:t>average complexity</a:t>
            </a:r>
            <a:r>
              <a:rPr lang="en-IN" dirty="0"/>
              <a:t> values from standard FPA tables).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38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5950A5-2CEA-5E66-14AA-924178654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057986"/>
              </p:ext>
            </p:extLst>
          </p:nvPr>
        </p:nvGraphicFramePr>
        <p:xfrm>
          <a:off x="1925968" y="1483567"/>
          <a:ext cx="8340064" cy="4693394"/>
        </p:xfrm>
        <a:graphic>
          <a:graphicData uri="http://schemas.openxmlformats.org/drawingml/2006/table">
            <a:tbl>
              <a:tblPr/>
              <a:tblGrid>
                <a:gridCol w="4170032">
                  <a:extLst>
                    <a:ext uri="{9D8B030D-6E8A-4147-A177-3AD203B41FA5}">
                      <a16:colId xmlns:a16="http://schemas.microsoft.com/office/drawing/2014/main" val="1942505900"/>
                    </a:ext>
                  </a:extLst>
                </a:gridCol>
                <a:gridCol w="4170032">
                  <a:extLst>
                    <a:ext uri="{9D8B030D-6E8A-4147-A177-3AD203B41FA5}">
                      <a16:colId xmlns:a16="http://schemas.microsoft.com/office/drawing/2014/main" val="1401532715"/>
                    </a:ext>
                  </a:extLst>
                </a:gridCol>
              </a:tblGrid>
              <a:tr h="632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Characteristic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Rating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53101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Data communications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6946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Distributed data processing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6463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Performance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49772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Heavily used configuration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357955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Transaction rate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858123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Online data entry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9581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End-user efficiency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30505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Online update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11424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Complex processing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06703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Reusability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8509477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Installation ease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9268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Operational ease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292521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Multiple sites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47108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Facilitate change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4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705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920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8F4B8-A2C1-F623-726A-0B89A9E28C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037" y="827250"/>
                <a:ext cx="10515600" cy="4351338"/>
              </a:xfrm>
            </p:spPr>
            <p:txBody>
              <a:bodyPr/>
              <a:lstStyle/>
              <a:p>
                <a:r>
                  <a:rPr lang="en-IN" dirty="0"/>
                  <a:t>TCF=0.65+(0.01×40)=0.65+0.40=1.05</a:t>
                </a:r>
              </a:p>
              <a:p>
                <a:endParaRPr lang="en-IN" dirty="0"/>
              </a:p>
              <a:p>
                <a:r>
                  <a:rPr lang="en-IN" b="1" dirty="0"/>
                  <a:t>Adjusted Function Points (AFP)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𝐴𝐹𝑃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𝑈𝐹𝑃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𝑇𝐶𝐹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=181×1.05=190.05≈190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08F4B8-A2C1-F623-726A-0B89A9E28C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037" y="827250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786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588</Words>
  <Application>Microsoft Office PowerPoint</Application>
  <PresentationFormat>Widescreen</PresentationFormat>
  <Paragraphs>87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Practice Questions CPM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Backward Pass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Kumari</dc:creator>
  <cp:lastModifiedBy>Neha Kumari</cp:lastModifiedBy>
  <cp:revision>2</cp:revision>
  <dcterms:created xsi:type="dcterms:W3CDTF">2025-10-01T08:04:36Z</dcterms:created>
  <dcterms:modified xsi:type="dcterms:W3CDTF">2025-10-02T11:11:38Z</dcterms:modified>
</cp:coreProperties>
</file>