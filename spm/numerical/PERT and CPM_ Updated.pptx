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90" r:id="rId18"/>
    <p:sldId id="274" r:id="rId19"/>
    <p:sldId id="276" r:id="rId20"/>
    <p:sldId id="277" r:id="rId21"/>
    <p:sldId id="275" r:id="rId22"/>
    <p:sldId id="278" r:id="rId23"/>
    <p:sldId id="280" r:id="rId24"/>
    <p:sldId id="281" r:id="rId25"/>
    <p:sldId id="282" r:id="rId26"/>
    <p:sldId id="272" r:id="rId27"/>
    <p:sldId id="273" r:id="rId28"/>
    <p:sldId id="283" r:id="rId29"/>
    <p:sldId id="284" r:id="rId30"/>
    <p:sldId id="285" r:id="rId31"/>
    <p:sldId id="288" r:id="rId32"/>
    <p:sldId id="289" r:id="rId33"/>
    <p:sldId id="287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 autoAdjust="0"/>
  </p:normalViewPr>
  <p:slideViewPr>
    <p:cSldViewPr>
      <p:cViewPr varScale="1">
        <p:scale>
          <a:sx n="55" d="100"/>
          <a:sy n="55" d="100"/>
        </p:scale>
        <p:origin x="162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7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D5D5E-9A34-432D-914E-91114CBB8066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0AA94-667F-4FCD-A5FC-A20F3655B2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6867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8915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3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3011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6323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" name="Header Placeholder 3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6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3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1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9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2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1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6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2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2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4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135969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35760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1B1D3E1-F136-4097-A458-05D4BE177A8E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526B664-F8A4-439D-AC39-B15865BF0D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510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 AND EVALUATION OF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Management of any project involves planning, coordination and control of a number of interrelated activities with limited resources.</a:t>
            </a:r>
          </a:p>
          <a:p>
            <a:pPr algn="just"/>
            <a:r>
              <a:rPr lang="en-US" dirty="0"/>
              <a:t>Furthermore, it becomes necessary to incorporate any change from the initial plan as they occur, and immediately know the effects of the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Network analysis is a common name for a number of associated projects which need planning and control procedures which based on the concept of network.</a:t>
            </a:r>
          </a:p>
          <a:p>
            <a:r>
              <a:rPr lang="en-US" dirty="0"/>
              <a:t>It provides a framework which :</a:t>
            </a:r>
          </a:p>
          <a:p>
            <a:pPr lvl="1"/>
            <a:r>
              <a:rPr lang="en-US" dirty="0"/>
              <a:t>defines the job to be done,</a:t>
            </a:r>
          </a:p>
          <a:p>
            <a:pPr lvl="1"/>
            <a:r>
              <a:rPr lang="en-US" dirty="0"/>
              <a:t>integrates them in a logical time sequence and finally,</a:t>
            </a:r>
          </a:p>
          <a:p>
            <a:pPr lvl="1"/>
            <a:r>
              <a:rPr lang="en-US" dirty="0"/>
              <a:t>affords a system of dynamic control over the progress of the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   Network analysis helps in all the phases of project management. There phases are mainly</a:t>
            </a:r>
          </a:p>
          <a:p>
            <a:r>
              <a:rPr lang="en-US" dirty="0"/>
              <a:t>Planning</a:t>
            </a:r>
          </a:p>
          <a:p>
            <a:r>
              <a:rPr lang="en-US" dirty="0"/>
              <a:t>Scheduling</a:t>
            </a:r>
          </a:p>
          <a:p>
            <a:r>
              <a:rPr lang="en-US" dirty="0" err="1"/>
              <a:t>Controling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91600" cy="4525963"/>
          </a:xfrm>
        </p:spPr>
        <p:txBody>
          <a:bodyPr>
            <a:normAutofit/>
          </a:bodyPr>
          <a:lstStyle/>
          <a:p>
            <a:r>
              <a:rPr lang="en-US" dirty="0"/>
              <a:t>Identify the distinct activities,</a:t>
            </a:r>
          </a:p>
          <a:p>
            <a:r>
              <a:rPr lang="en-US" dirty="0"/>
              <a:t> Determine their durations and inter dependencies</a:t>
            </a:r>
          </a:p>
          <a:p>
            <a:r>
              <a:rPr lang="en-US" dirty="0"/>
              <a:t> Construct a network diagram,</a:t>
            </a:r>
          </a:p>
          <a:p>
            <a:r>
              <a:rPr lang="en-US" dirty="0"/>
              <a:t>Determine minimum overall project duration (using the network diagram),</a:t>
            </a:r>
          </a:p>
          <a:p>
            <a:r>
              <a:rPr lang="en-US" dirty="0"/>
              <a:t>Identify the tasks critical (</a:t>
            </a:r>
            <a:r>
              <a:rPr lang="en-US" dirty="0" err="1"/>
              <a:t>i.E.</a:t>
            </a:r>
            <a:r>
              <a:rPr lang="en-US" dirty="0"/>
              <a:t> Essential) to this minimum duration.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schedule (‘time chart’),</a:t>
            </a:r>
          </a:p>
          <a:p>
            <a:r>
              <a:rPr lang="en-US" dirty="0"/>
              <a:t>Schedule contains start and finish times for each activity, and</a:t>
            </a:r>
          </a:p>
          <a:p>
            <a:r>
              <a:rPr lang="en-US" dirty="0"/>
              <a:t>Evaluate cost-time trade-offs (evaluate effects of putting extra money, people or machines in a particular task in order to shorten project duration).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Monitor/control project by use of network diagram,</a:t>
            </a:r>
          </a:p>
          <a:p>
            <a:pPr algn="just"/>
            <a:r>
              <a:rPr lang="en-US" dirty="0"/>
              <a:t>Follow progress of the various activities </a:t>
            </a:r>
          </a:p>
          <a:p>
            <a:pPr algn="just"/>
            <a:r>
              <a:rPr lang="en-US" dirty="0"/>
              <a:t>Make adjustment where appropriate (as network analysis make the planning susceptible to change in original plan)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There are mainly two types of networking techniques which are used in project evaluation</a:t>
            </a:r>
          </a:p>
          <a:p>
            <a:pPr algn="just"/>
            <a:r>
              <a:rPr lang="en-US" dirty="0"/>
              <a:t>CPM – Critical Path Method</a:t>
            </a:r>
          </a:p>
          <a:p>
            <a:pPr algn="just"/>
            <a:r>
              <a:rPr lang="en-US" dirty="0"/>
              <a:t>PERT – Project Evaluation and Review Technique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CPM is akin to PERT as both techniques use similar network models and methods are have the same general purpose.</a:t>
            </a:r>
          </a:p>
          <a:p>
            <a:pPr algn="just"/>
            <a:r>
              <a:rPr lang="en-US" dirty="0"/>
              <a:t>But CPM is primarily concerned with the trade-off between cost and time. </a:t>
            </a:r>
          </a:p>
          <a:p>
            <a:pPr algn="just"/>
            <a:r>
              <a:rPr lang="en-US" dirty="0"/>
              <a:t>It has been applied mostly to projects that employ fairly stable technology and are relatively risk free. </a:t>
            </a:r>
          </a:p>
          <a:p>
            <a:pPr algn="just"/>
            <a:r>
              <a:rPr lang="en-US" dirty="0"/>
              <a:t>Hence its orientation is ‘deterministic’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PERT is eminently suitable for</a:t>
            </a:r>
          </a:p>
          <a:p>
            <a:pPr lvl="1"/>
            <a:r>
              <a:rPr lang="en-US" dirty="0"/>
              <a:t>research and development and </a:t>
            </a:r>
            <a:r>
              <a:rPr lang="en-US" dirty="0" err="1"/>
              <a:t>programmes</a:t>
            </a:r>
            <a:r>
              <a:rPr lang="en-US" dirty="0"/>
              <a:t>, aerospace projects, </a:t>
            </a:r>
          </a:p>
          <a:p>
            <a:pPr lvl="1"/>
            <a:r>
              <a:rPr lang="en-US" dirty="0"/>
              <a:t> other projects involving new technology.</a:t>
            </a:r>
          </a:p>
          <a:p>
            <a:r>
              <a:rPr lang="en-US" dirty="0"/>
              <a:t>In such projects the time required for completing various jobs or activities can be highly variable.</a:t>
            </a:r>
          </a:p>
          <a:p>
            <a:r>
              <a:rPr lang="en-US" dirty="0"/>
              <a:t>Hence the orientation of PERT is probabilistic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PERT/CPM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The PERT/CPM is capable of giving answers to the following questions to the project manager :</a:t>
            </a:r>
          </a:p>
          <a:p>
            <a:pPr algn="just"/>
            <a:r>
              <a:rPr lang="en-US" dirty="0"/>
              <a:t>When will the project be finished ?</a:t>
            </a:r>
          </a:p>
          <a:p>
            <a:pPr algn="just"/>
            <a:r>
              <a:rPr lang="en-US" dirty="0"/>
              <a:t>When is each individual part of the scheduled to start and finish ?</a:t>
            </a:r>
          </a:p>
          <a:p>
            <a:pPr algn="just"/>
            <a:r>
              <a:rPr lang="en-US" dirty="0"/>
              <a:t>Of the numerous jobs in the project, which one must be timed to avoid being late ?</a:t>
            </a:r>
          </a:p>
          <a:p>
            <a:pPr algn="just"/>
            <a:r>
              <a:rPr lang="en-US" dirty="0"/>
              <a:t>Is it possible to shift resources to critical jobs of the project from other non-critical jobs of the project without affecting the overall completion time of the project ?</a:t>
            </a:r>
          </a:p>
          <a:p>
            <a:pPr algn="just"/>
            <a:r>
              <a:rPr lang="en-US" dirty="0"/>
              <a:t>Among all the jobs in the project, where should management concentrate its efforts at one time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network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7768963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Elements of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order to represent a project network, two basic elements are used which are node and activity.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A circle called “node”, represents an event. </a:t>
            </a:r>
          </a:p>
          <a:p>
            <a:pPr algn="just"/>
            <a:r>
              <a:rPr lang="en-US" dirty="0"/>
              <a:t>An event describes a checkpoint. </a:t>
            </a:r>
          </a:p>
          <a:p>
            <a:pPr algn="just"/>
            <a:r>
              <a:rPr lang="en-US" dirty="0"/>
              <a:t>It does not symbolize the performance of work, bit it represents the point in time in which the event is accomplished.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590800"/>
            <a:ext cx="876300" cy="896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endParaRPr lang="en-US" dirty="0"/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An arrow, called “arc”, represents an activity-a recognizable part of the project.</a:t>
            </a:r>
          </a:p>
          <a:p>
            <a:pPr algn="just"/>
            <a:r>
              <a:rPr lang="en-US" dirty="0"/>
              <a:t>It involve mental or physical work and require time and resources for its completion.</a:t>
            </a:r>
          </a:p>
          <a:p>
            <a:pPr algn="just"/>
            <a:r>
              <a:rPr lang="en-US" dirty="0"/>
              <a:t>The network will try to reflect all the relationships between the activities.</a:t>
            </a: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3200" dirty="0"/>
              <a:t>Arrow direction indicates general progression in time – tail events represent start while head events represent end of activities</a:t>
            </a:r>
          </a:p>
          <a:p>
            <a:pPr algn="just"/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828800"/>
            <a:ext cx="310763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346664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sz="3100" b="1" dirty="0"/>
              <a:t>Rules for constructing a project network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The simple rules govern the construction of a project network :</a:t>
            </a:r>
          </a:p>
          <a:p>
            <a:r>
              <a:rPr lang="en-US" sz="2400" dirty="0"/>
              <a:t>Each activity must be represented by only one directed arc or arrow.</a:t>
            </a:r>
          </a:p>
          <a:p>
            <a:r>
              <a:rPr lang="en-US" sz="2400" dirty="0"/>
              <a:t>No two activities can begin and end on the same two nodes circle</a:t>
            </a:r>
          </a:p>
          <a:p>
            <a:endParaRPr lang="en-US" sz="2400" dirty="0"/>
          </a:p>
          <a:p>
            <a:r>
              <a:rPr lang="en-US" sz="2400" dirty="0"/>
              <a:t>There should be no loops in the network. </a:t>
            </a:r>
          </a:p>
          <a:p>
            <a:endParaRPr lang="en-US" dirty="0"/>
          </a:p>
          <a:p>
            <a:endParaRPr lang="en-US" dirty="0"/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Events are identified by numbers while activities are represented by their starting and ending events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3276600"/>
            <a:ext cx="3627582" cy="716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09850" y="4267200"/>
            <a:ext cx="3028950" cy="1323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Dummy activities are Tasks that must be completed in sequence but that don’t require resources or completion time are considered to have event dependency. </a:t>
            </a:r>
          </a:p>
          <a:p>
            <a:r>
              <a:rPr lang="en-US" dirty="0"/>
              <a:t>These are represented by dotted lines with arrows and are called dummy activities.</a:t>
            </a:r>
          </a:p>
          <a:p>
            <a:r>
              <a:rPr lang="en-US" dirty="0"/>
              <a:t>To explain it, we will consider the following</a:t>
            </a:r>
          </a:p>
          <a:p>
            <a:pPr>
              <a:buNone/>
            </a:pPr>
            <a:r>
              <a:rPr lang="en-US" dirty="0"/>
              <a:t>     ACTIVITY                                       IMMEDIATE PREDECESSOR</a:t>
            </a:r>
          </a:p>
          <a:p>
            <a:pPr>
              <a:buNone/>
            </a:pPr>
            <a:r>
              <a:rPr lang="en-US" dirty="0"/>
              <a:t>          A                                                  	.........................</a:t>
            </a:r>
          </a:p>
          <a:p>
            <a:pPr>
              <a:buNone/>
            </a:pPr>
            <a:r>
              <a:rPr lang="en-US" dirty="0"/>
              <a:t>          B					.........................</a:t>
            </a:r>
          </a:p>
          <a:p>
            <a:pPr>
              <a:buNone/>
            </a:pPr>
            <a:r>
              <a:rPr lang="en-US" dirty="0"/>
              <a:t>          C 					A, B</a:t>
            </a:r>
          </a:p>
          <a:p>
            <a:pPr>
              <a:buNone/>
            </a:pPr>
            <a:r>
              <a:rPr lang="en-US" dirty="0"/>
              <a:t>          D 					B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562600"/>
            <a:ext cx="492684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5486400"/>
            <a:ext cx="29718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E112-10D7-EED6-31D9-EB5FE8F2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3E62C6-5B79-0442-1281-E03DCFC28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311275"/>
            <a:ext cx="8534400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5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95400" y="457200"/>
          <a:ext cx="6583680" cy="26136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Activity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Imm. Pred.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Activity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000" u="none" strike="noStrike" kern="1200" cap="none" normalizeH="0" baseline="0" dirty="0">
                          <a:ln>
                            <a:noFill/>
                          </a:ln>
                          <a:effectLst/>
                        </a:rPr>
                        <a:t>Imm. Pred.</a:t>
                      </a:r>
                      <a:endParaRPr kumimoji="0" 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C, F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E, 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A, 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E, 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C, D, F, J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Oval 4"/>
          <p:cNvSpPr>
            <a:spLocks noChangeArrowheads="1"/>
          </p:cNvSpPr>
          <p:nvPr/>
        </p:nvSpPr>
        <p:spPr bwMode="auto">
          <a:xfrm>
            <a:off x="609600" y="50863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2" name="Line 5"/>
          <p:cNvSpPr>
            <a:spLocks noChangeShapeType="1"/>
          </p:cNvSpPr>
          <p:nvPr/>
        </p:nvSpPr>
        <p:spPr bwMode="auto">
          <a:xfrm>
            <a:off x="1016000" y="5200650"/>
            <a:ext cx="203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6"/>
          <p:cNvSpPr>
            <a:spLocks noChangeArrowheads="1"/>
          </p:cNvSpPr>
          <p:nvPr/>
        </p:nvSpPr>
        <p:spPr bwMode="auto">
          <a:xfrm>
            <a:off x="3048000" y="50863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4" name="Oval 7"/>
          <p:cNvSpPr>
            <a:spLocks noChangeArrowheads="1"/>
          </p:cNvSpPr>
          <p:nvPr/>
        </p:nvSpPr>
        <p:spPr bwMode="auto">
          <a:xfrm>
            <a:off x="1727200" y="434340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5" name="Oval 8"/>
          <p:cNvSpPr>
            <a:spLocks noChangeArrowheads="1"/>
          </p:cNvSpPr>
          <p:nvPr/>
        </p:nvSpPr>
        <p:spPr bwMode="auto">
          <a:xfrm>
            <a:off x="2133600" y="60007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6" name="Oval 9"/>
          <p:cNvSpPr>
            <a:spLocks noChangeArrowheads="1"/>
          </p:cNvSpPr>
          <p:nvPr/>
        </p:nvSpPr>
        <p:spPr bwMode="auto">
          <a:xfrm>
            <a:off x="5689600" y="60007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7" name="Oval 10"/>
          <p:cNvSpPr>
            <a:spLocks noChangeArrowheads="1"/>
          </p:cNvSpPr>
          <p:nvPr/>
        </p:nvSpPr>
        <p:spPr bwMode="auto">
          <a:xfrm>
            <a:off x="7721600" y="594360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8" name="Oval 11"/>
          <p:cNvSpPr>
            <a:spLocks noChangeArrowheads="1"/>
          </p:cNvSpPr>
          <p:nvPr/>
        </p:nvSpPr>
        <p:spPr bwMode="auto">
          <a:xfrm>
            <a:off x="8331200" y="50863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59" name="Oval 12"/>
          <p:cNvSpPr>
            <a:spLocks noChangeArrowheads="1"/>
          </p:cNvSpPr>
          <p:nvPr/>
        </p:nvSpPr>
        <p:spPr bwMode="auto">
          <a:xfrm>
            <a:off x="3352800" y="37147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60" name="Oval 13"/>
          <p:cNvSpPr>
            <a:spLocks noChangeArrowheads="1"/>
          </p:cNvSpPr>
          <p:nvPr/>
        </p:nvSpPr>
        <p:spPr bwMode="auto">
          <a:xfrm>
            <a:off x="5080000" y="4286250"/>
            <a:ext cx="406400" cy="228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flipV="1">
            <a:off x="914400" y="4572000"/>
            <a:ext cx="914400" cy="5715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2" name="Line 16"/>
          <p:cNvSpPr>
            <a:spLocks noChangeShapeType="1"/>
          </p:cNvSpPr>
          <p:nvPr/>
        </p:nvSpPr>
        <p:spPr bwMode="auto">
          <a:xfrm flipV="1">
            <a:off x="2133600" y="3886200"/>
            <a:ext cx="1219200" cy="5143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" name="Line 17"/>
          <p:cNvSpPr>
            <a:spLocks noChangeShapeType="1"/>
          </p:cNvSpPr>
          <p:nvPr/>
        </p:nvSpPr>
        <p:spPr bwMode="auto">
          <a:xfrm>
            <a:off x="3454400" y="5200650"/>
            <a:ext cx="48768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4" name="Line 18"/>
          <p:cNvSpPr>
            <a:spLocks noChangeShapeType="1"/>
          </p:cNvSpPr>
          <p:nvPr/>
        </p:nvSpPr>
        <p:spPr bwMode="auto">
          <a:xfrm>
            <a:off x="812800" y="5314950"/>
            <a:ext cx="1320800" cy="7429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" name="Line 23"/>
          <p:cNvSpPr>
            <a:spLocks noChangeShapeType="1"/>
          </p:cNvSpPr>
          <p:nvPr/>
        </p:nvSpPr>
        <p:spPr bwMode="auto">
          <a:xfrm>
            <a:off x="1930400" y="4572000"/>
            <a:ext cx="406400" cy="14287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Line 24"/>
          <p:cNvSpPr>
            <a:spLocks noChangeShapeType="1"/>
          </p:cNvSpPr>
          <p:nvPr/>
        </p:nvSpPr>
        <p:spPr bwMode="auto">
          <a:xfrm>
            <a:off x="2133600" y="4457700"/>
            <a:ext cx="2946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" name="Line 25"/>
          <p:cNvSpPr>
            <a:spLocks noChangeShapeType="1"/>
          </p:cNvSpPr>
          <p:nvPr/>
        </p:nvSpPr>
        <p:spPr bwMode="auto">
          <a:xfrm>
            <a:off x="3759200" y="3829050"/>
            <a:ext cx="1422400" cy="4572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" name="Line 26"/>
          <p:cNvSpPr>
            <a:spLocks noChangeShapeType="1"/>
          </p:cNvSpPr>
          <p:nvPr/>
        </p:nvSpPr>
        <p:spPr bwMode="auto">
          <a:xfrm>
            <a:off x="2540000" y="6115050"/>
            <a:ext cx="3149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9" name="Line 27"/>
          <p:cNvSpPr>
            <a:spLocks noChangeShapeType="1"/>
          </p:cNvSpPr>
          <p:nvPr/>
        </p:nvSpPr>
        <p:spPr bwMode="auto">
          <a:xfrm>
            <a:off x="6096000" y="6115050"/>
            <a:ext cx="1625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0" name="Line 28"/>
          <p:cNvSpPr>
            <a:spLocks noChangeShapeType="1"/>
          </p:cNvSpPr>
          <p:nvPr/>
        </p:nvSpPr>
        <p:spPr bwMode="auto">
          <a:xfrm flipV="1">
            <a:off x="8026400" y="5314950"/>
            <a:ext cx="406400" cy="6286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" name="Line 29"/>
          <p:cNvSpPr>
            <a:spLocks noChangeShapeType="1"/>
          </p:cNvSpPr>
          <p:nvPr/>
        </p:nvSpPr>
        <p:spPr bwMode="auto">
          <a:xfrm>
            <a:off x="5486400" y="4457700"/>
            <a:ext cx="2844800" cy="685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2" name="Line 30"/>
          <p:cNvSpPr>
            <a:spLocks noChangeShapeType="1"/>
          </p:cNvSpPr>
          <p:nvPr/>
        </p:nvSpPr>
        <p:spPr bwMode="auto">
          <a:xfrm>
            <a:off x="2032000" y="4514850"/>
            <a:ext cx="1117600" cy="6286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3" name="Line 31"/>
          <p:cNvSpPr>
            <a:spLocks noChangeShapeType="1"/>
          </p:cNvSpPr>
          <p:nvPr/>
        </p:nvSpPr>
        <p:spPr bwMode="auto">
          <a:xfrm>
            <a:off x="5384800" y="4514850"/>
            <a:ext cx="508000" cy="148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32"/>
          <p:cNvSpPr>
            <a:spLocks noChangeShapeType="1"/>
          </p:cNvSpPr>
          <p:nvPr/>
        </p:nvSpPr>
        <p:spPr bwMode="auto">
          <a:xfrm>
            <a:off x="3454400" y="5200650"/>
            <a:ext cx="2336800" cy="85725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Box 33"/>
          <p:cNvSpPr txBox="1">
            <a:spLocks noChangeArrowheads="1"/>
          </p:cNvSpPr>
          <p:nvPr/>
        </p:nvSpPr>
        <p:spPr bwMode="auto">
          <a:xfrm>
            <a:off x="1422400" y="5429250"/>
            <a:ext cx="50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6" name="Text Box 34"/>
          <p:cNvSpPr txBox="1">
            <a:spLocks noChangeArrowheads="1"/>
          </p:cNvSpPr>
          <p:nvPr/>
        </p:nvSpPr>
        <p:spPr bwMode="auto">
          <a:xfrm>
            <a:off x="1524000" y="4965700"/>
            <a:ext cx="50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7" name="Text Box 35"/>
          <p:cNvSpPr txBox="1">
            <a:spLocks noChangeArrowheads="1"/>
          </p:cNvSpPr>
          <p:nvPr/>
        </p:nvSpPr>
        <p:spPr bwMode="auto">
          <a:xfrm>
            <a:off x="1016000" y="4629150"/>
            <a:ext cx="50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78" name="Text Box 36"/>
          <p:cNvSpPr txBox="1">
            <a:spLocks noChangeArrowheads="1"/>
          </p:cNvSpPr>
          <p:nvPr/>
        </p:nvSpPr>
        <p:spPr bwMode="auto">
          <a:xfrm>
            <a:off x="2133600" y="4000500"/>
            <a:ext cx="50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79" name="Text Box 37"/>
          <p:cNvSpPr txBox="1">
            <a:spLocks noChangeArrowheads="1"/>
          </p:cNvSpPr>
          <p:nvPr/>
        </p:nvSpPr>
        <p:spPr bwMode="auto">
          <a:xfrm>
            <a:off x="2946400" y="4229100"/>
            <a:ext cx="60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0" name="Text Box 38"/>
          <p:cNvSpPr txBox="1">
            <a:spLocks noChangeArrowheads="1"/>
          </p:cNvSpPr>
          <p:nvPr/>
        </p:nvSpPr>
        <p:spPr bwMode="auto">
          <a:xfrm>
            <a:off x="2540000" y="4629150"/>
            <a:ext cx="812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1" name="Text Box 39"/>
          <p:cNvSpPr txBox="1">
            <a:spLocks noChangeArrowheads="1"/>
          </p:cNvSpPr>
          <p:nvPr/>
        </p:nvSpPr>
        <p:spPr bwMode="auto">
          <a:xfrm>
            <a:off x="3251200" y="5829300"/>
            <a:ext cx="711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2" name="Text Box 40"/>
          <p:cNvSpPr txBox="1">
            <a:spLocks noChangeArrowheads="1"/>
          </p:cNvSpPr>
          <p:nvPr/>
        </p:nvSpPr>
        <p:spPr bwMode="auto">
          <a:xfrm>
            <a:off x="3860800" y="4914900"/>
            <a:ext cx="60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83" name="Text Box 41"/>
          <p:cNvSpPr txBox="1">
            <a:spLocks noChangeArrowheads="1"/>
          </p:cNvSpPr>
          <p:nvPr/>
        </p:nvSpPr>
        <p:spPr bwMode="auto">
          <a:xfrm>
            <a:off x="6604000" y="4457700"/>
            <a:ext cx="711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84" name="Text Box 42"/>
          <p:cNvSpPr txBox="1">
            <a:spLocks noChangeArrowheads="1"/>
          </p:cNvSpPr>
          <p:nvPr/>
        </p:nvSpPr>
        <p:spPr bwMode="auto">
          <a:xfrm>
            <a:off x="5588000" y="4857750"/>
            <a:ext cx="406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85" name="Text Box 43"/>
          <p:cNvSpPr txBox="1">
            <a:spLocks noChangeArrowheads="1"/>
          </p:cNvSpPr>
          <p:nvPr/>
        </p:nvSpPr>
        <p:spPr bwMode="auto">
          <a:xfrm>
            <a:off x="6502400" y="5829300"/>
            <a:ext cx="812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86" name="Text Box 44"/>
          <p:cNvSpPr txBox="1">
            <a:spLocks noChangeArrowheads="1"/>
          </p:cNvSpPr>
          <p:nvPr/>
        </p:nvSpPr>
        <p:spPr bwMode="auto">
          <a:xfrm>
            <a:off x="7823200" y="5429250"/>
            <a:ext cx="508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87" name="Text Box 45"/>
          <p:cNvSpPr txBox="1">
            <a:spLocks noChangeArrowheads="1"/>
          </p:cNvSpPr>
          <p:nvPr/>
        </p:nvSpPr>
        <p:spPr bwMode="auto">
          <a:xfrm>
            <a:off x="609600" y="5080000"/>
            <a:ext cx="2746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8" name="Text Box 46"/>
          <p:cNvSpPr txBox="1">
            <a:spLocks noChangeArrowheads="1"/>
          </p:cNvSpPr>
          <p:nvPr/>
        </p:nvSpPr>
        <p:spPr bwMode="auto">
          <a:xfrm>
            <a:off x="1727200" y="434340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9" name="Text Box 47"/>
          <p:cNvSpPr txBox="1">
            <a:spLocks noChangeArrowheads="1"/>
          </p:cNvSpPr>
          <p:nvPr/>
        </p:nvSpPr>
        <p:spPr bwMode="auto">
          <a:xfrm>
            <a:off x="2133600" y="60007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0" name="Text Box 48"/>
          <p:cNvSpPr txBox="1">
            <a:spLocks noChangeArrowheads="1"/>
          </p:cNvSpPr>
          <p:nvPr/>
        </p:nvSpPr>
        <p:spPr bwMode="auto">
          <a:xfrm>
            <a:off x="3352800" y="37147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1" name="Text Box 49"/>
          <p:cNvSpPr txBox="1">
            <a:spLocks noChangeArrowheads="1"/>
          </p:cNvSpPr>
          <p:nvPr/>
        </p:nvSpPr>
        <p:spPr bwMode="auto">
          <a:xfrm>
            <a:off x="5080000" y="42862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2" name="Text Box 50"/>
          <p:cNvSpPr txBox="1">
            <a:spLocks noChangeArrowheads="1"/>
          </p:cNvSpPr>
          <p:nvPr/>
        </p:nvSpPr>
        <p:spPr bwMode="auto">
          <a:xfrm>
            <a:off x="3048000" y="5086350"/>
            <a:ext cx="2984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93" name="Text Box 51"/>
          <p:cNvSpPr txBox="1">
            <a:spLocks noChangeArrowheads="1"/>
          </p:cNvSpPr>
          <p:nvPr/>
        </p:nvSpPr>
        <p:spPr bwMode="auto">
          <a:xfrm>
            <a:off x="5588000" y="6000750"/>
            <a:ext cx="6096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1"/>
                </a:solidFill>
              </a:rPr>
              <a:t>  7</a:t>
            </a:r>
          </a:p>
        </p:txBody>
      </p:sp>
      <p:sp>
        <p:nvSpPr>
          <p:cNvPr id="94" name="Text Box 52"/>
          <p:cNvSpPr txBox="1">
            <a:spLocks noChangeArrowheads="1"/>
          </p:cNvSpPr>
          <p:nvPr/>
        </p:nvSpPr>
        <p:spPr bwMode="auto">
          <a:xfrm>
            <a:off x="7721600" y="5943600"/>
            <a:ext cx="406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95" name="Text Box 53"/>
          <p:cNvSpPr txBox="1">
            <a:spLocks noChangeArrowheads="1"/>
          </p:cNvSpPr>
          <p:nvPr/>
        </p:nvSpPr>
        <p:spPr bwMode="auto">
          <a:xfrm>
            <a:off x="8331200" y="5086350"/>
            <a:ext cx="406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Critical Path</a:t>
            </a:r>
          </a:p>
        </p:txBody>
      </p:sp>
      <p:sp>
        <p:nvSpPr>
          <p:cNvPr id="14339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219200"/>
            <a:ext cx="8382000" cy="5084763"/>
          </a:xfrm>
        </p:spPr>
        <p:txBody>
          <a:bodyPr>
            <a:normAutofit fontScale="92500"/>
          </a:bodyPr>
          <a:lstStyle/>
          <a:p>
            <a:pPr algn="just" eaLnBrk="1" hangingPunct="1"/>
            <a:r>
              <a:rPr lang="en-US" sz="2800"/>
              <a:t>Critical path refers to the longest path of a given project network</a:t>
            </a:r>
          </a:p>
          <a:p>
            <a:pPr algn="just" eaLnBrk="1" hangingPunct="1"/>
            <a:r>
              <a:rPr lang="en-US" sz="2800"/>
              <a:t>Duration of a project is given by the length of the critical path</a:t>
            </a:r>
          </a:p>
          <a:p>
            <a:pPr algn="just" eaLnBrk="1" hangingPunct="1"/>
            <a:r>
              <a:rPr lang="en-US" sz="2800"/>
              <a:t>Activities on a critical path are called </a:t>
            </a:r>
            <a:r>
              <a:rPr lang="en-US" sz="2800" u="sng"/>
              <a:t>critical activities</a:t>
            </a:r>
            <a:r>
              <a:rPr lang="en-US" sz="2800"/>
              <a:t> while remaining activities are </a:t>
            </a:r>
            <a:r>
              <a:rPr lang="en-US" sz="2800" u="sng"/>
              <a:t>non-critical</a:t>
            </a:r>
            <a:endParaRPr lang="en-US" sz="2800"/>
          </a:p>
          <a:p>
            <a:pPr algn="just" eaLnBrk="1" hangingPunct="1"/>
            <a:r>
              <a:rPr lang="en-US" sz="2800"/>
              <a:t>A project can have more than one critical path as well</a:t>
            </a:r>
          </a:p>
          <a:p>
            <a:pPr algn="just" eaLnBrk="1" hangingPunct="1"/>
            <a:r>
              <a:rPr lang="en-US" sz="2800"/>
              <a:t>Critical activities are so called because their timely completion is critical to the completion of the project in time</a:t>
            </a:r>
          </a:p>
          <a:p>
            <a:pPr algn="just" eaLnBrk="1" hangingPunct="1"/>
            <a:r>
              <a:rPr lang="en-US" sz="2800"/>
              <a:t>Critical activities can not be delayed while non-critical activities have some cushion available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1329595"/>
          </a:xfrm>
        </p:spPr>
        <p:txBody>
          <a:bodyPr>
            <a:normAutofit/>
          </a:bodyPr>
          <a:lstStyle/>
          <a:p>
            <a:pPr>
              <a:defRPr/>
            </a:pPr>
            <a:r>
              <a:t>Critical Path:</a:t>
            </a:r>
            <a:br>
              <a:rPr/>
            </a:br>
            <a:r>
              <a:t>Example: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600200"/>
            <a:ext cx="8382000" cy="5022850"/>
          </a:xfrm>
        </p:spPr>
        <p:txBody>
          <a:bodyPr/>
          <a:lstStyle/>
          <a:p>
            <a:r>
              <a:rPr lang="en-US" dirty="0"/>
              <a:t>Information on the activities required for a project is as follows: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Draw the network and calculate the earliest start(ES), earliest finish(EF), latest start(LS), and latest finish(LF) times of each of the activities.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773680"/>
          <a:ext cx="8534400" cy="1798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Activities</a:t>
                      </a:r>
                      <a:r>
                        <a:rPr lang="en-US" sz="2000" baseline="0" dirty="0"/>
                        <a:t> Node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Duration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path evaluation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46238"/>
          <a:ext cx="5867400" cy="4834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42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5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8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 - j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t 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ES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EF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LS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LF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slack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1-2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1-3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1-4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2-5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3-5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3-6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3-7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4-6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5-7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6-8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7-8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Critical Path </a:t>
            </a:r>
            <a:r>
              <a:rPr i="1">
                <a:solidFill>
                  <a:schemeClr val="accent2"/>
                </a:solidFill>
              </a:rPr>
              <a:t>(…continued)</a:t>
            </a:r>
            <a:endParaRPr/>
          </a:p>
        </p:txBody>
      </p:sp>
      <p:sp>
        <p:nvSpPr>
          <p:cNvPr id="1638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1066800"/>
            <a:ext cx="8382000" cy="1809750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sz="2800" b="1" dirty="0"/>
              <a:t>Critical Path: 1-3-6-8</a:t>
            </a:r>
          </a:p>
          <a:p>
            <a:pPr algn="just" eaLnBrk="1" hangingPunct="1"/>
            <a:r>
              <a:rPr lang="en-US" sz="2800" b="1" dirty="0"/>
              <a:t>Critical Activities: B F J</a:t>
            </a:r>
          </a:p>
          <a:p>
            <a:pPr algn="just" eaLnBrk="1" hangingPunct="1"/>
            <a:r>
              <a:rPr lang="en-US" sz="2800" b="1" dirty="0"/>
              <a:t>Project Duration: 22 days</a:t>
            </a:r>
          </a:p>
          <a:p>
            <a:pPr algn="just" eaLnBrk="1" hangingPunct="1"/>
            <a:r>
              <a:rPr lang="en-US" sz="2800" b="1" dirty="0"/>
              <a:t>Non-critical Activities: A C E G H I K</a:t>
            </a:r>
          </a:p>
        </p:txBody>
      </p:sp>
      <p:sp>
        <p:nvSpPr>
          <p:cNvPr id="16388" name="Oval 47"/>
          <p:cNvSpPr>
            <a:spLocks noChangeArrowheads="1"/>
          </p:cNvSpPr>
          <p:nvPr/>
        </p:nvSpPr>
        <p:spPr bwMode="auto">
          <a:xfrm>
            <a:off x="406400" y="44005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89" name="Oval 48"/>
          <p:cNvSpPr>
            <a:spLocks noChangeArrowheads="1"/>
          </p:cNvSpPr>
          <p:nvPr/>
        </p:nvSpPr>
        <p:spPr bwMode="auto">
          <a:xfrm>
            <a:off x="1727200" y="30289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0" name="Oval 49"/>
          <p:cNvSpPr>
            <a:spLocks noChangeArrowheads="1"/>
          </p:cNvSpPr>
          <p:nvPr/>
        </p:nvSpPr>
        <p:spPr bwMode="auto">
          <a:xfrm>
            <a:off x="1727200" y="605790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1" name="Oval 50"/>
          <p:cNvSpPr>
            <a:spLocks noChangeArrowheads="1"/>
          </p:cNvSpPr>
          <p:nvPr/>
        </p:nvSpPr>
        <p:spPr bwMode="auto">
          <a:xfrm>
            <a:off x="6299200" y="605790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2" name="Oval 51"/>
          <p:cNvSpPr>
            <a:spLocks noChangeArrowheads="1"/>
          </p:cNvSpPr>
          <p:nvPr/>
        </p:nvSpPr>
        <p:spPr bwMode="auto">
          <a:xfrm>
            <a:off x="2946400" y="44005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3" name="Oval 52"/>
          <p:cNvSpPr>
            <a:spLocks noChangeArrowheads="1"/>
          </p:cNvSpPr>
          <p:nvPr/>
        </p:nvSpPr>
        <p:spPr bwMode="auto">
          <a:xfrm>
            <a:off x="6299200" y="44005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4" name="Oval 53"/>
          <p:cNvSpPr>
            <a:spLocks noChangeArrowheads="1"/>
          </p:cNvSpPr>
          <p:nvPr/>
        </p:nvSpPr>
        <p:spPr bwMode="auto">
          <a:xfrm>
            <a:off x="8026400" y="44005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5" name="Oval 54"/>
          <p:cNvSpPr>
            <a:spLocks noChangeArrowheads="1"/>
          </p:cNvSpPr>
          <p:nvPr/>
        </p:nvSpPr>
        <p:spPr bwMode="auto">
          <a:xfrm>
            <a:off x="5080000" y="3028950"/>
            <a:ext cx="609600" cy="3429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6396" name="Line 55"/>
          <p:cNvSpPr>
            <a:spLocks noChangeShapeType="1"/>
          </p:cNvSpPr>
          <p:nvPr/>
        </p:nvSpPr>
        <p:spPr bwMode="auto">
          <a:xfrm>
            <a:off x="1016000" y="4572000"/>
            <a:ext cx="1930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7" name="Line 56"/>
          <p:cNvSpPr>
            <a:spLocks noChangeShapeType="1"/>
          </p:cNvSpPr>
          <p:nvPr/>
        </p:nvSpPr>
        <p:spPr bwMode="auto">
          <a:xfrm>
            <a:off x="711200" y="4743450"/>
            <a:ext cx="1117600" cy="1371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8" name="Line 57"/>
          <p:cNvSpPr>
            <a:spLocks noChangeShapeType="1"/>
          </p:cNvSpPr>
          <p:nvPr/>
        </p:nvSpPr>
        <p:spPr bwMode="auto">
          <a:xfrm>
            <a:off x="3556000" y="4572000"/>
            <a:ext cx="274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9" name="Line 58"/>
          <p:cNvSpPr>
            <a:spLocks noChangeShapeType="1"/>
          </p:cNvSpPr>
          <p:nvPr/>
        </p:nvSpPr>
        <p:spPr bwMode="auto">
          <a:xfrm>
            <a:off x="6908800" y="4572000"/>
            <a:ext cx="1117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0" name="Line 59"/>
          <p:cNvSpPr>
            <a:spLocks noChangeShapeType="1"/>
          </p:cNvSpPr>
          <p:nvPr/>
        </p:nvSpPr>
        <p:spPr bwMode="auto">
          <a:xfrm flipV="1">
            <a:off x="914400" y="3371850"/>
            <a:ext cx="1016000" cy="10858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1" name="Line 60"/>
          <p:cNvSpPr>
            <a:spLocks noChangeShapeType="1"/>
          </p:cNvSpPr>
          <p:nvPr/>
        </p:nvSpPr>
        <p:spPr bwMode="auto">
          <a:xfrm>
            <a:off x="2336800" y="3200400"/>
            <a:ext cx="27432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2" name="Line 61"/>
          <p:cNvSpPr>
            <a:spLocks noChangeShapeType="1"/>
          </p:cNvSpPr>
          <p:nvPr/>
        </p:nvSpPr>
        <p:spPr bwMode="auto">
          <a:xfrm flipV="1">
            <a:off x="3454400" y="3314700"/>
            <a:ext cx="1727200" cy="10858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3" name="Line 62"/>
          <p:cNvSpPr>
            <a:spLocks noChangeShapeType="1"/>
          </p:cNvSpPr>
          <p:nvPr/>
        </p:nvSpPr>
        <p:spPr bwMode="auto">
          <a:xfrm>
            <a:off x="2336800" y="6229350"/>
            <a:ext cx="3962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4" name="Line 63"/>
          <p:cNvSpPr>
            <a:spLocks noChangeShapeType="1"/>
          </p:cNvSpPr>
          <p:nvPr/>
        </p:nvSpPr>
        <p:spPr bwMode="auto">
          <a:xfrm>
            <a:off x="3352800" y="4743450"/>
            <a:ext cx="3048000" cy="1371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5" name="Line 64"/>
          <p:cNvSpPr>
            <a:spLocks noChangeShapeType="1"/>
          </p:cNvSpPr>
          <p:nvPr/>
        </p:nvSpPr>
        <p:spPr bwMode="auto">
          <a:xfrm>
            <a:off x="5588000" y="3314700"/>
            <a:ext cx="914400" cy="10858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6" name="Line 65"/>
          <p:cNvSpPr>
            <a:spLocks noChangeShapeType="1"/>
          </p:cNvSpPr>
          <p:nvPr/>
        </p:nvSpPr>
        <p:spPr bwMode="auto">
          <a:xfrm flipV="1">
            <a:off x="6807200" y="4743450"/>
            <a:ext cx="1422400" cy="1371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Text Box 66"/>
          <p:cNvSpPr txBox="1">
            <a:spLocks noChangeArrowheads="1"/>
          </p:cNvSpPr>
          <p:nvPr/>
        </p:nvSpPr>
        <p:spPr bwMode="auto">
          <a:xfrm rot="21525420" flipV="1">
            <a:off x="508000" y="3636963"/>
            <a:ext cx="8334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10800000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A 2</a:t>
            </a:r>
          </a:p>
        </p:txBody>
      </p:sp>
      <p:sp>
        <p:nvSpPr>
          <p:cNvPr id="16408" name="Text Box 67"/>
          <p:cNvSpPr txBox="1">
            <a:spLocks noChangeArrowheads="1"/>
          </p:cNvSpPr>
          <p:nvPr/>
        </p:nvSpPr>
        <p:spPr bwMode="auto">
          <a:xfrm>
            <a:off x="1524000" y="428625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B 7</a:t>
            </a:r>
          </a:p>
        </p:txBody>
      </p:sp>
      <p:sp>
        <p:nvSpPr>
          <p:cNvPr id="16409" name="Text Box 68"/>
          <p:cNvSpPr txBox="1">
            <a:spLocks noChangeArrowheads="1"/>
          </p:cNvSpPr>
          <p:nvPr/>
        </p:nvSpPr>
        <p:spPr bwMode="auto">
          <a:xfrm>
            <a:off x="1117600" y="502920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C 8</a:t>
            </a:r>
          </a:p>
        </p:txBody>
      </p:sp>
      <p:sp>
        <p:nvSpPr>
          <p:cNvPr id="16410" name="Text Box 69"/>
          <p:cNvSpPr txBox="1">
            <a:spLocks noChangeArrowheads="1"/>
          </p:cNvSpPr>
          <p:nvPr/>
        </p:nvSpPr>
        <p:spPr bwMode="auto">
          <a:xfrm>
            <a:off x="2743200" y="2914650"/>
            <a:ext cx="1219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D 3</a:t>
            </a:r>
          </a:p>
        </p:txBody>
      </p:sp>
      <p:sp>
        <p:nvSpPr>
          <p:cNvPr id="16411" name="Text Box 70"/>
          <p:cNvSpPr txBox="1">
            <a:spLocks noChangeArrowheads="1"/>
          </p:cNvSpPr>
          <p:nvPr/>
        </p:nvSpPr>
        <p:spPr bwMode="auto">
          <a:xfrm>
            <a:off x="3454400" y="371475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E 6</a:t>
            </a:r>
          </a:p>
        </p:txBody>
      </p:sp>
      <p:sp>
        <p:nvSpPr>
          <p:cNvPr id="16412" name="Text Box 71"/>
          <p:cNvSpPr txBox="1">
            <a:spLocks noChangeArrowheads="1"/>
          </p:cNvSpPr>
          <p:nvPr/>
        </p:nvSpPr>
        <p:spPr bwMode="auto">
          <a:xfrm>
            <a:off x="4165600" y="4286250"/>
            <a:ext cx="1117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G 4</a:t>
            </a:r>
          </a:p>
        </p:txBody>
      </p:sp>
      <p:sp>
        <p:nvSpPr>
          <p:cNvPr id="16413" name="Text Box 72"/>
          <p:cNvSpPr txBox="1">
            <a:spLocks noChangeArrowheads="1"/>
          </p:cNvSpPr>
          <p:nvPr/>
        </p:nvSpPr>
        <p:spPr bwMode="auto">
          <a:xfrm>
            <a:off x="3149600" y="5954713"/>
            <a:ext cx="11176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H 6</a:t>
            </a:r>
          </a:p>
        </p:txBody>
      </p:sp>
      <p:sp>
        <p:nvSpPr>
          <p:cNvPr id="16414" name="Text Box 73"/>
          <p:cNvSpPr txBox="1">
            <a:spLocks noChangeArrowheads="1"/>
          </p:cNvSpPr>
          <p:nvPr/>
        </p:nvSpPr>
        <p:spPr bwMode="auto">
          <a:xfrm>
            <a:off x="4572000" y="5029200"/>
            <a:ext cx="1117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F 10</a:t>
            </a:r>
          </a:p>
        </p:txBody>
      </p:sp>
      <p:sp>
        <p:nvSpPr>
          <p:cNvPr id="16415" name="Text Box 74"/>
          <p:cNvSpPr txBox="1">
            <a:spLocks noChangeArrowheads="1"/>
          </p:cNvSpPr>
          <p:nvPr/>
        </p:nvSpPr>
        <p:spPr bwMode="auto">
          <a:xfrm>
            <a:off x="5892800" y="354330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I 2</a:t>
            </a:r>
          </a:p>
        </p:txBody>
      </p:sp>
      <p:sp>
        <p:nvSpPr>
          <p:cNvPr id="16416" name="Text Box 75"/>
          <p:cNvSpPr txBox="1">
            <a:spLocks noChangeArrowheads="1"/>
          </p:cNvSpPr>
          <p:nvPr/>
        </p:nvSpPr>
        <p:spPr bwMode="auto">
          <a:xfrm>
            <a:off x="7010400" y="428625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K 6</a:t>
            </a:r>
          </a:p>
        </p:txBody>
      </p:sp>
      <p:sp>
        <p:nvSpPr>
          <p:cNvPr id="16417" name="Text Box 76"/>
          <p:cNvSpPr txBox="1">
            <a:spLocks noChangeArrowheads="1"/>
          </p:cNvSpPr>
          <p:nvPr/>
        </p:nvSpPr>
        <p:spPr bwMode="auto">
          <a:xfrm>
            <a:off x="6807200" y="5143500"/>
            <a:ext cx="101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bg1"/>
                </a:solidFill>
              </a:rPr>
              <a:t>J 5</a:t>
            </a:r>
          </a:p>
        </p:txBody>
      </p:sp>
      <p:sp>
        <p:nvSpPr>
          <p:cNvPr id="16418" name="Text Box 77"/>
          <p:cNvSpPr txBox="1">
            <a:spLocks noChangeArrowheads="1"/>
          </p:cNvSpPr>
          <p:nvPr/>
        </p:nvSpPr>
        <p:spPr bwMode="auto">
          <a:xfrm>
            <a:off x="406400" y="440055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419" name="Text Box 78"/>
          <p:cNvSpPr txBox="1">
            <a:spLocks noChangeArrowheads="1"/>
          </p:cNvSpPr>
          <p:nvPr/>
        </p:nvSpPr>
        <p:spPr bwMode="auto">
          <a:xfrm>
            <a:off x="1828800" y="3028950"/>
            <a:ext cx="40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420" name="Text Box 79"/>
          <p:cNvSpPr txBox="1">
            <a:spLocks noChangeArrowheads="1"/>
          </p:cNvSpPr>
          <p:nvPr/>
        </p:nvSpPr>
        <p:spPr bwMode="auto">
          <a:xfrm>
            <a:off x="2946400" y="440055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6421" name="Text Box 80"/>
          <p:cNvSpPr txBox="1">
            <a:spLocks noChangeArrowheads="1"/>
          </p:cNvSpPr>
          <p:nvPr/>
        </p:nvSpPr>
        <p:spPr bwMode="auto">
          <a:xfrm>
            <a:off x="1727200" y="60579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422" name="Text Box 81"/>
          <p:cNvSpPr txBox="1">
            <a:spLocks noChangeArrowheads="1"/>
          </p:cNvSpPr>
          <p:nvPr/>
        </p:nvSpPr>
        <p:spPr bwMode="auto">
          <a:xfrm>
            <a:off x="5080000" y="302895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423" name="Text Box 82"/>
          <p:cNvSpPr txBox="1">
            <a:spLocks noChangeArrowheads="1"/>
          </p:cNvSpPr>
          <p:nvPr/>
        </p:nvSpPr>
        <p:spPr bwMode="auto">
          <a:xfrm>
            <a:off x="6299200" y="60579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6424" name="Text Box 83"/>
          <p:cNvSpPr txBox="1">
            <a:spLocks noChangeArrowheads="1"/>
          </p:cNvSpPr>
          <p:nvPr/>
        </p:nvSpPr>
        <p:spPr bwMode="auto">
          <a:xfrm>
            <a:off x="6400800" y="4400550"/>
            <a:ext cx="508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6425" name="Text Box 84"/>
          <p:cNvSpPr txBox="1">
            <a:spLocks noChangeArrowheads="1"/>
          </p:cNvSpPr>
          <p:nvPr/>
        </p:nvSpPr>
        <p:spPr bwMode="auto">
          <a:xfrm>
            <a:off x="8026400" y="4400550"/>
            <a:ext cx="508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Floats</a:t>
            </a:r>
          </a:p>
        </p:txBody>
      </p:sp>
      <p:sp>
        <p:nvSpPr>
          <p:cNvPr id="17411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085850"/>
            <a:ext cx="8382000" cy="491172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sz="2400" b="1" dirty="0"/>
              <a:t>Total float</a:t>
            </a:r>
            <a:r>
              <a:rPr lang="en-US" sz="2400" dirty="0"/>
              <a:t> is the amount of time by which an activity may be delayed without delaying the project completion</a:t>
            </a:r>
          </a:p>
          <a:p>
            <a:pPr algn="just" eaLnBrk="1" hangingPunct="1">
              <a:buFontTx/>
              <a:buNone/>
            </a:pPr>
            <a:r>
              <a:rPr lang="en-US" sz="2400" i="1" dirty="0"/>
              <a:t>	</a:t>
            </a:r>
            <a:r>
              <a:rPr lang="en-US" sz="2400" i="1" u="sng" dirty="0"/>
              <a:t>Caution:</a:t>
            </a:r>
            <a:r>
              <a:rPr lang="en-US" sz="2400" dirty="0"/>
              <a:t> interpret total floats of activities carefully - all can not be used independently </a:t>
            </a:r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/>
            <a:r>
              <a:rPr lang="en-US" sz="2400" b="1" dirty="0"/>
              <a:t>Free float</a:t>
            </a:r>
            <a:r>
              <a:rPr lang="en-US" sz="2400" dirty="0"/>
              <a:t> is that part of total float which can be used without affecting floats of the succeeding activities</a:t>
            </a:r>
          </a:p>
          <a:p>
            <a:pPr algn="just" eaLnBrk="1" hangingPunct="1"/>
            <a:endParaRPr lang="en-US" sz="2400" b="1" dirty="0"/>
          </a:p>
          <a:p>
            <a:pPr algn="just" eaLnBrk="1" hangingPunct="1"/>
            <a:r>
              <a:rPr lang="en-US" sz="2400" b="1" dirty="0"/>
              <a:t>Independent float</a:t>
            </a:r>
            <a:r>
              <a:rPr lang="en-US" sz="2400" dirty="0"/>
              <a:t> is the amount of time which can be used without affecting the head and the tail events</a:t>
            </a:r>
          </a:p>
          <a:p>
            <a:pPr algn="just" eaLnBrk="1" hangingPunct="1">
              <a:buFontTx/>
              <a:buNone/>
            </a:pPr>
            <a:r>
              <a:rPr lang="en-US" sz="2400" b="1" dirty="0"/>
              <a:t>	Total Float ≥ Free Float ≥ Independent Float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Calculation of Floats</a:t>
            </a:r>
          </a:p>
        </p:txBody>
      </p:sp>
      <p:sp>
        <p:nvSpPr>
          <p:cNvPr id="18435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81000" y="1143000"/>
            <a:ext cx="8382000" cy="4868863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000" b="1" dirty="0"/>
              <a:t>Total float</a:t>
            </a:r>
            <a:r>
              <a:rPr lang="en-US" sz="2000" dirty="0"/>
              <a:t> </a:t>
            </a:r>
          </a:p>
          <a:p>
            <a:pPr algn="just" eaLnBrk="1" hangingPunct="1">
              <a:buFontTx/>
              <a:buNone/>
            </a:pPr>
            <a:r>
              <a:rPr lang="en-US" sz="2000" dirty="0"/>
              <a:t>	= Latest start time of the activity – Earliest start time of the activity 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algn="just" eaLnBrk="1" hangingPunct="1"/>
            <a:r>
              <a:rPr lang="en-US" sz="2000" b="1" dirty="0"/>
              <a:t>Free float</a:t>
            </a:r>
            <a:endParaRPr lang="en-US" sz="2000" dirty="0"/>
          </a:p>
          <a:p>
            <a:pPr algn="just" eaLnBrk="1" hangingPunct="1">
              <a:buFontTx/>
              <a:buNone/>
            </a:pPr>
            <a:r>
              <a:rPr lang="en-US" sz="2000" dirty="0"/>
              <a:t>	= Earliest start time of the next activity – Earliest finish time of the activity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algn="just" eaLnBrk="1" hangingPunct="1"/>
            <a:r>
              <a:rPr lang="en-US" sz="2000" dirty="0"/>
              <a:t> </a:t>
            </a:r>
            <a:r>
              <a:rPr lang="en-US" sz="2000" b="1" dirty="0"/>
              <a:t>Interfering float</a:t>
            </a:r>
          </a:p>
          <a:p>
            <a:pPr algn="just" eaLnBrk="1" hangingPunct="1">
              <a:buFontTx/>
              <a:buNone/>
            </a:pPr>
            <a:r>
              <a:rPr lang="en-US" sz="2000" dirty="0"/>
              <a:t>	= Total float – Free float</a:t>
            </a:r>
          </a:p>
          <a:p>
            <a:pPr algn="just" eaLnBrk="1" hangingPunct="1"/>
            <a:endParaRPr lang="en-US" sz="2000" dirty="0"/>
          </a:p>
          <a:p>
            <a:pPr algn="just" eaLnBrk="1" hangingPunct="1"/>
            <a:r>
              <a:rPr lang="en-US" sz="2000" b="1" dirty="0"/>
              <a:t>Independent float </a:t>
            </a:r>
          </a:p>
          <a:p>
            <a:pPr algn="just" eaLnBrk="1" hangingPunct="1">
              <a:buFontTx/>
              <a:buNone/>
            </a:pPr>
            <a:r>
              <a:rPr lang="en-US" sz="2000" b="1" dirty="0"/>
              <a:t>	</a:t>
            </a:r>
            <a:r>
              <a:rPr lang="en-US" sz="2000" dirty="0"/>
              <a:t>=</a:t>
            </a:r>
            <a:r>
              <a:rPr lang="en-US" sz="2000" b="1" dirty="0"/>
              <a:t> </a:t>
            </a:r>
            <a:r>
              <a:rPr lang="en-US" sz="2000" dirty="0"/>
              <a:t>Earliest start time of the next activity – Latest finish time of the preceding activity – Duration of the activity</a:t>
            </a:r>
            <a:endParaRPr lang="en-US" sz="20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000" dirty="0"/>
              <a:t>	= Free float – Tail event slack, or zero, whichever is higher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Floats Calculation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2551" y="1371600"/>
          <a:ext cx="7243249" cy="48348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6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31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 - j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t 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ES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EF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LS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LF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TF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FF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lnF</a:t>
                      </a:r>
                      <a:endParaRPr kumimoji="0" 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1-2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1-3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1-4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2-5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3-5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3-6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3-7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4-6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5-7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6-8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7-8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estimation in 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activity, the model usually includes three times estimates</a:t>
            </a:r>
          </a:p>
          <a:p>
            <a:pPr lvl="1"/>
            <a:r>
              <a:rPr lang="en-US" dirty="0"/>
              <a:t>Optimistic time (a) - generally the shortest time in which the activity can be completed under ideal, favorable conditions</a:t>
            </a:r>
          </a:p>
          <a:p>
            <a:pPr lvl="1"/>
            <a:r>
              <a:rPr lang="en-US" dirty="0"/>
              <a:t>Most likely time (m) - the completion time under the normal conditions, having the highest probability.</a:t>
            </a:r>
          </a:p>
          <a:p>
            <a:pPr lvl="1"/>
            <a:r>
              <a:rPr lang="en-US" dirty="0"/>
              <a:t>Pessimistic time (b) - the longest time under worst, externally unfavorable conditions, which an activity might require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expected time for each activity can be approximated using the following weighted average</a:t>
            </a:r>
          </a:p>
          <a:p>
            <a:r>
              <a:rPr lang="en-US" dirty="0"/>
              <a:t>Expected time = (Optimistic + 4 x Most likely + Pessimistic) / 6</a:t>
            </a:r>
          </a:p>
          <a:p>
            <a:r>
              <a:rPr lang="en-US" dirty="0" err="1"/>
              <a:t>te</a:t>
            </a:r>
            <a:r>
              <a:rPr lang="en-US" dirty="0"/>
              <a:t>=(a+4m+b)/6</a:t>
            </a:r>
          </a:p>
          <a:p>
            <a:r>
              <a:rPr lang="en-US" dirty="0"/>
              <a:t>Variance is [(</a:t>
            </a:r>
            <a:r>
              <a:rPr lang="en-US" i="1" dirty="0"/>
              <a:t>b</a:t>
            </a:r>
            <a:r>
              <a:rPr lang="en-US" dirty="0"/>
              <a:t> – </a:t>
            </a:r>
            <a:r>
              <a:rPr lang="en-US" i="1" dirty="0"/>
              <a:t>a</a:t>
            </a:r>
            <a:r>
              <a:rPr lang="en-US" dirty="0"/>
              <a:t> )/6]</a:t>
            </a:r>
            <a:r>
              <a:rPr lang="en-US" baseline="30000" dirty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457200"/>
            <a:ext cx="8382000" cy="1550988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/>
              <a:t>The owner of a chain of fast-food restaurants is considering a new computer system for accounting and inventory control. A computer company sent the following information about the system installation: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1950720"/>
          <a:ext cx="8534400" cy="4251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Immediate 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 Optimistic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</a:t>
                      </a:r>
                      <a:r>
                        <a:rPr lang="en-US" baseline="0" dirty="0"/>
                        <a:t> likely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 Pessimistic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D,F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G,H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PERT Calculations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5008563"/>
            <a:ext cx="8382000" cy="1449387"/>
          </a:xfrm>
        </p:spPr>
        <p:txBody>
          <a:bodyPr>
            <a:normAutofit lnSpcReduction="10000"/>
          </a:bodyPr>
          <a:lstStyle/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400" dirty="0">
                <a:cs typeface="Times New Roman" pitchFamily="18" charset="0"/>
              </a:rPr>
              <a:t>Critical activities: A B E G I</a:t>
            </a:r>
          </a:p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400" dirty="0">
                <a:cs typeface="Times New Roman" pitchFamily="18" charset="0"/>
              </a:rPr>
              <a:t>Project duration = 6+8+18+8+7 = 47 days</a:t>
            </a:r>
          </a:p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1800" dirty="0">
                <a:cs typeface="Times New Roman" pitchFamily="18" charset="0"/>
              </a:rPr>
              <a:t>Project variance = 4/9 + 25/9 + 64/9 + 16/9 + 1/9 = 110/9</a:t>
            </a:r>
          </a:p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400" dirty="0">
                <a:cs typeface="Times New Roman" pitchFamily="18" charset="0"/>
              </a:rPr>
              <a:t>Project standard deviation = √(110/9) = 3.496</a:t>
            </a:r>
            <a:endParaRPr lang="el-GR" sz="2400" dirty="0">
              <a:cs typeface="Times New Roman" pitchFamily="18" charset="0"/>
            </a:endParaRPr>
          </a:p>
        </p:txBody>
      </p:sp>
      <p:sp>
        <p:nvSpPr>
          <p:cNvPr id="27652" name="TextBox 3"/>
          <p:cNvSpPr txBox="1">
            <a:spLocks noChangeArrowheads="1"/>
          </p:cNvSpPr>
          <p:nvPr/>
        </p:nvSpPr>
        <p:spPr bwMode="auto">
          <a:xfrm>
            <a:off x="406400" y="1184275"/>
            <a:ext cx="28448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 u="sng">
                <a:solidFill>
                  <a:schemeClr val="bg2"/>
                </a:solidFill>
                <a:latin typeface="Calibri" pitchFamily="34" charset="0"/>
              </a:rPr>
              <a:t>Example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371600"/>
          <a:ext cx="7924798" cy="34861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a 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m 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b 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t</a:t>
                      </a:r>
                      <a:r>
                        <a:rPr kumimoji="0" lang="en-US" sz="1800" b="1" i="0" u="none" strike="noStrike" kern="1200" cap="none" normalizeH="0" baseline="-25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l-GR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σ</a:t>
                      </a:r>
                      <a:r>
                        <a:rPr kumimoji="0" lang="en-US" sz="1800" b="1" i="0" u="none" strike="noStrike" kern="1200" cap="none" normalizeH="0" baseline="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4/9*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B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</a:rPr>
                        <a:t>25/9*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C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16/9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25/9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E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26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64/9*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16/9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G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16/9*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H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1/9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1920" marR="121920" marT="34290" marB="3429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+mn-ea"/>
                          <a:cs typeface="+mn-cs"/>
                        </a:rPr>
                        <a:t>1/9*</a:t>
                      </a:r>
                    </a:p>
                  </a:txBody>
                  <a:tcPr marL="121920" marR="121920" marT="34290" marB="3429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9791"/>
            <a:ext cx="8382000" cy="664797"/>
          </a:xfrm>
        </p:spPr>
        <p:txBody>
          <a:bodyPr>
            <a:normAutofit fontScale="90000"/>
          </a:bodyPr>
          <a:lstStyle/>
          <a:p>
            <a:pPr defTabSz="914363" eaLnBrk="1" fontAlgn="auto" hangingPunct="1">
              <a:spcAft>
                <a:spcPts val="0"/>
              </a:spcAft>
              <a:defRPr/>
            </a:pPr>
            <a:r>
              <a:t>PERT Calculations </a:t>
            </a:r>
            <a:r>
              <a:rPr i="1">
                <a:solidFill>
                  <a:schemeClr val="accent2"/>
                </a:solidFill>
              </a:rPr>
              <a:t>(…continued)</a:t>
            </a:r>
            <a:endParaRPr/>
          </a:p>
        </p:txBody>
      </p:sp>
      <p:sp>
        <p:nvSpPr>
          <p:cNvPr id="2867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4164013"/>
            <a:ext cx="8382000" cy="2184400"/>
          </a:xfrm>
        </p:spPr>
        <p:txBody>
          <a:bodyPr>
            <a:normAutofit lnSpcReduction="10000"/>
          </a:bodyPr>
          <a:lstStyle/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000" i="1" u="sng"/>
              <a:t>For Pr (completion in 55 days):</a:t>
            </a:r>
            <a:r>
              <a:rPr lang="en-US" sz="2000"/>
              <a:t>    </a:t>
            </a:r>
            <a:r>
              <a:rPr lang="en-US" sz="2000" i="1"/>
              <a:t>Z</a:t>
            </a:r>
            <a:r>
              <a:rPr lang="en-US" sz="2000"/>
              <a:t> = (</a:t>
            </a:r>
            <a:r>
              <a:rPr lang="en-US" sz="2000" i="1"/>
              <a:t>X</a:t>
            </a:r>
            <a:r>
              <a:rPr lang="en-US" sz="2000"/>
              <a:t> - </a:t>
            </a:r>
            <a:r>
              <a:rPr lang="en-US" sz="2000">
                <a:cs typeface="Times New Roman" pitchFamily="18" charset="0"/>
              </a:rPr>
              <a:t>µ)/</a:t>
            </a:r>
            <a:r>
              <a:rPr lang="el-GR" sz="2000">
                <a:cs typeface="Times New Roman" pitchFamily="18" charset="0"/>
              </a:rPr>
              <a:t>σ</a:t>
            </a:r>
            <a:r>
              <a:rPr lang="en-US" sz="2000">
                <a:cs typeface="Times New Roman" pitchFamily="18" charset="0"/>
              </a:rPr>
              <a:t> </a:t>
            </a:r>
          </a:p>
          <a:p>
            <a:pPr marL="460375" lvl="1" indent="-460375" eaLnBrk="1" hangingPunct="1">
              <a:buFontTx/>
              <a:buNone/>
            </a:pPr>
            <a:r>
              <a:rPr lang="en-US" sz="2000">
                <a:cs typeface="Times New Roman" pitchFamily="18" charset="0"/>
              </a:rPr>
              <a:t>	Z = (55 – 47)/3.496 = 2.29.                                                                                    Now, Area to the left of Z = 2.29 is 0.5+0.4890 = </a:t>
            </a:r>
            <a:r>
              <a:rPr lang="en-US" sz="2000" b="1">
                <a:cs typeface="Times New Roman" pitchFamily="18" charset="0"/>
              </a:rPr>
              <a:t>0.9890</a:t>
            </a:r>
          </a:p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000" i="1" u="sng">
                <a:cs typeface="Times New Roman" pitchFamily="18" charset="0"/>
              </a:rPr>
              <a:t>For Pr (completion with 0.90 chance):</a:t>
            </a:r>
          </a:p>
          <a:p>
            <a:pPr marL="460375" lvl="1" indent="-460375" eaLnBrk="1" hangingPunct="1">
              <a:buFontTx/>
              <a:buNone/>
            </a:pPr>
            <a:r>
              <a:rPr lang="en-US" sz="2000" i="1">
                <a:cs typeface="Times New Roman" pitchFamily="18" charset="0"/>
              </a:rPr>
              <a:t>	Z</a:t>
            </a:r>
            <a:r>
              <a:rPr lang="en-US" sz="2000">
                <a:cs typeface="Times New Roman" pitchFamily="18" charset="0"/>
              </a:rPr>
              <a:t> corresponding to area 0.40 (between µ and </a:t>
            </a:r>
            <a:r>
              <a:rPr lang="en-US" sz="2000" i="1">
                <a:cs typeface="Times New Roman" pitchFamily="18" charset="0"/>
              </a:rPr>
              <a:t>X</a:t>
            </a:r>
            <a:r>
              <a:rPr lang="en-US" sz="2000">
                <a:cs typeface="Times New Roman" pitchFamily="18" charset="0"/>
              </a:rPr>
              <a:t>) is 1.28.                               Thus, 1.28 = (</a:t>
            </a:r>
            <a:r>
              <a:rPr lang="en-US" sz="2000" i="1">
                <a:cs typeface="Times New Roman" pitchFamily="18" charset="0"/>
              </a:rPr>
              <a:t>X</a:t>
            </a:r>
            <a:r>
              <a:rPr lang="en-US" sz="2000">
                <a:cs typeface="Times New Roman" pitchFamily="18" charset="0"/>
              </a:rPr>
              <a:t> – 47)/3.496 and </a:t>
            </a:r>
            <a:r>
              <a:rPr lang="en-US" sz="2000" i="1">
                <a:cs typeface="Times New Roman" pitchFamily="18" charset="0"/>
              </a:rPr>
              <a:t>X</a:t>
            </a:r>
            <a:r>
              <a:rPr lang="en-US" sz="2000">
                <a:cs typeface="Times New Roman" pitchFamily="18" charset="0"/>
              </a:rPr>
              <a:t> = 51.47 or 52 app.  </a:t>
            </a:r>
          </a:p>
          <a:p>
            <a:pPr marL="460375" lvl="1" indent="-460375" algn="just" eaLnBrk="1" hangingPunct="1">
              <a:buFontTx/>
              <a:buBlip>
                <a:blip r:embed="rId3"/>
              </a:buBlip>
            </a:pPr>
            <a:r>
              <a:rPr lang="en-US" sz="2000">
                <a:cs typeface="Times New Roman" pitchFamily="18" charset="0"/>
              </a:rPr>
              <a:t>The project should start 52 days before due date</a:t>
            </a:r>
            <a:endParaRPr lang="el-GR" sz="2000">
              <a:solidFill>
                <a:schemeClr val="bg2"/>
              </a:solidFill>
              <a:cs typeface="Times New Roman" pitchFamily="18" charset="0"/>
            </a:endParaRPr>
          </a:p>
        </p:txBody>
      </p:sp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406400" y="1543050"/>
            <a:ext cx="8128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chemeClr val="bg2"/>
                </a:solidFill>
                <a:latin typeface="Calibri" pitchFamily="34" charset="0"/>
              </a:rPr>
              <a:t>Project Network</a:t>
            </a:r>
          </a:p>
        </p:txBody>
      </p:sp>
      <p:sp>
        <p:nvSpPr>
          <p:cNvPr id="28677" name="Oval 4"/>
          <p:cNvSpPr>
            <a:spLocks noChangeArrowheads="1"/>
          </p:cNvSpPr>
          <p:nvPr/>
        </p:nvSpPr>
        <p:spPr bwMode="auto">
          <a:xfrm>
            <a:off x="711200" y="291465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78" name="Oval 5"/>
          <p:cNvSpPr>
            <a:spLocks noChangeArrowheads="1"/>
          </p:cNvSpPr>
          <p:nvPr/>
        </p:nvSpPr>
        <p:spPr bwMode="auto">
          <a:xfrm>
            <a:off x="8128000" y="291465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79" name="Oval 6"/>
          <p:cNvSpPr>
            <a:spLocks noChangeArrowheads="1"/>
          </p:cNvSpPr>
          <p:nvPr/>
        </p:nvSpPr>
        <p:spPr bwMode="auto">
          <a:xfrm>
            <a:off x="6502400" y="291465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4064000" y="291465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2946400" y="365760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2946400" y="205740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1930400" y="291465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5283200" y="2057400"/>
            <a:ext cx="406400" cy="2286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8685" name="Line 13"/>
          <p:cNvSpPr>
            <a:spLocks noChangeShapeType="1"/>
          </p:cNvSpPr>
          <p:nvPr/>
        </p:nvSpPr>
        <p:spPr bwMode="auto">
          <a:xfrm>
            <a:off x="1117600" y="3028950"/>
            <a:ext cx="812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6" name="Line 14"/>
          <p:cNvSpPr>
            <a:spLocks noChangeShapeType="1"/>
          </p:cNvSpPr>
          <p:nvPr/>
        </p:nvSpPr>
        <p:spPr bwMode="auto">
          <a:xfrm flipV="1">
            <a:off x="2235200" y="2228850"/>
            <a:ext cx="81280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7" name="Line 15"/>
          <p:cNvSpPr>
            <a:spLocks noChangeShapeType="1"/>
          </p:cNvSpPr>
          <p:nvPr/>
        </p:nvSpPr>
        <p:spPr bwMode="auto">
          <a:xfrm>
            <a:off x="2235200" y="3143250"/>
            <a:ext cx="812800" cy="5143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8" name="Line 16"/>
          <p:cNvSpPr>
            <a:spLocks noChangeShapeType="1"/>
          </p:cNvSpPr>
          <p:nvPr/>
        </p:nvSpPr>
        <p:spPr bwMode="auto">
          <a:xfrm>
            <a:off x="3352800" y="2171700"/>
            <a:ext cx="1930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>
            <a:off x="3251200" y="2286000"/>
            <a:ext cx="914400" cy="6286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0" name="Line 18"/>
          <p:cNvSpPr>
            <a:spLocks noChangeShapeType="1"/>
          </p:cNvSpPr>
          <p:nvPr/>
        </p:nvSpPr>
        <p:spPr bwMode="auto">
          <a:xfrm flipV="1">
            <a:off x="3352800" y="3086100"/>
            <a:ext cx="812800" cy="6286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1" name="Line 19"/>
          <p:cNvSpPr>
            <a:spLocks noChangeShapeType="1"/>
          </p:cNvSpPr>
          <p:nvPr/>
        </p:nvSpPr>
        <p:spPr bwMode="auto">
          <a:xfrm>
            <a:off x="5689600" y="2228850"/>
            <a:ext cx="101600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2" name="Line 20"/>
          <p:cNvSpPr>
            <a:spLocks noChangeShapeType="1"/>
          </p:cNvSpPr>
          <p:nvPr/>
        </p:nvSpPr>
        <p:spPr bwMode="auto">
          <a:xfrm>
            <a:off x="4470400" y="3028950"/>
            <a:ext cx="203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3" name="Line 21"/>
          <p:cNvSpPr>
            <a:spLocks noChangeShapeType="1"/>
          </p:cNvSpPr>
          <p:nvPr/>
        </p:nvSpPr>
        <p:spPr bwMode="auto">
          <a:xfrm>
            <a:off x="6908800" y="3028950"/>
            <a:ext cx="1219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1320800" y="27432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2235200" y="2343150"/>
            <a:ext cx="71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2540000" y="3143250"/>
            <a:ext cx="71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3860800" y="1885950"/>
            <a:ext cx="812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3352800" y="3086100"/>
            <a:ext cx="609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3657600" y="2400300"/>
            <a:ext cx="812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4876800" y="2743200"/>
            <a:ext cx="71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5994400" y="2286000"/>
            <a:ext cx="711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7213600" y="2743200"/>
            <a:ext cx="508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chemeClr val="bg1"/>
                </a:solidFill>
              </a:rPr>
              <a:t>I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PERT/CPM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913048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Especially useful when scheduling and controlling large projects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Straightforward concept and not mathematically complex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Graphical networks help to perceive relationships among project activities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Critical path and slack time analyses help pinpoint activities that need to be closely watched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Project documentation and graphics point out who is responsible for various activities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Applicable to a wide variety of projects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Useful in monitoring not only schedules but costs as well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PERT/CPM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6064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Project activities have to be clearly defined, independent, and stable in their relationships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Precedence relationships must be specified and networked together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Time estimates tend to be subjective and are subject to fudging by managers</a:t>
            </a:r>
          </a:p>
          <a:p>
            <a:pPr algn="just"/>
            <a:r>
              <a:rPr lang="en-US" dirty="0">
                <a:latin typeface="Calibri" pitchFamily="34" charset="0"/>
                <a:cs typeface="Calibri" pitchFamily="34" charset="0"/>
              </a:rPr>
              <a:t>There is an inherent danger of too much emphasis being placed on the longest or critical path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THANK  YOU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24910</TotalTime>
  <Words>2029</Words>
  <Application>Microsoft Office PowerPoint</Application>
  <PresentationFormat>On-screen Show (4:3)</PresentationFormat>
  <Paragraphs>582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NETWORK ANALYSIS AND EVALUATION OF PROJECT</vt:lpstr>
      <vt:lpstr>Introduction</vt:lpstr>
      <vt:lpstr>Network Analysis</vt:lpstr>
      <vt:lpstr>Phases of project management</vt:lpstr>
      <vt:lpstr>Planning </vt:lpstr>
      <vt:lpstr>Scheduling </vt:lpstr>
      <vt:lpstr>Controlling </vt:lpstr>
      <vt:lpstr>Networking techniques</vt:lpstr>
      <vt:lpstr>CPM</vt:lpstr>
      <vt:lpstr>PERT</vt:lpstr>
      <vt:lpstr>Why PERT/CPM</vt:lpstr>
      <vt:lpstr>Project network </vt:lpstr>
      <vt:lpstr>Basic Elements of Network</vt:lpstr>
      <vt:lpstr>Cont’d</vt:lpstr>
      <vt:lpstr>   Rules for constructing a project network  </vt:lpstr>
      <vt:lpstr>Dummy activity</vt:lpstr>
      <vt:lpstr>Numerical</vt:lpstr>
      <vt:lpstr>PowerPoint Presentation</vt:lpstr>
      <vt:lpstr>Critical Path</vt:lpstr>
      <vt:lpstr>Critical Path: Example:</vt:lpstr>
      <vt:lpstr>Critical path evaluation</vt:lpstr>
      <vt:lpstr>Critical Path (…continued)</vt:lpstr>
      <vt:lpstr>Floats</vt:lpstr>
      <vt:lpstr>Calculation of Floats</vt:lpstr>
      <vt:lpstr>Floats Calculation</vt:lpstr>
      <vt:lpstr>Time estimation in PERT</vt:lpstr>
      <vt:lpstr>Expected time</vt:lpstr>
      <vt:lpstr>PowerPoint Presentation</vt:lpstr>
      <vt:lpstr>PERT Calculations</vt:lpstr>
      <vt:lpstr>PERT Calculations (…continued)</vt:lpstr>
      <vt:lpstr>Advantages of PERT/CPM</vt:lpstr>
      <vt:lpstr>Disadvantages of PERT/CPM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ANALYSIS AND EVALUATION OF PROJECT</dc:title>
  <dc:creator>SACHIN</dc:creator>
  <cp:lastModifiedBy>Achyut Shankar</cp:lastModifiedBy>
  <cp:revision>26</cp:revision>
  <dcterms:created xsi:type="dcterms:W3CDTF">2014-05-22T16:06:46Z</dcterms:created>
  <dcterms:modified xsi:type="dcterms:W3CDTF">2025-10-13T09:28:39Z</dcterms:modified>
</cp:coreProperties>
</file>