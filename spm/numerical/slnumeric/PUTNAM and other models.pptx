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6" r:id="rId2"/>
    <p:sldId id="267" r:id="rId3"/>
    <p:sldId id="263" r:id="rId4"/>
    <p:sldId id="330" r:id="rId5"/>
    <p:sldId id="331" r:id="rId6"/>
    <p:sldId id="332" r:id="rId7"/>
    <p:sldId id="333" r:id="rId8"/>
    <p:sldId id="334" r:id="rId9"/>
    <p:sldId id="335" r:id="rId10"/>
    <p:sldId id="264" r:id="rId11"/>
    <p:sldId id="336" r:id="rId12"/>
    <p:sldId id="337" r:id="rId13"/>
    <p:sldId id="338" r:id="rId14"/>
    <p:sldId id="339" r:id="rId15"/>
    <p:sldId id="265" r:id="rId16"/>
    <p:sldId id="340" r:id="rId17"/>
    <p:sldId id="341" r:id="rId18"/>
    <p:sldId id="342" r:id="rId19"/>
    <p:sldId id="34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hyut Shankar" userId="23ccbd89-9626-4da0-9b3d-9573a60b6ba2" providerId="ADAL" clId="{55054B73-B259-48B8-8FB2-D36494C1A91F}"/>
    <pc:docChg chg="custSel modSld">
      <pc:chgData name="Achyut Shankar" userId="23ccbd89-9626-4da0-9b3d-9573a60b6ba2" providerId="ADAL" clId="{55054B73-B259-48B8-8FB2-D36494C1A91F}" dt="2025-09-19T10:14:44.913" v="1" actId="478"/>
      <pc:docMkLst>
        <pc:docMk/>
      </pc:docMkLst>
      <pc:sldChg chg="addSp delSp modSp mod">
        <pc:chgData name="Achyut Shankar" userId="23ccbd89-9626-4da0-9b3d-9573a60b6ba2" providerId="ADAL" clId="{55054B73-B259-48B8-8FB2-D36494C1A91F}" dt="2025-09-19T10:14:44.913" v="1" actId="478"/>
        <pc:sldMkLst>
          <pc:docMk/>
          <pc:sldMk cId="1924048818" sldId="266"/>
        </pc:sldMkLst>
        <pc:spChg chg="add del mod">
          <ac:chgData name="Achyut Shankar" userId="23ccbd89-9626-4da0-9b3d-9573a60b6ba2" providerId="ADAL" clId="{55054B73-B259-48B8-8FB2-D36494C1A91F}" dt="2025-09-19T10:14:44.913" v="1" actId="478"/>
          <ac:spMkLst>
            <pc:docMk/>
            <pc:sldMk cId="1924048818" sldId="266"/>
            <ac:spMk id="4" creationId="{CD81D747-E47F-187B-6F8E-E481743DC724}"/>
          </ac:spMkLst>
        </pc:spChg>
        <pc:spChg chg="del">
          <ac:chgData name="Achyut Shankar" userId="23ccbd89-9626-4da0-9b3d-9573a60b6ba2" providerId="ADAL" clId="{55054B73-B259-48B8-8FB2-D36494C1A91F}" dt="2025-09-19T09:58:31.796" v="0" actId="478"/>
          <ac:spMkLst>
            <pc:docMk/>
            <pc:sldMk cId="1924048818" sldId="266"/>
            <ac:spMk id="5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5A9F5-A33B-4C5D-B6B7-32D70DDD2179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ED657-8AAA-46DA-9608-0F48FEBCB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081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790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This is extremely high effort, indicating:</a:t>
            </a:r>
          </a:p>
          <a:p>
            <a:r>
              <a:rPr lang="en-US"/>
              <a:t>Either the </a:t>
            </a:r>
            <a:r>
              <a:rPr lang="en-US" b="1"/>
              <a:t>project time is too short</a:t>
            </a:r>
            <a:r>
              <a:rPr lang="en-US"/>
              <a:t>, or</a:t>
            </a:r>
          </a:p>
          <a:p>
            <a:r>
              <a:rPr lang="en-US"/>
              <a:t>The </a:t>
            </a:r>
            <a:r>
              <a:rPr lang="en-US" b="1"/>
              <a:t>productivity constant (Cₖ)</a:t>
            </a:r>
            <a:r>
              <a:rPr lang="en-US"/>
              <a:t> is too low for the tools/team assumed</a:t>
            </a:r>
          </a:p>
          <a:p>
            <a:endParaRPr lang="en-IN"/>
          </a:p>
          <a:p>
            <a:r>
              <a:rPr lang="en-US" b="1"/>
              <a:t>Interpretation</a:t>
            </a:r>
          </a:p>
          <a:p>
            <a:r>
              <a:rPr lang="en-US" b="1"/>
              <a:t>More realistic values of (Cₖ) </a:t>
            </a:r>
            <a:r>
              <a:rPr lang="en-US"/>
              <a:t>(e.g., 8000–12000 for modern agile teams) would result in </a:t>
            </a:r>
            <a:r>
              <a:rPr lang="en-US" b="1"/>
              <a:t>lower effort</a:t>
            </a:r>
            <a:r>
              <a:rPr lang="en-US"/>
              <a:t>.</a:t>
            </a:r>
          </a:p>
          <a:p>
            <a:r>
              <a:rPr lang="en-US" b="1"/>
              <a:t>Longer schedule (Td)</a:t>
            </a:r>
            <a:r>
              <a:rPr lang="en-US"/>
              <a:t> reduces effort exponentially.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D1167-6E9D-47D6-8764-2F424853FCE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600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Estimating by Analogy</a:t>
            </a:r>
            <a:r>
              <a:rPr lang="en-US"/>
              <a:t> is a </a:t>
            </a:r>
            <a:r>
              <a:rPr lang="en-US" b="1"/>
              <a:t>comparative estimation technique</a:t>
            </a:r>
            <a:r>
              <a:rPr lang="en-US"/>
              <a:t> where the effort, cost, or duration of a </a:t>
            </a:r>
            <a:r>
              <a:rPr lang="en-US" b="1"/>
              <a:t>new software project</a:t>
            </a:r>
            <a:r>
              <a:rPr lang="en-US"/>
              <a:t> is estimated based on </a:t>
            </a:r>
            <a:r>
              <a:rPr lang="en-US" b="1"/>
              <a:t>actual d</a:t>
            </a:r>
          </a:p>
          <a:p>
            <a:r>
              <a:rPr lang="en-US" b="1" err="1"/>
              <a:t>ata</a:t>
            </a:r>
            <a:r>
              <a:rPr lang="en-US" b="1"/>
              <a:t> from similar past projects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Core Idea</a:t>
            </a:r>
            <a:r>
              <a:rPr lang="en-US"/>
              <a:t>: </a:t>
            </a:r>
            <a:r>
              <a:rPr lang="en-US" i="1"/>
              <a:t>"If Project A is similar to Project B, and we know how much B cost or how long it took, we can use that to estimate A."</a:t>
            </a:r>
            <a:endParaRPr lang="en-US"/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D1167-6E9D-47D6-8764-2F424853FCE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318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Best suited when:</a:t>
            </a:r>
          </a:p>
          <a:p>
            <a:r>
              <a:rPr lang="en-US"/>
              <a:t>Historical project data is available</a:t>
            </a:r>
          </a:p>
          <a:p>
            <a:r>
              <a:rPr lang="en-US"/>
              <a:t>New project is similar in domain/technology</a:t>
            </a:r>
          </a:p>
          <a:p>
            <a:r>
              <a:rPr lang="en-US"/>
              <a:t>Quick, early-phase estimates are needed</a:t>
            </a:r>
          </a:p>
          <a:p>
            <a:r>
              <a:rPr lang="en-US"/>
              <a:t>Estimators lack access to detailed models (like COCOMO)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D1167-6E9D-47D6-8764-2F424853FCE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205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Simple &amp; Intuitive-Based on real-world experience</a:t>
            </a:r>
          </a:p>
          <a:p>
            <a:r>
              <a:rPr lang="en-US"/>
              <a:t>Reuses Knowledge-Makes use of lessons from past projects</a:t>
            </a:r>
          </a:p>
          <a:p>
            <a:r>
              <a:rPr lang="en-US"/>
              <a:t>Adaptable-Can be tailored to team, tech, or context</a:t>
            </a:r>
          </a:p>
          <a:p>
            <a:r>
              <a:rPr lang="en-US"/>
              <a:t>Useful for Agile-Works well with story points or sprints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D1167-6E9D-47D6-8764-2F424853FCE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48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Purpose:</a:t>
            </a:r>
          </a:p>
          <a:p>
            <a:r>
              <a:rPr lang="en-US"/>
              <a:t>Define how much </a:t>
            </a:r>
            <a:r>
              <a:rPr lang="en-US" b="1"/>
              <a:t>funding</a:t>
            </a:r>
            <a:r>
              <a:rPr lang="en-US"/>
              <a:t> is needed and </a:t>
            </a:r>
            <a:r>
              <a:rPr lang="en-US" b="1"/>
              <a:t>when</a:t>
            </a:r>
            <a:endParaRPr lang="en-US"/>
          </a:p>
          <a:p>
            <a:r>
              <a:rPr lang="en-US"/>
              <a:t>Establish a </a:t>
            </a:r>
            <a:r>
              <a:rPr lang="en-US" b="1"/>
              <a:t>cost baseline</a:t>
            </a:r>
            <a:r>
              <a:rPr lang="en-US"/>
              <a:t> for performance measurement</a:t>
            </a:r>
          </a:p>
          <a:p>
            <a:r>
              <a:rPr lang="en-US"/>
              <a:t>Enable </a:t>
            </a:r>
            <a:r>
              <a:rPr lang="en-US" b="1"/>
              <a:t>tracking of actual costs vs. planned costs</a:t>
            </a:r>
            <a:endParaRPr lang="en-US"/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D1167-6E9D-47D6-8764-2F424853FCE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881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project is projected to exceed the budget by ₹2.82 lakhs if corrective action is not taken.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D1167-6E9D-47D6-8764-2F424853FCE7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407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60EC6-8809-F630-7B06-96923F7DC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5B0540-27A3-77C9-FD5B-A72FBA26C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F7D61-CE2A-9F21-F29D-5C17F7AD7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B960-971A-4D86-852A-95AF53FDF140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0C0A1-513D-DE93-E2E7-628CC7062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ECDCB-0845-4115-5D8E-003B2481F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2B488-147A-49B8-BBE5-65E7D4770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973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AE556-CB1A-CED6-C9CE-97750C278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E1DE5-78A1-4A58-048C-0AE784D3C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CCC8A-C562-62CD-0A18-20AD9B56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B960-971A-4D86-852A-95AF53FDF140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AE271-7530-B52E-AA90-0404E23E6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29460-BE44-B4A1-9C20-319971655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2B488-147A-49B8-BBE5-65E7D4770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87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4CF0C-9827-2768-40DF-1E52691E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BBDFB-3029-B1DB-8DCE-3694D1A9F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CA724-8324-7629-440B-0B90E20AC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B960-971A-4D86-852A-95AF53FDF140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0B22D-7561-31B7-64BC-436AFD3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277B0-1763-E07A-5D4E-392953F3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2B488-147A-49B8-BBE5-65E7D4770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932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8475D-2198-0536-CA41-FAB5725D4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13CD-F82D-5CC7-82BC-0DDAE67F2F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7162A-8E7E-3E7D-52B1-F8F4C2303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7B1E7-36D8-7471-3514-DEC5060A2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B960-971A-4D86-852A-95AF53FDF140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28641-6ADF-FD08-5A34-E1C2701BD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1548D-525E-2A7C-685D-6EF8C4EA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2B488-147A-49B8-BBE5-65E7D4770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67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4516-4516-973E-0EE4-1645C6051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156BA-F147-7CF9-E62D-FCAA9B286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7FBAC-AC03-81EA-3EEB-12D0A3AE5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E08FE4-F820-86FC-1B18-4AF8F01604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6B9B2D-2852-5D44-78B5-1379CAE1F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12CC47-A9E0-CB69-0D5B-6032B4D2F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B960-971A-4D86-852A-95AF53FDF140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ADFBA5-5F66-522B-479C-B2BA43E73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F1B355-32FF-120D-C3A9-940B11ACF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2B488-147A-49B8-BBE5-65E7D4770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182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5E7D2-9E9F-451E-76E8-E7C7A793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A8C9A-DAC1-F642-0348-F3D68C43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B960-971A-4D86-852A-95AF53FDF140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230CC-7F23-60AF-2856-58CDA7B60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BB6A0-E4D6-FF57-0D2E-9D25D7E64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2B488-147A-49B8-BBE5-65E7D4770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563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C088E-33F1-0B97-B061-9A2BEBC61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B960-971A-4D86-852A-95AF53FDF140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31F70-7C48-58E8-89A9-EA219937B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381A1-078B-A53C-F91B-27A0EA8B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2B488-147A-49B8-BBE5-65E7D4770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964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603A-C39F-DCB6-AE88-10C60282E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B9C61-49EB-6710-8A45-18A6BC341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72AA2-5D35-3A28-F4B8-120AC546B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AC22B-851C-500A-D17D-E73F25F95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B960-971A-4D86-852A-95AF53FDF140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A91A7-4F59-54AF-11B0-AC0280E04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20A4D-F933-9E10-2CB9-3EE187AB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2B488-147A-49B8-BBE5-65E7D4770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425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39A66-DA60-CC43-5C40-E144AF0C3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C0BED-7809-F817-DADC-749DC21D7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9611B-86CE-0B9B-D1A6-505798434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A433D-D3AA-548F-557B-EDB49463D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B960-971A-4D86-852A-95AF53FDF140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D8182-2CF2-6D2E-F308-B02FDE8B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9D130-78D5-F642-AA06-82DE747E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2B488-147A-49B8-BBE5-65E7D4770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50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B1F3-8577-4B23-8EDD-97949B8A2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EDF80-D2EF-549D-9236-BFEDBB5FE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5D03B-04D6-7047-B65E-0E2B6BE5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B960-971A-4D86-852A-95AF53FDF140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0E70D-E23D-4A5F-BB20-7C3459DA2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DEBA0-D6B6-D58F-7DAD-A901DCB1B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2B488-147A-49B8-BBE5-65E7D4770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33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DFF433-CB8A-DA27-69DF-B171846704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CFBE6-9C2E-B8A5-E059-4A0994F05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EE80-DC48-4860-2BCD-12FC382E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B960-971A-4D86-852A-95AF53FDF140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AB2C5-EE08-B558-D661-2E2858059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68B32-E22F-6AC7-88CF-F4357EA2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2B488-147A-49B8-BBE5-65E7D4770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643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50B161-2108-A629-3145-56C2360DA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75BA9-8C1D-C999-CC55-6D7CEDB14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F8156-B297-7B70-F995-329375D7F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CB960-971A-4D86-852A-95AF53FDF140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130D8-660F-020B-0D03-51CE8A0C2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C487F-3E84-FFFD-A027-E05EEC348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2B488-147A-49B8-BBE5-65E7D4770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45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1835708" y="21352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pPr>
              <a:spcBef>
                <a:spcPts val="0"/>
              </a:spcBef>
              <a:buSzPts val="5200"/>
            </a:pPr>
            <a:r>
              <a:rPr lang="en-US" b="1"/>
              <a:t>Software Project Management</a:t>
            </a:r>
            <a:endParaRPr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630" y="1074470"/>
            <a:ext cx="2000679" cy="71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48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AA1B5-DD87-8E90-E915-32FE9982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E73BF-E542-2CE3-2229-7E3AD9BC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/>
              <a:t>Putnam/SLIM Model,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Estimating by Analogy,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Cost Budgeting and Control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2145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856694"/>
            <a:ext cx="8229600" cy="1143000"/>
          </a:xfrm>
        </p:spPr>
        <p:txBody>
          <a:bodyPr/>
          <a:lstStyle/>
          <a:p>
            <a:r>
              <a:rPr dirty="0"/>
              <a:t>Putnam / SLIM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2271F-0DA2-B31F-F536-A20466E7C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46A90-72BD-5C0E-9893-D13B40874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44673"/>
            <a:ext cx="8229600" cy="1143000"/>
          </a:xfrm>
        </p:spPr>
        <p:txBody>
          <a:bodyPr/>
          <a:lstStyle/>
          <a:p>
            <a:r>
              <a:t>Putnam / SLIM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5ED41-9BA8-DDA4-319E-2ADBF6E37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en-US" b="1"/>
              <a:t>Putnam Model</a:t>
            </a:r>
            <a:r>
              <a:rPr lang="en-US"/>
              <a:t>, also known as the </a:t>
            </a:r>
            <a:r>
              <a:rPr lang="en-US" b="1"/>
              <a:t>SLIM Model</a:t>
            </a:r>
            <a:r>
              <a:rPr lang="en-US"/>
              <a:t> (Software Life Cycle Management), is a </a:t>
            </a:r>
            <a:r>
              <a:rPr lang="en-US" b="1"/>
              <a:t>software cost estimation model</a:t>
            </a:r>
            <a:r>
              <a:rPr lang="en-US"/>
              <a:t> developed by </a:t>
            </a:r>
            <a:r>
              <a:rPr lang="en-US" b="1"/>
              <a:t>Lawrence H. Putnam</a:t>
            </a:r>
            <a:r>
              <a:rPr lang="en-US"/>
              <a:t> in the late 1970s. </a:t>
            </a:r>
          </a:p>
          <a:p>
            <a:r>
              <a:rPr lang="en-US"/>
              <a:t>It is based on the </a:t>
            </a:r>
            <a:r>
              <a:rPr lang="en-US" b="1"/>
              <a:t>Rayleigh-Norden curve</a:t>
            </a:r>
            <a:r>
              <a:rPr lang="en-US"/>
              <a:t> and emphasizes </a:t>
            </a:r>
            <a:r>
              <a:rPr lang="en-US" b="1"/>
              <a:t>time-effort tradeoffs</a:t>
            </a:r>
            <a:r>
              <a:rPr lang="en-US"/>
              <a:t> in software development.</a:t>
            </a:r>
          </a:p>
          <a:p>
            <a:r>
              <a:rPr lang="en-US"/>
              <a:t>Predicts effort, schedule, and cost using historical project data and an empirically derived equation. </a:t>
            </a:r>
          </a:p>
          <a:p>
            <a:r>
              <a:rPr lang="en-US"/>
              <a:t>It models the </a:t>
            </a:r>
            <a:r>
              <a:rPr lang="en-US" b="1"/>
              <a:t>staffing pattern over time</a:t>
            </a:r>
            <a:r>
              <a:rPr lang="en-US"/>
              <a:t> and is </a:t>
            </a:r>
            <a:r>
              <a:rPr lang="en-US" b="1"/>
              <a:t>non-linear</a:t>
            </a:r>
            <a:r>
              <a:rPr lang="en-US"/>
              <a:t>, accounting for </a:t>
            </a:r>
            <a:r>
              <a:rPr lang="en-US" b="1"/>
              <a:t>diminishing returns</a:t>
            </a:r>
            <a:r>
              <a:rPr lang="en-US"/>
              <a:t> when adding more effort to shorten development time.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454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149F6-CCF6-E897-F23F-1AA3C7941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Rayleigh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12CB-99AC-5353-F36B-1B863E40D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1" y="1600201"/>
            <a:ext cx="5087257" cy="4525963"/>
          </a:xfrm>
        </p:spPr>
        <p:txBody>
          <a:bodyPr/>
          <a:lstStyle/>
          <a:p>
            <a:r>
              <a:rPr lang="en-US"/>
              <a:t>A bell-shaped curve that models how manpower is used over time in a software project.</a:t>
            </a:r>
          </a:p>
          <a:p>
            <a:r>
              <a:rPr lang="en-US"/>
              <a:t>Reflects </a:t>
            </a:r>
            <a:r>
              <a:rPr lang="en-US" b="1"/>
              <a:t>slow ramp-up</a:t>
            </a:r>
            <a:r>
              <a:rPr lang="en-US"/>
              <a:t>, </a:t>
            </a:r>
            <a:r>
              <a:rPr lang="en-US" b="1"/>
              <a:t>peak staffing</a:t>
            </a:r>
            <a:r>
              <a:rPr lang="en-US"/>
              <a:t>, and </a:t>
            </a:r>
            <a:r>
              <a:rPr lang="en-US" b="1"/>
              <a:t>tapering off</a:t>
            </a:r>
            <a:r>
              <a:rPr lang="en-US"/>
              <a:t> as the project nears completion.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6BEC2-5D63-F3C9-8E6B-3173C19C1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772" y="1893538"/>
            <a:ext cx="2982299" cy="271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509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F637-5988-0704-1C04-38F4BC099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281215"/>
            <a:ext cx="8229600" cy="1143000"/>
          </a:xfrm>
        </p:spPr>
        <p:txBody>
          <a:bodyPr/>
          <a:lstStyle/>
          <a:p>
            <a:r>
              <a:rPr lang="en-US"/>
              <a:t>Putnam Equation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0004B1-2123-A5B3-27CB-2E8DD2692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199" y="638631"/>
            <a:ext cx="7179774" cy="337961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EA14DF-FD3A-1296-D8EB-DEB7C5DFE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181" y="4143567"/>
            <a:ext cx="5296454" cy="271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50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8DB93-D6F2-B5C6-3187-1D3DBD89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the SLIM Model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83A45-605F-83EE-BAFB-51799A019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Project follows a </a:t>
            </a:r>
            <a:r>
              <a:rPr lang="en-US" b="1"/>
              <a:t>waterfall model</a:t>
            </a:r>
          </a:p>
          <a:p>
            <a:r>
              <a:rPr lang="en-US"/>
              <a:t>Manpower builds up and reduces smoothly (Rayleigh curve)</a:t>
            </a:r>
          </a:p>
          <a:p>
            <a:r>
              <a:rPr lang="en-US"/>
              <a:t>Applicable mainly for </a:t>
            </a:r>
            <a:r>
              <a:rPr lang="en-US" b="1"/>
              <a:t>large-scale</a:t>
            </a:r>
            <a:r>
              <a:rPr lang="en-US"/>
              <a:t> software projects</a:t>
            </a:r>
          </a:p>
          <a:p>
            <a:r>
              <a:rPr lang="en-US"/>
              <a:t>Productivity (Cₖ) remains constant during the project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511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A0CA-81B3-3516-D116-8EFDBA913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160782"/>
            <a:ext cx="8229600" cy="1143000"/>
          </a:xfrm>
        </p:spPr>
        <p:txBody>
          <a:bodyPr/>
          <a:lstStyle/>
          <a:p>
            <a:r>
              <a:rPr lang="en-US"/>
              <a:t>Example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06C37-A82D-48CC-B454-DAA987F8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731161"/>
            <a:ext cx="8229600" cy="313870"/>
          </a:xfrm>
        </p:spPr>
        <p:txBody>
          <a:bodyPr>
            <a:normAutofit fontScale="70000" lnSpcReduction="20000"/>
          </a:bodyPr>
          <a:lstStyle/>
          <a:p>
            <a:r>
              <a:rPr lang="en-IN"/>
              <a:t>Given:</a:t>
            </a:r>
          </a:p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A6D150-159A-6366-FE86-920C4F95D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722" y="798289"/>
            <a:ext cx="4126724" cy="11386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ADEBAE-1793-09C9-F5FA-A702C292C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524" y="2119089"/>
            <a:ext cx="4654789" cy="2291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F24C24-D40B-71A9-EB0A-84751615E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1523" y="4592684"/>
            <a:ext cx="5516536" cy="226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17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BB94-5D29-EE12-8AE0-FA640872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117952"/>
            <a:ext cx="8229600" cy="1143000"/>
          </a:xfrm>
        </p:spPr>
        <p:txBody>
          <a:bodyPr/>
          <a:lstStyle/>
          <a:p>
            <a:r>
              <a:rPr lang="en-IN"/>
              <a:t>Estimating by Analogy</a:t>
            </a:r>
          </a:p>
        </p:txBody>
      </p:sp>
    </p:spTree>
    <p:extLst>
      <p:ext uri="{BB962C8B-B14F-4D97-AF65-F5344CB8AC3E}">
        <p14:creationId xmlns:p14="http://schemas.microsoft.com/office/powerpoint/2010/main" val="4072910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Estimating by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Comparative estimation technique</a:t>
            </a:r>
            <a:r>
              <a:rPr lang="en-US"/>
              <a:t> where the effort, cost, or duration of a </a:t>
            </a:r>
            <a:r>
              <a:rPr lang="en-US" b="1"/>
              <a:t>new software project</a:t>
            </a:r>
            <a:r>
              <a:rPr lang="en-US"/>
              <a:t> is estimated based on </a:t>
            </a:r>
            <a:r>
              <a:rPr lang="en-US" b="1"/>
              <a:t>actual data from similar past projects</a:t>
            </a:r>
            <a:r>
              <a:rPr lang="en-US"/>
              <a:t>.</a:t>
            </a:r>
          </a:p>
          <a:p>
            <a:r>
              <a:rPr lang="en-US" b="1"/>
              <a:t>Steps Involved in Estimating by Analogy</a:t>
            </a:r>
          </a:p>
          <a:p>
            <a:pPr lvl="1"/>
            <a:r>
              <a:rPr lang="en-US" b="1"/>
              <a:t>Identify past similar projects</a:t>
            </a:r>
            <a:r>
              <a:rPr lang="en-US"/>
              <a:t> (from your organization or known repositories)</a:t>
            </a:r>
          </a:p>
          <a:p>
            <a:pPr lvl="1"/>
            <a:r>
              <a:rPr lang="en-US" b="1"/>
              <a:t>Extract key metrics</a:t>
            </a:r>
            <a:r>
              <a:rPr lang="en-US"/>
              <a:t> (e.g., size, complexity, effort, duration, cost)</a:t>
            </a:r>
          </a:p>
          <a:p>
            <a:pPr lvl="1"/>
            <a:r>
              <a:rPr lang="en-US" b="1"/>
              <a:t>Compare and adjust</a:t>
            </a:r>
            <a:r>
              <a:rPr lang="en-US"/>
              <a:t> for differences (team size, technology stack, risk level)</a:t>
            </a:r>
          </a:p>
          <a:p>
            <a:pPr lvl="1"/>
            <a:r>
              <a:rPr lang="en-US" b="1"/>
              <a:t>Apply the adjusted data</a:t>
            </a:r>
            <a:r>
              <a:rPr lang="en-US"/>
              <a:t> to estimate the new project</a:t>
            </a:r>
          </a:p>
          <a:p>
            <a:pPr lvl="1"/>
            <a:r>
              <a:rPr lang="en-US" b="1"/>
              <a:t>Validate</a:t>
            </a:r>
            <a:r>
              <a:rPr lang="en-US"/>
              <a:t> with subject matter experts or historical data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12872-C55E-AD33-BB03-6F0E3748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800" y="-253320"/>
            <a:ext cx="8229600" cy="1143000"/>
          </a:xfrm>
        </p:spPr>
        <p:txBody>
          <a:bodyPr/>
          <a:lstStyle/>
          <a:p>
            <a:r>
              <a:rPr lang="en-US"/>
              <a:t>Example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CE8F7-9E86-70BF-575F-B98912A54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740230"/>
            <a:ext cx="8229600" cy="6117770"/>
          </a:xfrm>
        </p:spPr>
        <p:txBody>
          <a:bodyPr>
            <a:normAutofit lnSpcReduction="10000"/>
          </a:bodyPr>
          <a:lstStyle/>
          <a:p>
            <a:r>
              <a:rPr lang="en-US"/>
              <a:t>Estimate by analogy, the </a:t>
            </a:r>
            <a:r>
              <a:rPr lang="en-US" b="1"/>
              <a:t>effort</a:t>
            </a:r>
            <a:r>
              <a:rPr lang="en-US"/>
              <a:t> and </a:t>
            </a:r>
            <a:r>
              <a:rPr lang="en-US" b="1"/>
              <a:t>cost</a:t>
            </a:r>
            <a:r>
              <a:rPr lang="en-US"/>
              <a:t> for a </a:t>
            </a:r>
            <a:r>
              <a:rPr lang="en-US" b="1"/>
              <a:t>new e-commerce mobile app</a:t>
            </a:r>
            <a:r>
              <a:rPr lang="en-US"/>
              <a:t> with ~100 user stories.</a:t>
            </a:r>
          </a:p>
          <a:p>
            <a:r>
              <a:rPr lang="en-US" b="1"/>
              <a:t>Similar Past Project: </a:t>
            </a:r>
            <a:r>
              <a:rPr lang="en-US"/>
              <a:t>Consider a previously developed </a:t>
            </a:r>
            <a:r>
              <a:rPr lang="en-US" b="1"/>
              <a:t>retail inventory app</a:t>
            </a:r>
            <a:r>
              <a:rPr lang="en-US"/>
              <a:t> with- </a:t>
            </a:r>
            <a:r>
              <a:rPr lang="en-IN"/>
              <a:t>90 user stories, Took 6 months, Required 1200 person-hours, Cost ₹12 lakhs</a:t>
            </a:r>
          </a:p>
          <a:p>
            <a:r>
              <a:rPr lang="en-US" b="1"/>
              <a:t>Step 1: Find Similarity</a:t>
            </a:r>
          </a:p>
          <a:p>
            <a:pPr lvl="1"/>
            <a:r>
              <a:rPr lang="en-US"/>
              <a:t>The retail app and e-commerce app are similar in:</a:t>
            </a:r>
          </a:p>
          <a:p>
            <a:pPr lvl="1"/>
            <a:r>
              <a:rPr lang="en-US"/>
              <a:t>Architecture (mobile + cloud backend)</a:t>
            </a:r>
          </a:p>
          <a:p>
            <a:pPr lvl="1"/>
            <a:r>
              <a:rPr lang="en-US"/>
              <a:t>Technology (React Native + Firebase)</a:t>
            </a:r>
          </a:p>
          <a:p>
            <a:pPr lvl="1"/>
            <a:r>
              <a:rPr lang="en-US"/>
              <a:t>Team experience</a:t>
            </a:r>
          </a:p>
          <a:p>
            <a:r>
              <a:rPr lang="en-US" b="1"/>
              <a:t>Step 2: Scale the Estimate</a:t>
            </a:r>
          </a:p>
          <a:p>
            <a:pPr lvl="1"/>
            <a:r>
              <a:rPr lang="en-US"/>
              <a:t>New project = 100 stories → 11% more than 90 stories</a:t>
            </a:r>
          </a:p>
          <a:p>
            <a:pPr lvl="1"/>
            <a:r>
              <a:rPr lang="en-US" b="1"/>
              <a:t>Estimated effort</a:t>
            </a:r>
            <a:r>
              <a:rPr lang="en-US"/>
              <a:t> = 1200 × (100 / 90) = 1333 person-hours</a:t>
            </a:r>
            <a:br>
              <a:rPr lang="en-US"/>
            </a:br>
            <a:r>
              <a:rPr lang="en-US" b="1"/>
              <a:t>Estimated cost</a:t>
            </a:r>
            <a:r>
              <a:rPr lang="en-US"/>
              <a:t> = ₹12 lakhs × (100 / 90) = ₹13.33 lakhs</a:t>
            </a:r>
            <a:br>
              <a:rPr lang="en-US"/>
            </a:br>
            <a:r>
              <a:rPr lang="en-US" b="1"/>
              <a:t>Estimated duration</a:t>
            </a:r>
            <a:r>
              <a:rPr lang="en-US"/>
              <a:t> = 6 months × (100 / 90) ≈ 6.6 months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937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66FD-6027-55CD-437C-41E46CFF8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Applications of Estimating by Analogy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DCBF3-A273-1C35-69B5-8E2C7225E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14" y="2119087"/>
            <a:ext cx="7864927" cy="261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24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1514E-E146-A081-118B-FCDA28CB6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D6EE5-7B48-A4FE-D7F1-5F86EAD92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Simple &amp; Intuitive</a:t>
            </a:r>
          </a:p>
          <a:p>
            <a:r>
              <a:rPr lang="en-IN"/>
              <a:t>Reuses Knowledge</a:t>
            </a:r>
          </a:p>
          <a:p>
            <a:r>
              <a:rPr lang="en-IN"/>
              <a:t>Adaptable</a:t>
            </a:r>
          </a:p>
          <a:p>
            <a:r>
              <a:rPr lang="en-IN"/>
              <a:t>Useful for Agile</a:t>
            </a:r>
          </a:p>
        </p:txBody>
      </p:sp>
    </p:spTree>
    <p:extLst>
      <p:ext uri="{BB962C8B-B14F-4D97-AF65-F5344CB8AC3E}">
        <p14:creationId xmlns:p14="http://schemas.microsoft.com/office/powerpoint/2010/main" val="420115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87E71-7C97-EB8A-3C31-03F0459DC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030866"/>
            <a:ext cx="8229600" cy="1143000"/>
          </a:xfrm>
        </p:spPr>
        <p:txBody>
          <a:bodyPr/>
          <a:lstStyle/>
          <a:p>
            <a:r>
              <a:rPr lang="en-IN"/>
              <a:t>Cost Budgeting and Control</a:t>
            </a:r>
          </a:p>
        </p:txBody>
      </p:sp>
    </p:spTree>
    <p:extLst>
      <p:ext uri="{BB962C8B-B14F-4D97-AF65-F5344CB8AC3E}">
        <p14:creationId xmlns:p14="http://schemas.microsoft.com/office/powerpoint/2010/main" val="2571606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Cost Budgeting and Control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Cost budgeting</a:t>
            </a:r>
            <a:r>
              <a:rPr lang="en-US"/>
              <a:t> is the process of </a:t>
            </a:r>
            <a:r>
              <a:rPr lang="en-US" b="1"/>
              <a:t>allocating the overall cost estimate</a:t>
            </a:r>
            <a:r>
              <a:rPr lang="en-US"/>
              <a:t> to individual work items or components of a software project to establish a </a:t>
            </a:r>
            <a:r>
              <a:rPr lang="en-US" b="1"/>
              <a:t>cost baseline</a:t>
            </a:r>
            <a:r>
              <a:rPr lang="en-US"/>
              <a:t>.</a:t>
            </a:r>
          </a:p>
          <a:p>
            <a:r>
              <a:rPr lang="en-US" b="1"/>
              <a:t>Objective:</a:t>
            </a:r>
          </a:p>
          <a:p>
            <a:pPr lvl="1"/>
            <a:r>
              <a:rPr lang="en-US"/>
              <a:t>Define how much </a:t>
            </a:r>
            <a:r>
              <a:rPr lang="en-US" b="1"/>
              <a:t>funding</a:t>
            </a:r>
            <a:r>
              <a:rPr lang="en-US"/>
              <a:t> is needed and </a:t>
            </a:r>
            <a:r>
              <a:rPr lang="en-US" b="1"/>
              <a:t>when</a:t>
            </a:r>
            <a:endParaRPr lang="en-US"/>
          </a:p>
          <a:p>
            <a:pPr lvl="1"/>
            <a:r>
              <a:rPr lang="en-US"/>
              <a:t>Establish a </a:t>
            </a:r>
            <a:r>
              <a:rPr lang="en-US" b="1"/>
              <a:t>cost baseline</a:t>
            </a:r>
            <a:r>
              <a:rPr lang="en-US"/>
              <a:t> for performance measurement</a:t>
            </a:r>
          </a:p>
          <a:p>
            <a:pPr lvl="1"/>
            <a:r>
              <a:rPr lang="en-US"/>
              <a:t>Enable </a:t>
            </a:r>
            <a:r>
              <a:rPr lang="en-US" b="1"/>
              <a:t>tracking of actual costs vs. planned costs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3DF8D-7A7A-F76F-B025-E317CDE93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Cost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A18B2-6BCC-FE92-F07D-868307D97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Cost control</a:t>
            </a:r>
            <a:r>
              <a:rPr lang="en-US"/>
              <a:t> is the ongoing process of:</a:t>
            </a:r>
          </a:p>
          <a:p>
            <a:pPr lvl="1"/>
            <a:r>
              <a:rPr lang="en-US" b="1"/>
              <a:t>Monitoring project costs</a:t>
            </a:r>
            <a:endParaRPr lang="en-US"/>
          </a:p>
          <a:p>
            <a:pPr lvl="1"/>
            <a:r>
              <a:rPr lang="en-US" b="1"/>
              <a:t>Measuring cost performance</a:t>
            </a:r>
            <a:endParaRPr lang="en-US"/>
          </a:p>
          <a:p>
            <a:pPr lvl="1"/>
            <a:r>
              <a:rPr lang="en-US" b="1"/>
              <a:t>Ensuring project stays within the approved budget</a:t>
            </a:r>
            <a:endParaRPr lang="en-US"/>
          </a:p>
          <a:p>
            <a:pPr lvl="1"/>
            <a:r>
              <a:rPr lang="en-US" b="1"/>
              <a:t>Taking corrective actions</a:t>
            </a:r>
            <a:r>
              <a:rPr lang="en-US"/>
              <a:t> when there are cost overruns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097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6AC0F-E7AB-3BA2-9BC3-F2D03241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Phases in Cost Budgeting and Control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244C6-AC5C-8F49-567B-E5BA5A9FD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831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A. Cost Budgeting Steps:</a:t>
            </a:r>
          </a:p>
          <a:p>
            <a:pPr lvl="1"/>
            <a:r>
              <a:rPr lang="en-US" b="1"/>
              <a:t>Determine project WBS</a:t>
            </a:r>
            <a:r>
              <a:rPr lang="en-US"/>
              <a:t> (Work Breakdown Structure)</a:t>
            </a:r>
          </a:p>
          <a:p>
            <a:pPr lvl="1"/>
            <a:r>
              <a:rPr lang="en-US" b="1"/>
              <a:t>Estimate costs</a:t>
            </a:r>
            <a:r>
              <a:rPr lang="en-US"/>
              <a:t> for each work package</a:t>
            </a:r>
          </a:p>
          <a:p>
            <a:pPr lvl="1"/>
            <a:r>
              <a:rPr lang="en-US" b="1"/>
              <a:t>Aggregate costs</a:t>
            </a:r>
            <a:r>
              <a:rPr lang="en-US"/>
              <a:t> to form the total project budget</a:t>
            </a:r>
          </a:p>
          <a:p>
            <a:pPr lvl="1"/>
            <a:r>
              <a:rPr lang="en-US" b="1"/>
              <a:t>Define cost baseline</a:t>
            </a:r>
            <a:r>
              <a:rPr lang="en-US"/>
              <a:t> with time-phased expenditure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B. Cost Control Steps:</a:t>
            </a:r>
          </a:p>
          <a:p>
            <a:pPr lvl="1"/>
            <a:r>
              <a:rPr lang="en-US" b="1"/>
              <a:t>Track actual spending</a:t>
            </a:r>
            <a:endParaRPr lang="en-US"/>
          </a:p>
          <a:p>
            <a:pPr lvl="1"/>
            <a:r>
              <a:rPr lang="en-US" b="1"/>
              <a:t>Compare with baseline</a:t>
            </a:r>
            <a:endParaRPr lang="en-US"/>
          </a:p>
          <a:p>
            <a:pPr lvl="1"/>
            <a:r>
              <a:rPr lang="en-US" b="1"/>
              <a:t>Calculate cost variances (CV) and cost performance index (CPI)</a:t>
            </a:r>
            <a:endParaRPr lang="en-US"/>
          </a:p>
          <a:p>
            <a:pPr lvl="1"/>
            <a:r>
              <a:rPr lang="en-US" b="1"/>
              <a:t>Forecast future performance</a:t>
            </a:r>
            <a:endParaRPr lang="en-US"/>
          </a:p>
          <a:p>
            <a:pPr lvl="1"/>
            <a:r>
              <a:rPr lang="en-US" b="1"/>
              <a:t>Implement corrective actions</a:t>
            </a:r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908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AD433-7498-DBCB-7E5A-4CB3A912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Key Terms &amp; Formulas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DDE2EB-0450-1898-4AF9-20A451D62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14" y="1799771"/>
            <a:ext cx="10668600" cy="401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20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4400C-9DBB-D267-6EE1-AFC3545D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137205"/>
            <a:ext cx="8229600" cy="1143000"/>
          </a:xfrm>
        </p:spPr>
        <p:txBody>
          <a:bodyPr/>
          <a:lstStyle/>
          <a:p>
            <a:r>
              <a:rPr lang="en-US"/>
              <a:t>Example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AFFF4-5B7C-E94D-4B38-2BEF7D87B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885371"/>
            <a:ext cx="8229600" cy="51525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/>
              <a:t>Project: Development of an ERP Module</a:t>
            </a:r>
          </a:p>
          <a:p>
            <a:pPr lvl="1"/>
            <a:r>
              <a:rPr lang="en-IN"/>
              <a:t>Total Budget (BAC) = ₹10,00,000</a:t>
            </a:r>
          </a:p>
          <a:p>
            <a:pPr lvl="1"/>
            <a:r>
              <a:rPr lang="en-IN"/>
              <a:t>Planned Work for 2 Months (PV) = ₹4,00,000</a:t>
            </a:r>
          </a:p>
          <a:p>
            <a:pPr lvl="1"/>
            <a:r>
              <a:rPr lang="en-IN"/>
              <a:t>Completed Work Value (EV) = ₹3,50,000</a:t>
            </a:r>
          </a:p>
          <a:p>
            <a:pPr lvl="1"/>
            <a:r>
              <a:rPr lang="en-IN"/>
              <a:t>Actual Cost so far (AC) = ₹4,50,000</a:t>
            </a:r>
          </a:p>
          <a:p>
            <a:r>
              <a:rPr lang="en-IN" b="1"/>
              <a:t>Step 1: Calculate CV and CPI</a:t>
            </a:r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endParaRPr lang="en-IN" b="1"/>
          </a:p>
          <a:p>
            <a:r>
              <a:rPr lang="en-IN" b="1"/>
              <a:t>Step 2: Forecast Final Cost</a:t>
            </a:r>
          </a:p>
          <a:p>
            <a:endParaRPr lang="en-IN" b="1"/>
          </a:p>
          <a:p>
            <a:endParaRPr lang="en-IN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56113F-9445-8022-999F-F6DE38827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720" y="4178285"/>
            <a:ext cx="7917249" cy="871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07962B-BA57-3B2E-7956-6BEC91664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626" y="5864674"/>
            <a:ext cx="7026159" cy="44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169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925</Words>
  <Application>Microsoft Office PowerPoint</Application>
  <PresentationFormat>Widescreen</PresentationFormat>
  <Paragraphs>118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Software Project Management</vt:lpstr>
      <vt:lpstr>Contents</vt:lpstr>
      <vt:lpstr>Putnam / SLIM Model</vt:lpstr>
      <vt:lpstr>Putnam / SLIM Model</vt:lpstr>
      <vt:lpstr>Rayleigh Curve</vt:lpstr>
      <vt:lpstr>Putnam Equation</vt:lpstr>
      <vt:lpstr>Assumptions of the SLIM Model</vt:lpstr>
      <vt:lpstr>Example</vt:lpstr>
      <vt:lpstr>Estimating by Analogy</vt:lpstr>
      <vt:lpstr>Estimating by Analogy</vt:lpstr>
      <vt:lpstr>Example</vt:lpstr>
      <vt:lpstr>Applications of Estimating by Analogy</vt:lpstr>
      <vt:lpstr>Advantages</vt:lpstr>
      <vt:lpstr>Cost Budgeting and Control</vt:lpstr>
      <vt:lpstr>Cost Budgeting and Control</vt:lpstr>
      <vt:lpstr>Cost Control</vt:lpstr>
      <vt:lpstr>Phases in Cost Budgeting and Control</vt:lpstr>
      <vt:lpstr>Key Terms &amp; Formulas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OMISHA  SHARMA</dc:creator>
  <cp:lastModifiedBy>Achyut Shankar</cp:lastModifiedBy>
  <cp:revision>4</cp:revision>
  <dcterms:created xsi:type="dcterms:W3CDTF">2025-07-04T15:10:58Z</dcterms:created>
  <dcterms:modified xsi:type="dcterms:W3CDTF">2025-09-19T10:14:55Z</dcterms:modified>
</cp:coreProperties>
</file>