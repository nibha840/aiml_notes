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5" r:id="rId1"/>
  </p:sldMasterIdLst>
  <p:sldIdLst>
    <p:sldId id="256" r:id="rId2"/>
    <p:sldId id="257" r:id="rId3"/>
    <p:sldId id="258" r:id="rId4"/>
    <p:sldId id="259" r:id="rId5"/>
    <p:sldId id="260" r:id="rId6"/>
    <p:sldId id="261" r:id="rId7"/>
    <p:sldId id="262" r:id="rId8"/>
    <p:sldId id="263" r:id="rId9"/>
    <p:sldId id="268" r:id="rId10"/>
    <p:sldId id="269" r:id="rId11"/>
    <p:sldId id="270" r:id="rId12"/>
    <p:sldId id="271" r:id="rId13"/>
    <p:sldId id="272" r:id="rId14"/>
    <p:sldId id="273" r:id="rId15"/>
    <p:sldId id="27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49B2B-F965-C9C9-5B06-7534395666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EB4EEF3-A5DC-101F-8489-91E1730292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C1AF7BF-9FE1-65F9-EEFE-F6B8C11CFFD8}"/>
              </a:ext>
            </a:extLst>
          </p:cNvPr>
          <p:cNvSpPr>
            <a:spLocks noGrp="1"/>
          </p:cNvSpPr>
          <p:nvPr>
            <p:ph type="dt" sz="half" idx="10"/>
          </p:nvPr>
        </p:nvSpPr>
        <p:spPr/>
        <p:txBody>
          <a:bodyPr/>
          <a:lstStyle/>
          <a:p>
            <a:fld id="{31A3470B-2559-42FD-9C76-BC587DE3552C}" type="datetimeFigureOut">
              <a:rPr lang="en-IN" smtClean="0"/>
              <a:t>27-07-2025</a:t>
            </a:fld>
            <a:endParaRPr lang="en-IN"/>
          </a:p>
        </p:txBody>
      </p:sp>
      <p:sp>
        <p:nvSpPr>
          <p:cNvPr id="5" name="Footer Placeholder 4">
            <a:extLst>
              <a:ext uri="{FF2B5EF4-FFF2-40B4-BE49-F238E27FC236}">
                <a16:creationId xmlns:a16="http://schemas.microsoft.com/office/drawing/2014/main" id="{B1D54EB1-AB86-F265-6C9E-62DBDE7BB7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9D8E6E-7B6A-23F6-256E-AD50800B382D}"/>
              </a:ext>
            </a:extLst>
          </p:cNvPr>
          <p:cNvSpPr>
            <a:spLocks noGrp="1"/>
          </p:cNvSpPr>
          <p:nvPr>
            <p:ph type="sldNum" sz="quarter" idx="12"/>
          </p:nvPr>
        </p:nvSpPr>
        <p:spPr/>
        <p:txBody>
          <a:bodyPr/>
          <a:lstStyle/>
          <a:p>
            <a:fld id="{4D55FD1B-7322-49FB-AE83-AEAC5BA21284}" type="slidenum">
              <a:rPr lang="en-IN" smtClean="0"/>
              <a:t>‹#›</a:t>
            </a:fld>
            <a:endParaRPr lang="en-IN"/>
          </a:p>
        </p:txBody>
      </p:sp>
    </p:spTree>
    <p:extLst>
      <p:ext uri="{BB962C8B-B14F-4D97-AF65-F5344CB8AC3E}">
        <p14:creationId xmlns:p14="http://schemas.microsoft.com/office/powerpoint/2010/main" val="2183786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D8851-6FF5-9A80-A95B-68827463E38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0F4E00D-B1A3-25CE-97F1-E0F4C4E1F5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DDDCF8-2D5A-86B3-7D59-DCA184034A94}"/>
              </a:ext>
            </a:extLst>
          </p:cNvPr>
          <p:cNvSpPr>
            <a:spLocks noGrp="1"/>
          </p:cNvSpPr>
          <p:nvPr>
            <p:ph type="dt" sz="half" idx="10"/>
          </p:nvPr>
        </p:nvSpPr>
        <p:spPr/>
        <p:txBody>
          <a:bodyPr/>
          <a:lstStyle/>
          <a:p>
            <a:fld id="{31A3470B-2559-42FD-9C76-BC587DE3552C}" type="datetimeFigureOut">
              <a:rPr lang="en-IN" smtClean="0"/>
              <a:t>27-07-2025</a:t>
            </a:fld>
            <a:endParaRPr lang="en-IN"/>
          </a:p>
        </p:txBody>
      </p:sp>
      <p:sp>
        <p:nvSpPr>
          <p:cNvPr id="5" name="Footer Placeholder 4">
            <a:extLst>
              <a:ext uri="{FF2B5EF4-FFF2-40B4-BE49-F238E27FC236}">
                <a16:creationId xmlns:a16="http://schemas.microsoft.com/office/drawing/2014/main" id="{BC562D8C-8E0E-D94F-29CA-C8B15EEC1C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176A28D-C842-FEAA-70C9-35B848F2AD9E}"/>
              </a:ext>
            </a:extLst>
          </p:cNvPr>
          <p:cNvSpPr>
            <a:spLocks noGrp="1"/>
          </p:cNvSpPr>
          <p:nvPr>
            <p:ph type="sldNum" sz="quarter" idx="12"/>
          </p:nvPr>
        </p:nvSpPr>
        <p:spPr/>
        <p:txBody>
          <a:bodyPr/>
          <a:lstStyle/>
          <a:p>
            <a:fld id="{4D55FD1B-7322-49FB-AE83-AEAC5BA21284}" type="slidenum">
              <a:rPr lang="en-IN" smtClean="0"/>
              <a:t>‹#›</a:t>
            </a:fld>
            <a:endParaRPr lang="en-IN"/>
          </a:p>
        </p:txBody>
      </p:sp>
    </p:spTree>
    <p:extLst>
      <p:ext uri="{BB962C8B-B14F-4D97-AF65-F5344CB8AC3E}">
        <p14:creationId xmlns:p14="http://schemas.microsoft.com/office/powerpoint/2010/main" val="1603400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73AE6-22CC-FEE9-2693-63168C3D83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00856DC-D1C3-7E81-C591-DD83C3A2E40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64F1F64-0D55-5B93-B47F-38B0388EE61C}"/>
              </a:ext>
            </a:extLst>
          </p:cNvPr>
          <p:cNvSpPr>
            <a:spLocks noGrp="1"/>
          </p:cNvSpPr>
          <p:nvPr>
            <p:ph type="dt" sz="half" idx="10"/>
          </p:nvPr>
        </p:nvSpPr>
        <p:spPr/>
        <p:txBody>
          <a:bodyPr/>
          <a:lstStyle/>
          <a:p>
            <a:fld id="{31A3470B-2559-42FD-9C76-BC587DE3552C}" type="datetimeFigureOut">
              <a:rPr lang="en-IN" smtClean="0"/>
              <a:t>27-07-2025</a:t>
            </a:fld>
            <a:endParaRPr lang="en-IN"/>
          </a:p>
        </p:txBody>
      </p:sp>
      <p:sp>
        <p:nvSpPr>
          <p:cNvPr id="5" name="Footer Placeholder 4">
            <a:extLst>
              <a:ext uri="{FF2B5EF4-FFF2-40B4-BE49-F238E27FC236}">
                <a16:creationId xmlns:a16="http://schemas.microsoft.com/office/drawing/2014/main" id="{A64A7ACF-8553-55F8-9361-A2CB27EBE1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72AA05-3864-C177-9156-D10C8762F93E}"/>
              </a:ext>
            </a:extLst>
          </p:cNvPr>
          <p:cNvSpPr>
            <a:spLocks noGrp="1"/>
          </p:cNvSpPr>
          <p:nvPr>
            <p:ph type="sldNum" sz="quarter" idx="12"/>
          </p:nvPr>
        </p:nvSpPr>
        <p:spPr/>
        <p:txBody>
          <a:bodyPr/>
          <a:lstStyle/>
          <a:p>
            <a:fld id="{4D55FD1B-7322-49FB-AE83-AEAC5BA21284}" type="slidenum">
              <a:rPr lang="en-IN" smtClean="0"/>
              <a:t>‹#›</a:t>
            </a:fld>
            <a:endParaRPr lang="en-IN"/>
          </a:p>
        </p:txBody>
      </p:sp>
    </p:spTree>
    <p:extLst>
      <p:ext uri="{BB962C8B-B14F-4D97-AF65-F5344CB8AC3E}">
        <p14:creationId xmlns:p14="http://schemas.microsoft.com/office/powerpoint/2010/main" val="1435484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D8523-AE58-7F7D-D7D9-C463B6FBEF0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AB6347E-B4F3-AFF3-E45B-3165F63FE55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9350CE3-F8AD-D183-FC9A-E58D961CAF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3F13307-37A5-8661-6033-C9955E5D4033}"/>
              </a:ext>
            </a:extLst>
          </p:cNvPr>
          <p:cNvSpPr>
            <a:spLocks noGrp="1"/>
          </p:cNvSpPr>
          <p:nvPr>
            <p:ph type="dt" sz="half" idx="10"/>
          </p:nvPr>
        </p:nvSpPr>
        <p:spPr/>
        <p:txBody>
          <a:bodyPr/>
          <a:lstStyle/>
          <a:p>
            <a:fld id="{31A3470B-2559-42FD-9C76-BC587DE3552C}" type="datetimeFigureOut">
              <a:rPr lang="en-IN" smtClean="0"/>
              <a:t>27-07-2025</a:t>
            </a:fld>
            <a:endParaRPr lang="en-IN"/>
          </a:p>
        </p:txBody>
      </p:sp>
      <p:sp>
        <p:nvSpPr>
          <p:cNvPr id="6" name="Footer Placeholder 5">
            <a:extLst>
              <a:ext uri="{FF2B5EF4-FFF2-40B4-BE49-F238E27FC236}">
                <a16:creationId xmlns:a16="http://schemas.microsoft.com/office/drawing/2014/main" id="{06687534-7D4F-6A08-EAE0-614C6EC78A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AE67B8-8727-3A47-A652-8A66D139FA2B}"/>
              </a:ext>
            </a:extLst>
          </p:cNvPr>
          <p:cNvSpPr>
            <a:spLocks noGrp="1"/>
          </p:cNvSpPr>
          <p:nvPr>
            <p:ph type="sldNum" sz="quarter" idx="12"/>
          </p:nvPr>
        </p:nvSpPr>
        <p:spPr/>
        <p:txBody>
          <a:bodyPr/>
          <a:lstStyle/>
          <a:p>
            <a:fld id="{4D55FD1B-7322-49FB-AE83-AEAC5BA21284}" type="slidenum">
              <a:rPr lang="en-IN" smtClean="0"/>
              <a:t>‹#›</a:t>
            </a:fld>
            <a:endParaRPr lang="en-IN"/>
          </a:p>
        </p:txBody>
      </p:sp>
    </p:spTree>
    <p:extLst>
      <p:ext uri="{BB962C8B-B14F-4D97-AF65-F5344CB8AC3E}">
        <p14:creationId xmlns:p14="http://schemas.microsoft.com/office/powerpoint/2010/main" val="3656268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3DA91-928A-A2E2-C909-CB870F71C5F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25DD386-E9F5-4124-AAE7-3815C827857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EAA4841-AF06-CC73-700B-6412C076F6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8FD6BFC-B2E9-C423-B833-B4058F03A4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A75D26-EB95-6464-5037-82E66749D30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C9A64CE-F486-17D1-0F82-AFAE75E1C793}"/>
              </a:ext>
            </a:extLst>
          </p:cNvPr>
          <p:cNvSpPr>
            <a:spLocks noGrp="1"/>
          </p:cNvSpPr>
          <p:nvPr>
            <p:ph type="dt" sz="half" idx="10"/>
          </p:nvPr>
        </p:nvSpPr>
        <p:spPr/>
        <p:txBody>
          <a:bodyPr/>
          <a:lstStyle/>
          <a:p>
            <a:fld id="{31A3470B-2559-42FD-9C76-BC587DE3552C}" type="datetimeFigureOut">
              <a:rPr lang="en-IN" smtClean="0"/>
              <a:t>27-07-2025</a:t>
            </a:fld>
            <a:endParaRPr lang="en-IN"/>
          </a:p>
        </p:txBody>
      </p:sp>
      <p:sp>
        <p:nvSpPr>
          <p:cNvPr id="8" name="Footer Placeholder 7">
            <a:extLst>
              <a:ext uri="{FF2B5EF4-FFF2-40B4-BE49-F238E27FC236}">
                <a16:creationId xmlns:a16="http://schemas.microsoft.com/office/drawing/2014/main" id="{64B01EC9-3F7E-6831-125C-C029704EEEC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7E6B472-D928-5454-893D-5BCDE25CA12E}"/>
              </a:ext>
            </a:extLst>
          </p:cNvPr>
          <p:cNvSpPr>
            <a:spLocks noGrp="1"/>
          </p:cNvSpPr>
          <p:nvPr>
            <p:ph type="sldNum" sz="quarter" idx="12"/>
          </p:nvPr>
        </p:nvSpPr>
        <p:spPr/>
        <p:txBody>
          <a:bodyPr/>
          <a:lstStyle/>
          <a:p>
            <a:fld id="{4D55FD1B-7322-49FB-AE83-AEAC5BA21284}" type="slidenum">
              <a:rPr lang="en-IN" smtClean="0"/>
              <a:t>‹#›</a:t>
            </a:fld>
            <a:endParaRPr lang="en-IN"/>
          </a:p>
        </p:txBody>
      </p:sp>
    </p:spTree>
    <p:extLst>
      <p:ext uri="{BB962C8B-B14F-4D97-AF65-F5344CB8AC3E}">
        <p14:creationId xmlns:p14="http://schemas.microsoft.com/office/powerpoint/2010/main" val="37184396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B3C52-98AE-1786-2D0E-F8745332B29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E638002-FB7B-9DC6-4F57-4741424FD25D}"/>
              </a:ext>
            </a:extLst>
          </p:cNvPr>
          <p:cNvSpPr>
            <a:spLocks noGrp="1"/>
          </p:cNvSpPr>
          <p:nvPr>
            <p:ph type="dt" sz="half" idx="10"/>
          </p:nvPr>
        </p:nvSpPr>
        <p:spPr/>
        <p:txBody>
          <a:bodyPr/>
          <a:lstStyle/>
          <a:p>
            <a:fld id="{31A3470B-2559-42FD-9C76-BC587DE3552C}" type="datetimeFigureOut">
              <a:rPr lang="en-IN" smtClean="0"/>
              <a:t>27-07-2025</a:t>
            </a:fld>
            <a:endParaRPr lang="en-IN"/>
          </a:p>
        </p:txBody>
      </p:sp>
      <p:sp>
        <p:nvSpPr>
          <p:cNvPr id="4" name="Footer Placeholder 3">
            <a:extLst>
              <a:ext uri="{FF2B5EF4-FFF2-40B4-BE49-F238E27FC236}">
                <a16:creationId xmlns:a16="http://schemas.microsoft.com/office/drawing/2014/main" id="{78EBB93F-64C5-4E68-F475-CDCEA77A6C3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1F3809E-D42D-E381-3FCE-F87610389671}"/>
              </a:ext>
            </a:extLst>
          </p:cNvPr>
          <p:cNvSpPr>
            <a:spLocks noGrp="1"/>
          </p:cNvSpPr>
          <p:nvPr>
            <p:ph type="sldNum" sz="quarter" idx="12"/>
          </p:nvPr>
        </p:nvSpPr>
        <p:spPr/>
        <p:txBody>
          <a:bodyPr/>
          <a:lstStyle/>
          <a:p>
            <a:fld id="{4D55FD1B-7322-49FB-AE83-AEAC5BA21284}" type="slidenum">
              <a:rPr lang="en-IN" smtClean="0"/>
              <a:t>‹#›</a:t>
            </a:fld>
            <a:endParaRPr lang="en-IN"/>
          </a:p>
        </p:txBody>
      </p:sp>
    </p:spTree>
    <p:extLst>
      <p:ext uri="{BB962C8B-B14F-4D97-AF65-F5344CB8AC3E}">
        <p14:creationId xmlns:p14="http://schemas.microsoft.com/office/powerpoint/2010/main" val="41128584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8CFD1A-FDFC-B497-F033-482A82F38C7F}"/>
              </a:ext>
            </a:extLst>
          </p:cNvPr>
          <p:cNvSpPr>
            <a:spLocks noGrp="1"/>
          </p:cNvSpPr>
          <p:nvPr>
            <p:ph type="dt" sz="half" idx="10"/>
          </p:nvPr>
        </p:nvSpPr>
        <p:spPr/>
        <p:txBody>
          <a:bodyPr/>
          <a:lstStyle/>
          <a:p>
            <a:fld id="{31A3470B-2559-42FD-9C76-BC587DE3552C}" type="datetimeFigureOut">
              <a:rPr lang="en-IN" smtClean="0"/>
              <a:t>27-07-2025</a:t>
            </a:fld>
            <a:endParaRPr lang="en-IN"/>
          </a:p>
        </p:txBody>
      </p:sp>
      <p:sp>
        <p:nvSpPr>
          <p:cNvPr id="3" name="Footer Placeholder 2">
            <a:extLst>
              <a:ext uri="{FF2B5EF4-FFF2-40B4-BE49-F238E27FC236}">
                <a16:creationId xmlns:a16="http://schemas.microsoft.com/office/drawing/2014/main" id="{36A930C6-A330-2170-436F-1146CA41B59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C5B1D15-F4AC-D645-1F5F-C0B815BF063C}"/>
              </a:ext>
            </a:extLst>
          </p:cNvPr>
          <p:cNvSpPr>
            <a:spLocks noGrp="1"/>
          </p:cNvSpPr>
          <p:nvPr>
            <p:ph type="sldNum" sz="quarter" idx="12"/>
          </p:nvPr>
        </p:nvSpPr>
        <p:spPr/>
        <p:txBody>
          <a:bodyPr/>
          <a:lstStyle/>
          <a:p>
            <a:fld id="{4D55FD1B-7322-49FB-AE83-AEAC5BA21284}" type="slidenum">
              <a:rPr lang="en-IN" smtClean="0"/>
              <a:t>‹#›</a:t>
            </a:fld>
            <a:endParaRPr lang="en-IN"/>
          </a:p>
        </p:txBody>
      </p:sp>
    </p:spTree>
    <p:extLst>
      <p:ext uri="{BB962C8B-B14F-4D97-AF65-F5344CB8AC3E}">
        <p14:creationId xmlns:p14="http://schemas.microsoft.com/office/powerpoint/2010/main" val="25694997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E36DF-FF4B-E1FE-16A3-15DC4BAD92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92AAE7F-81DD-5F7B-4846-4DB0ADB25BB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8727CEA-C394-AAC8-F007-37AA6F9CC7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EC4EC2-B9E0-E561-F448-22E202D948C7}"/>
              </a:ext>
            </a:extLst>
          </p:cNvPr>
          <p:cNvSpPr>
            <a:spLocks noGrp="1"/>
          </p:cNvSpPr>
          <p:nvPr>
            <p:ph type="dt" sz="half" idx="10"/>
          </p:nvPr>
        </p:nvSpPr>
        <p:spPr/>
        <p:txBody>
          <a:bodyPr/>
          <a:lstStyle/>
          <a:p>
            <a:fld id="{31A3470B-2559-42FD-9C76-BC587DE3552C}" type="datetimeFigureOut">
              <a:rPr lang="en-IN" smtClean="0"/>
              <a:t>27-07-2025</a:t>
            </a:fld>
            <a:endParaRPr lang="en-IN"/>
          </a:p>
        </p:txBody>
      </p:sp>
      <p:sp>
        <p:nvSpPr>
          <p:cNvPr id="6" name="Footer Placeholder 5">
            <a:extLst>
              <a:ext uri="{FF2B5EF4-FFF2-40B4-BE49-F238E27FC236}">
                <a16:creationId xmlns:a16="http://schemas.microsoft.com/office/drawing/2014/main" id="{11C11A46-2073-6D2E-6ECE-ECA7864CF61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6D4132-6EFC-77AA-E7E0-9D6D1343977C}"/>
              </a:ext>
            </a:extLst>
          </p:cNvPr>
          <p:cNvSpPr>
            <a:spLocks noGrp="1"/>
          </p:cNvSpPr>
          <p:nvPr>
            <p:ph type="sldNum" sz="quarter" idx="12"/>
          </p:nvPr>
        </p:nvSpPr>
        <p:spPr/>
        <p:txBody>
          <a:bodyPr/>
          <a:lstStyle/>
          <a:p>
            <a:fld id="{4D55FD1B-7322-49FB-AE83-AEAC5BA21284}" type="slidenum">
              <a:rPr lang="en-IN" smtClean="0"/>
              <a:t>‹#›</a:t>
            </a:fld>
            <a:endParaRPr lang="en-IN"/>
          </a:p>
        </p:txBody>
      </p:sp>
    </p:spTree>
    <p:extLst>
      <p:ext uri="{BB962C8B-B14F-4D97-AF65-F5344CB8AC3E}">
        <p14:creationId xmlns:p14="http://schemas.microsoft.com/office/powerpoint/2010/main" val="2400141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53753-528C-10DA-67AD-C35F39F6C8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0F0E7E8-CEC4-979F-313D-307B05ED2C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DD5F860-F7DE-8B28-8E24-44B596AEC7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C8CE2C-424B-458C-5D67-6DE6DA45FE32}"/>
              </a:ext>
            </a:extLst>
          </p:cNvPr>
          <p:cNvSpPr>
            <a:spLocks noGrp="1"/>
          </p:cNvSpPr>
          <p:nvPr>
            <p:ph type="dt" sz="half" idx="10"/>
          </p:nvPr>
        </p:nvSpPr>
        <p:spPr/>
        <p:txBody>
          <a:bodyPr/>
          <a:lstStyle/>
          <a:p>
            <a:fld id="{31A3470B-2559-42FD-9C76-BC587DE3552C}" type="datetimeFigureOut">
              <a:rPr lang="en-IN" smtClean="0"/>
              <a:t>27-07-2025</a:t>
            </a:fld>
            <a:endParaRPr lang="en-IN"/>
          </a:p>
        </p:txBody>
      </p:sp>
      <p:sp>
        <p:nvSpPr>
          <p:cNvPr id="6" name="Footer Placeholder 5">
            <a:extLst>
              <a:ext uri="{FF2B5EF4-FFF2-40B4-BE49-F238E27FC236}">
                <a16:creationId xmlns:a16="http://schemas.microsoft.com/office/drawing/2014/main" id="{4A0D981A-4A80-3EB5-09B3-3A3A2987F5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7F95C2-5BBB-22D8-E144-A8A3009D2BFD}"/>
              </a:ext>
            </a:extLst>
          </p:cNvPr>
          <p:cNvSpPr>
            <a:spLocks noGrp="1"/>
          </p:cNvSpPr>
          <p:nvPr>
            <p:ph type="sldNum" sz="quarter" idx="12"/>
          </p:nvPr>
        </p:nvSpPr>
        <p:spPr/>
        <p:txBody>
          <a:bodyPr/>
          <a:lstStyle/>
          <a:p>
            <a:fld id="{4D55FD1B-7322-49FB-AE83-AEAC5BA21284}" type="slidenum">
              <a:rPr lang="en-IN" smtClean="0"/>
              <a:t>‹#›</a:t>
            </a:fld>
            <a:endParaRPr lang="en-IN"/>
          </a:p>
        </p:txBody>
      </p:sp>
    </p:spTree>
    <p:extLst>
      <p:ext uri="{BB962C8B-B14F-4D97-AF65-F5344CB8AC3E}">
        <p14:creationId xmlns:p14="http://schemas.microsoft.com/office/powerpoint/2010/main" val="1004598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85AED-F4A0-018B-3B79-2A43232F028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4DCBE36-B1B1-7215-C867-E15A0410A0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6F8F3A2-DD91-D463-C1D4-0C8CF73294FC}"/>
              </a:ext>
            </a:extLst>
          </p:cNvPr>
          <p:cNvSpPr>
            <a:spLocks noGrp="1"/>
          </p:cNvSpPr>
          <p:nvPr>
            <p:ph type="dt" sz="half" idx="10"/>
          </p:nvPr>
        </p:nvSpPr>
        <p:spPr/>
        <p:txBody>
          <a:bodyPr/>
          <a:lstStyle/>
          <a:p>
            <a:fld id="{31A3470B-2559-42FD-9C76-BC587DE3552C}" type="datetimeFigureOut">
              <a:rPr lang="en-IN" smtClean="0"/>
              <a:t>27-07-2025</a:t>
            </a:fld>
            <a:endParaRPr lang="en-IN"/>
          </a:p>
        </p:txBody>
      </p:sp>
      <p:sp>
        <p:nvSpPr>
          <p:cNvPr id="5" name="Footer Placeholder 4">
            <a:extLst>
              <a:ext uri="{FF2B5EF4-FFF2-40B4-BE49-F238E27FC236}">
                <a16:creationId xmlns:a16="http://schemas.microsoft.com/office/drawing/2014/main" id="{D86F9936-3E5D-B661-D024-B0D09611235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91EDE3-FB4A-3F2C-45BF-F55D5461AB04}"/>
              </a:ext>
            </a:extLst>
          </p:cNvPr>
          <p:cNvSpPr>
            <a:spLocks noGrp="1"/>
          </p:cNvSpPr>
          <p:nvPr>
            <p:ph type="sldNum" sz="quarter" idx="12"/>
          </p:nvPr>
        </p:nvSpPr>
        <p:spPr/>
        <p:txBody>
          <a:bodyPr/>
          <a:lstStyle/>
          <a:p>
            <a:fld id="{4D55FD1B-7322-49FB-AE83-AEAC5BA21284}" type="slidenum">
              <a:rPr lang="en-IN" smtClean="0"/>
              <a:t>‹#›</a:t>
            </a:fld>
            <a:endParaRPr lang="en-IN"/>
          </a:p>
        </p:txBody>
      </p:sp>
    </p:spTree>
    <p:extLst>
      <p:ext uri="{BB962C8B-B14F-4D97-AF65-F5344CB8AC3E}">
        <p14:creationId xmlns:p14="http://schemas.microsoft.com/office/powerpoint/2010/main" val="2399090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B2D26D6-B57F-6C6D-D0C9-BFBF85CA3C9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E86CF89-8506-F285-2D73-BBB4B89481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C0C0FD-0C19-E9B5-5B4D-9B1B9F57D909}"/>
              </a:ext>
            </a:extLst>
          </p:cNvPr>
          <p:cNvSpPr>
            <a:spLocks noGrp="1"/>
          </p:cNvSpPr>
          <p:nvPr>
            <p:ph type="dt" sz="half" idx="10"/>
          </p:nvPr>
        </p:nvSpPr>
        <p:spPr/>
        <p:txBody>
          <a:bodyPr/>
          <a:lstStyle/>
          <a:p>
            <a:fld id="{31A3470B-2559-42FD-9C76-BC587DE3552C}" type="datetimeFigureOut">
              <a:rPr lang="en-IN" smtClean="0"/>
              <a:t>27-07-2025</a:t>
            </a:fld>
            <a:endParaRPr lang="en-IN"/>
          </a:p>
        </p:txBody>
      </p:sp>
      <p:sp>
        <p:nvSpPr>
          <p:cNvPr id="5" name="Footer Placeholder 4">
            <a:extLst>
              <a:ext uri="{FF2B5EF4-FFF2-40B4-BE49-F238E27FC236}">
                <a16:creationId xmlns:a16="http://schemas.microsoft.com/office/drawing/2014/main" id="{74DE52C9-6C1C-A7AB-E133-CE36EEDDCC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584E79-91E5-DC5F-AC24-78B83A1AF8BE}"/>
              </a:ext>
            </a:extLst>
          </p:cNvPr>
          <p:cNvSpPr>
            <a:spLocks noGrp="1"/>
          </p:cNvSpPr>
          <p:nvPr>
            <p:ph type="sldNum" sz="quarter" idx="12"/>
          </p:nvPr>
        </p:nvSpPr>
        <p:spPr/>
        <p:txBody>
          <a:bodyPr/>
          <a:lstStyle/>
          <a:p>
            <a:fld id="{4D55FD1B-7322-49FB-AE83-AEAC5BA21284}" type="slidenum">
              <a:rPr lang="en-IN" smtClean="0"/>
              <a:t>‹#›</a:t>
            </a:fld>
            <a:endParaRPr lang="en-IN"/>
          </a:p>
        </p:txBody>
      </p:sp>
    </p:spTree>
    <p:extLst>
      <p:ext uri="{BB962C8B-B14F-4D97-AF65-F5344CB8AC3E}">
        <p14:creationId xmlns:p14="http://schemas.microsoft.com/office/powerpoint/2010/main" val="3528050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D88CE3-06E5-54C7-F3C3-1476316EAD9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8D6C853-9479-386D-EC66-C9C73AC976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B7D8AC-2C0E-ACFB-4549-15912CE994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1A3470B-2559-42FD-9C76-BC587DE3552C}" type="datetimeFigureOut">
              <a:rPr lang="en-IN" smtClean="0"/>
              <a:t>27-07-2025</a:t>
            </a:fld>
            <a:endParaRPr lang="en-IN"/>
          </a:p>
        </p:txBody>
      </p:sp>
      <p:sp>
        <p:nvSpPr>
          <p:cNvPr id="5" name="Footer Placeholder 4">
            <a:extLst>
              <a:ext uri="{FF2B5EF4-FFF2-40B4-BE49-F238E27FC236}">
                <a16:creationId xmlns:a16="http://schemas.microsoft.com/office/drawing/2014/main" id="{C2007BB8-FA23-3C8C-3D38-E66DEB18373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3B299A8-60E7-6DAE-0128-D91BA2F0B9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D55FD1B-7322-49FB-AE83-AEAC5BA21284}" type="slidenum">
              <a:rPr lang="en-IN" smtClean="0"/>
              <a:t>‹#›</a:t>
            </a:fld>
            <a:endParaRPr lang="en-IN"/>
          </a:p>
        </p:txBody>
      </p:sp>
    </p:spTree>
    <p:extLst>
      <p:ext uri="{BB962C8B-B14F-4D97-AF65-F5344CB8AC3E}">
        <p14:creationId xmlns:p14="http://schemas.microsoft.com/office/powerpoint/2010/main" val="3796856492"/>
      </p:ext>
    </p:extLst>
  </p:cSld>
  <p:clrMap bg1="lt1" tx1="dk1" bg2="lt2" tx2="dk2" accent1="accent1" accent2="accent2" accent3="accent3" accent4="accent4" accent5="accent5" accent6="accent6" hlink="hlink" folHlink="folHlink"/>
  <p:sldLayoutIdLst>
    <p:sldLayoutId id="2147483936" r:id="rId1"/>
    <p:sldLayoutId id="2147483937" r:id="rId2"/>
    <p:sldLayoutId id="2147483938" r:id="rId3"/>
    <p:sldLayoutId id="2147483939" r:id="rId4"/>
    <p:sldLayoutId id="2147483940" r:id="rId5"/>
    <p:sldLayoutId id="2147483941" r:id="rId6"/>
    <p:sldLayoutId id="2147483942" r:id="rId7"/>
    <p:sldLayoutId id="2147483943" r:id="rId8"/>
    <p:sldLayoutId id="2147483944" r:id="rId9"/>
    <p:sldLayoutId id="2147483945" r:id="rId10"/>
    <p:sldLayoutId id="214748394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F6045-9CCF-4D11-A3BE-3E125DD13C6B}"/>
              </a:ext>
            </a:extLst>
          </p:cNvPr>
          <p:cNvSpPr>
            <a:spLocks noGrp="1"/>
          </p:cNvSpPr>
          <p:nvPr>
            <p:ph type="ctrTitle"/>
          </p:nvPr>
        </p:nvSpPr>
        <p:spPr>
          <a:xfrm>
            <a:off x="1428542" y="456650"/>
            <a:ext cx="9334916" cy="1650445"/>
          </a:xfrm>
        </p:spPr>
        <p:txBody>
          <a:bodyPr>
            <a:normAutofit fontScale="90000"/>
          </a:bodyPr>
          <a:lstStyle/>
          <a:p>
            <a:r>
              <a:rPr lang="en-US" dirty="0">
                <a:solidFill>
                  <a:schemeClr val="tx1"/>
                </a:solidFill>
              </a:rPr>
              <a:t>Software Requirement specification</a:t>
            </a:r>
            <a:endParaRPr lang="en-IN" dirty="0">
              <a:solidFill>
                <a:schemeClr val="tx1"/>
              </a:solidFill>
            </a:endParaRPr>
          </a:p>
        </p:txBody>
      </p:sp>
    </p:spTree>
    <p:extLst>
      <p:ext uri="{BB962C8B-B14F-4D97-AF65-F5344CB8AC3E}">
        <p14:creationId xmlns:p14="http://schemas.microsoft.com/office/powerpoint/2010/main" val="1266864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E2854-807E-4531-BC2C-93995B0D9DC0}"/>
              </a:ext>
            </a:extLst>
          </p:cNvPr>
          <p:cNvSpPr>
            <a:spLocks noGrp="1"/>
          </p:cNvSpPr>
          <p:nvPr>
            <p:ph type="title"/>
          </p:nvPr>
        </p:nvSpPr>
        <p:spPr>
          <a:xfrm>
            <a:off x="810000" y="622852"/>
            <a:ext cx="10571998" cy="768625"/>
          </a:xfrm>
        </p:spPr>
        <p:txBody>
          <a:bodyPr>
            <a:normAutofit/>
          </a:bodyPr>
          <a:lstStyle/>
          <a:p>
            <a:r>
              <a:rPr lang="en-US" dirty="0"/>
              <a:t>Table of Content</a:t>
            </a:r>
            <a:endParaRPr lang="en-IN" dirty="0"/>
          </a:p>
        </p:txBody>
      </p:sp>
      <p:sp>
        <p:nvSpPr>
          <p:cNvPr id="3" name="Content Placeholder 2">
            <a:extLst>
              <a:ext uri="{FF2B5EF4-FFF2-40B4-BE49-F238E27FC236}">
                <a16:creationId xmlns:a16="http://schemas.microsoft.com/office/drawing/2014/main" id="{8CA4691F-74AD-463C-822F-B1F693AE0AD7}"/>
              </a:ext>
            </a:extLst>
          </p:cNvPr>
          <p:cNvSpPr>
            <a:spLocks noGrp="1"/>
          </p:cNvSpPr>
          <p:nvPr>
            <p:ph idx="1"/>
          </p:nvPr>
        </p:nvSpPr>
        <p:spPr>
          <a:xfrm>
            <a:off x="818712" y="1577009"/>
            <a:ext cx="10554574" cy="4281789"/>
          </a:xfrm>
        </p:spPr>
        <p:txBody>
          <a:bodyPr/>
          <a:lstStyle/>
          <a:p>
            <a:r>
              <a:rPr lang="en-US" dirty="0"/>
              <a:t>What is SRS</a:t>
            </a:r>
          </a:p>
          <a:p>
            <a:r>
              <a:rPr lang="en-US" dirty="0"/>
              <a:t>Nature of SRS</a:t>
            </a:r>
          </a:p>
          <a:p>
            <a:r>
              <a:rPr lang="en-US" dirty="0"/>
              <a:t>Role of SRS</a:t>
            </a:r>
          </a:p>
          <a:p>
            <a:r>
              <a:rPr lang="en-US" dirty="0"/>
              <a:t>Characteristics of good SRS</a:t>
            </a:r>
          </a:p>
          <a:p>
            <a:r>
              <a:rPr lang="en-US" dirty="0"/>
              <a:t>Template</a:t>
            </a:r>
          </a:p>
          <a:p>
            <a:r>
              <a:rPr lang="en-US" dirty="0"/>
              <a:t>SRS template description</a:t>
            </a:r>
          </a:p>
          <a:p>
            <a:endParaRPr lang="en-US" dirty="0"/>
          </a:p>
          <a:p>
            <a:endParaRPr lang="en-IN" dirty="0"/>
          </a:p>
        </p:txBody>
      </p:sp>
    </p:spTree>
    <p:extLst>
      <p:ext uri="{BB962C8B-B14F-4D97-AF65-F5344CB8AC3E}">
        <p14:creationId xmlns:p14="http://schemas.microsoft.com/office/powerpoint/2010/main" val="34317955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CC858-4690-4C61-A9D6-85CCB5445471}"/>
              </a:ext>
            </a:extLst>
          </p:cNvPr>
          <p:cNvSpPr>
            <a:spLocks noGrp="1"/>
          </p:cNvSpPr>
          <p:nvPr>
            <p:ph type="title"/>
          </p:nvPr>
        </p:nvSpPr>
        <p:spPr>
          <a:xfrm>
            <a:off x="2592925" y="624110"/>
            <a:ext cx="8911687" cy="528829"/>
          </a:xfrm>
        </p:spPr>
        <p:txBody>
          <a:bodyPr>
            <a:normAutofit fontScale="90000"/>
          </a:bodyPr>
          <a:lstStyle/>
          <a:p>
            <a:r>
              <a:rPr lang="en-US" dirty="0"/>
              <a:t>What is SRS</a:t>
            </a:r>
            <a:endParaRPr lang="en-IN" dirty="0"/>
          </a:p>
        </p:txBody>
      </p:sp>
      <p:sp>
        <p:nvSpPr>
          <p:cNvPr id="3" name="Content Placeholder 2">
            <a:extLst>
              <a:ext uri="{FF2B5EF4-FFF2-40B4-BE49-F238E27FC236}">
                <a16:creationId xmlns:a16="http://schemas.microsoft.com/office/drawing/2014/main" id="{3B667648-2EFA-4B55-8169-C3C29F0FDE56}"/>
              </a:ext>
            </a:extLst>
          </p:cNvPr>
          <p:cNvSpPr>
            <a:spLocks noGrp="1"/>
          </p:cNvSpPr>
          <p:nvPr>
            <p:ph idx="1"/>
          </p:nvPr>
        </p:nvSpPr>
        <p:spPr>
          <a:xfrm>
            <a:off x="2589212" y="1908313"/>
            <a:ext cx="8915400" cy="4002909"/>
          </a:xfrm>
        </p:spPr>
        <p:txBody>
          <a:bodyPr>
            <a:normAutofit/>
          </a:bodyPr>
          <a:lstStyle/>
          <a:p>
            <a:r>
              <a:rPr lang="en-US" sz="2000" b="0" i="0" dirty="0">
                <a:solidFill>
                  <a:srgbClr val="333333"/>
                </a:solidFill>
                <a:effectLst/>
              </a:rPr>
              <a:t>The production of the requirements stage of the software development process is </a:t>
            </a:r>
            <a:r>
              <a:rPr lang="en-US" sz="2000" b="1" i="0" dirty="0">
                <a:solidFill>
                  <a:srgbClr val="333333"/>
                </a:solidFill>
                <a:effectLst/>
              </a:rPr>
              <a:t>Software Requirements Specifications (SRS)</a:t>
            </a:r>
            <a:r>
              <a:rPr lang="en-US" sz="2000" b="0" i="0" dirty="0">
                <a:solidFill>
                  <a:srgbClr val="333333"/>
                </a:solidFill>
                <a:effectLst/>
              </a:rPr>
              <a:t> (also called a </a:t>
            </a:r>
            <a:r>
              <a:rPr lang="en-US" sz="2000" b="1" i="0" dirty="0">
                <a:solidFill>
                  <a:srgbClr val="333333"/>
                </a:solidFill>
                <a:effectLst/>
              </a:rPr>
              <a:t>requirements document</a:t>
            </a:r>
            <a:r>
              <a:rPr lang="en-US" sz="2000" b="0" i="0" dirty="0">
                <a:solidFill>
                  <a:srgbClr val="333333"/>
                </a:solidFill>
                <a:effectLst/>
              </a:rPr>
              <a:t>).</a:t>
            </a:r>
            <a:r>
              <a:rPr lang="en-IN" sz="2000" b="0" i="0" dirty="0">
                <a:solidFill>
                  <a:srgbClr val="333333"/>
                </a:solidFill>
                <a:effectLst/>
              </a:rPr>
              <a:t> </a:t>
            </a:r>
            <a:r>
              <a:rPr lang="en-US" sz="2000" b="0" i="0" dirty="0">
                <a:solidFill>
                  <a:srgbClr val="333333"/>
                </a:solidFill>
                <a:effectLst/>
              </a:rPr>
              <a:t>This report lays a foundation for software engineering activities and is constructing when entire requirements are elicited and analyzed. </a:t>
            </a:r>
            <a:r>
              <a:rPr lang="en-US" sz="2000" b="1" i="0" dirty="0">
                <a:solidFill>
                  <a:srgbClr val="333333"/>
                </a:solidFill>
                <a:effectLst/>
              </a:rPr>
              <a:t>SRS</a:t>
            </a:r>
            <a:r>
              <a:rPr lang="en-US" sz="2000" b="0" i="0" dirty="0">
                <a:solidFill>
                  <a:srgbClr val="333333"/>
                </a:solidFill>
                <a:effectLst/>
              </a:rPr>
              <a:t> is a formal report, which acts as a representation of software that enables the customers to review whether it (SRS) is according to their requirements. Also, it comprises user requirements for a system as well as detailed specifications of the system requirements.</a:t>
            </a:r>
          </a:p>
        </p:txBody>
      </p:sp>
    </p:spTree>
    <p:extLst>
      <p:ext uri="{BB962C8B-B14F-4D97-AF65-F5344CB8AC3E}">
        <p14:creationId xmlns:p14="http://schemas.microsoft.com/office/powerpoint/2010/main" val="2018388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214D1-7FBE-4D50-AD84-5D2354200866}"/>
              </a:ext>
            </a:extLst>
          </p:cNvPr>
          <p:cNvSpPr>
            <a:spLocks noGrp="1"/>
          </p:cNvSpPr>
          <p:nvPr>
            <p:ph type="title"/>
          </p:nvPr>
        </p:nvSpPr>
        <p:spPr>
          <a:xfrm>
            <a:off x="2592925" y="624110"/>
            <a:ext cx="8911687" cy="701107"/>
          </a:xfrm>
        </p:spPr>
        <p:txBody>
          <a:bodyPr/>
          <a:lstStyle/>
          <a:p>
            <a:r>
              <a:rPr lang="en-US" dirty="0"/>
              <a:t>Nature of SRS</a:t>
            </a:r>
            <a:endParaRPr lang="en-IN" dirty="0"/>
          </a:p>
        </p:txBody>
      </p:sp>
      <p:sp>
        <p:nvSpPr>
          <p:cNvPr id="3" name="Content Placeholder 2">
            <a:extLst>
              <a:ext uri="{FF2B5EF4-FFF2-40B4-BE49-F238E27FC236}">
                <a16:creationId xmlns:a16="http://schemas.microsoft.com/office/drawing/2014/main" id="{C388685C-7400-4EF4-858A-72517FAD5DA0}"/>
              </a:ext>
            </a:extLst>
          </p:cNvPr>
          <p:cNvSpPr>
            <a:spLocks noGrp="1"/>
          </p:cNvSpPr>
          <p:nvPr>
            <p:ph idx="1"/>
          </p:nvPr>
        </p:nvSpPr>
        <p:spPr>
          <a:xfrm>
            <a:off x="2589212" y="1325217"/>
            <a:ext cx="8915400" cy="4586005"/>
          </a:xfrm>
        </p:spPr>
        <p:txBody>
          <a:bodyPr>
            <a:normAutofit/>
          </a:bodyPr>
          <a:lstStyle/>
          <a:p>
            <a:pPr marL="0" indent="0">
              <a:buNone/>
            </a:pPr>
            <a:r>
              <a:rPr lang="en-US" sz="2000" b="1" i="0" dirty="0">
                <a:solidFill>
                  <a:srgbClr val="555555"/>
                </a:solidFill>
                <a:effectLst/>
              </a:rPr>
              <a:t>The basic issues that SRS writer shall address are the following:</a:t>
            </a:r>
          </a:p>
          <a:p>
            <a:r>
              <a:rPr lang="en-US" sz="2000" b="1" i="0" dirty="0">
                <a:solidFill>
                  <a:srgbClr val="555555"/>
                </a:solidFill>
                <a:effectLst/>
              </a:rPr>
              <a:t>1. Functionality:</a:t>
            </a:r>
            <a:r>
              <a:rPr lang="en-US" sz="2000" b="0" i="0" dirty="0">
                <a:solidFill>
                  <a:srgbClr val="555555"/>
                </a:solidFill>
                <a:effectLst/>
              </a:rPr>
              <a:t> What the software is supposed to do?</a:t>
            </a:r>
          </a:p>
          <a:p>
            <a:r>
              <a:rPr lang="en-US" sz="2000" b="1" i="0" dirty="0">
                <a:solidFill>
                  <a:srgbClr val="555555"/>
                </a:solidFill>
                <a:effectLst/>
              </a:rPr>
              <a:t>2. External Interfaces:</a:t>
            </a:r>
            <a:r>
              <a:rPr lang="en-US" sz="2000" b="0" i="0" dirty="0">
                <a:solidFill>
                  <a:srgbClr val="555555"/>
                </a:solidFill>
                <a:effectLst/>
              </a:rPr>
              <a:t> How does the software interact with people, system's hardware, other hardware and other software?</a:t>
            </a:r>
            <a:endParaRPr lang="en-IN" sz="2000" dirty="0">
              <a:solidFill>
                <a:srgbClr val="555555"/>
              </a:solidFill>
            </a:endParaRPr>
          </a:p>
          <a:p>
            <a:r>
              <a:rPr lang="en-US" sz="2000" b="1" i="0" dirty="0">
                <a:solidFill>
                  <a:srgbClr val="555555"/>
                </a:solidFill>
                <a:effectLst/>
              </a:rPr>
              <a:t>3. Performance:</a:t>
            </a:r>
            <a:r>
              <a:rPr lang="en-US" sz="2000" b="0" i="0" dirty="0">
                <a:solidFill>
                  <a:srgbClr val="555555"/>
                </a:solidFill>
                <a:effectLst/>
              </a:rPr>
              <a:t> What is the speed, availability, response time, recovery time etc.</a:t>
            </a:r>
          </a:p>
          <a:p>
            <a:r>
              <a:rPr lang="en-US" sz="2000" b="1" i="0" dirty="0">
                <a:solidFill>
                  <a:srgbClr val="555555"/>
                </a:solidFill>
                <a:effectLst/>
              </a:rPr>
              <a:t>4. Attributes:</a:t>
            </a:r>
            <a:r>
              <a:rPr lang="en-US" sz="2000" b="0" i="0" dirty="0">
                <a:solidFill>
                  <a:srgbClr val="555555"/>
                </a:solidFill>
                <a:effectLst/>
              </a:rPr>
              <a:t> What are the considerations for portability, correctness, maintainability, security, reliability etc.</a:t>
            </a:r>
          </a:p>
          <a:p>
            <a:r>
              <a:rPr lang="en-US" sz="2000" b="1" i="0" dirty="0">
                <a:solidFill>
                  <a:srgbClr val="555555"/>
                </a:solidFill>
                <a:effectLst/>
              </a:rPr>
              <a:t>5. Design Constraints Imposed on an Implementation:</a:t>
            </a:r>
            <a:r>
              <a:rPr lang="en-US" sz="2000" b="0" i="0" dirty="0">
                <a:solidFill>
                  <a:srgbClr val="555555"/>
                </a:solidFill>
                <a:effectLst/>
              </a:rPr>
              <a:t> Are there any required standards in effect, implementation language, policies for database integrity, resource limits, operating environment etc.</a:t>
            </a:r>
            <a:br>
              <a:rPr lang="en-US" sz="2000" dirty="0"/>
            </a:br>
            <a:endParaRPr lang="en-US" sz="2000" b="0" i="0" dirty="0">
              <a:solidFill>
                <a:srgbClr val="555555"/>
              </a:solidFill>
              <a:effectLst/>
            </a:endParaRPr>
          </a:p>
        </p:txBody>
      </p:sp>
    </p:spTree>
    <p:extLst>
      <p:ext uri="{BB962C8B-B14F-4D97-AF65-F5344CB8AC3E}">
        <p14:creationId xmlns:p14="http://schemas.microsoft.com/office/powerpoint/2010/main" val="1043070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1560C-5434-4A9E-88E1-97BBBD5FF689}"/>
              </a:ext>
            </a:extLst>
          </p:cNvPr>
          <p:cNvSpPr>
            <a:spLocks noGrp="1"/>
          </p:cNvSpPr>
          <p:nvPr>
            <p:ph type="title"/>
          </p:nvPr>
        </p:nvSpPr>
        <p:spPr>
          <a:xfrm>
            <a:off x="2592925" y="624110"/>
            <a:ext cx="8911687" cy="542081"/>
          </a:xfrm>
        </p:spPr>
        <p:txBody>
          <a:bodyPr>
            <a:normAutofit fontScale="90000"/>
          </a:bodyPr>
          <a:lstStyle/>
          <a:p>
            <a:r>
              <a:rPr lang="en-US" dirty="0"/>
              <a:t>Role of SRS</a:t>
            </a:r>
            <a:endParaRPr lang="en-IN" dirty="0"/>
          </a:p>
        </p:txBody>
      </p:sp>
      <p:sp>
        <p:nvSpPr>
          <p:cNvPr id="3" name="Content Placeholder 2">
            <a:extLst>
              <a:ext uri="{FF2B5EF4-FFF2-40B4-BE49-F238E27FC236}">
                <a16:creationId xmlns:a16="http://schemas.microsoft.com/office/drawing/2014/main" id="{1F5EC27D-1C5F-4170-84C2-4157CD514243}"/>
              </a:ext>
            </a:extLst>
          </p:cNvPr>
          <p:cNvSpPr>
            <a:spLocks noGrp="1"/>
          </p:cNvSpPr>
          <p:nvPr>
            <p:ph idx="1"/>
          </p:nvPr>
        </p:nvSpPr>
        <p:spPr>
          <a:xfrm>
            <a:off x="2589212" y="1166191"/>
            <a:ext cx="8915400" cy="4745031"/>
          </a:xfrm>
        </p:spPr>
        <p:txBody>
          <a:bodyPr>
            <a:normAutofit/>
          </a:bodyPr>
          <a:lstStyle/>
          <a:p>
            <a:pPr marL="0" indent="0">
              <a:lnSpc>
                <a:spcPct val="150000"/>
              </a:lnSpc>
              <a:buNone/>
            </a:pPr>
            <a:r>
              <a:rPr lang="en-US" sz="2000" b="1" i="0" dirty="0">
                <a:solidFill>
                  <a:srgbClr val="555555"/>
                </a:solidFill>
                <a:effectLst/>
              </a:rPr>
              <a:t>Since SRS has a specific role to play in software development process, SRS writer should be careful for following points :</a:t>
            </a:r>
          </a:p>
          <a:p>
            <a:r>
              <a:rPr lang="en-US" sz="2000" b="1" i="0" dirty="0">
                <a:solidFill>
                  <a:srgbClr val="555555"/>
                </a:solidFill>
                <a:effectLst/>
              </a:rPr>
              <a:t>1.</a:t>
            </a:r>
            <a:r>
              <a:rPr lang="en-US" sz="2000" b="0" i="0" dirty="0">
                <a:solidFill>
                  <a:srgbClr val="555555"/>
                </a:solidFill>
                <a:effectLst/>
              </a:rPr>
              <a:t> SRS should correctly define all the software requirements. A software requirement may exist because of the nature of the task to be solved or because of a specific characteristic of the project.</a:t>
            </a:r>
          </a:p>
          <a:p>
            <a:r>
              <a:rPr lang="en-US" sz="2000" b="1" i="0" dirty="0">
                <a:solidFill>
                  <a:srgbClr val="555555"/>
                </a:solidFill>
                <a:effectLst/>
              </a:rPr>
              <a:t>2.</a:t>
            </a:r>
            <a:r>
              <a:rPr lang="en-US" sz="2000" b="0" i="0" dirty="0">
                <a:solidFill>
                  <a:srgbClr val="555555"/>
                </a:solidFill>
                <a:effectLst/>
              </a:rPr>
              <a:t> SRS should not describe any design or implementation details. These should be described in the design stage of the project.</a:t>
            </a:r>
          </a:p>
          <a:p>
            <a:r>
              <a:rPr lang="en-US" sz="2000" b="1" i="0" dirty="0">
                <a:solidFill>
                  <a:srgbClr val="555555"/>
                </a:solidFill>
                <a:effectLst/>
              </a:rPr>
              <a:t>3.</a:t>
            </a:r>
            <a:r>
              <a:rPr lang="en-US" sz="2000" b="0" i="0" dirty="0">
                <a:solidFill>
                  <a:srgbClr val="555555"/>
                </a:solidFill>
                <a:effectLst/>
              </a:rPr>
              <a:t> SRS should not impose additional constraints on the software. These are properly specified in other documents such as software quality assurance plan.</a:t>
            </a:r>
            <a:br>
              <a:rPr lang="en-US" sz="2000" dirty="0"/>
            </a:br>
            <a:endParaRPr lang="en-IN" sz="2000" dirty="0"/>
          </a:p>
        </p:txBody>
      </p:sp>
    </p:spTree>
    <p:extLst>
      <p:ext uri="{BB962C8B-B14F-4D97-AF65-F5344CB8AC3E}">
        <p14:creationId xmlns:p14="http://schemas.microsoft.com/office/powerpoint/2010/main" val="2034380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EE058-9242-4634-ABC1-53D75FC412E4}"/>
              </a:ext>
            </a:extLst>
          </p:cNvPr>
          <p:cNvSpPr>
            <a:spLocks noGrp="1"/>
          </p:cNvSpPr>
          <p:nvPr>
            <p:ph type="title"/>
          </p:nvPr>
        </p:nvSpPr>
        <p:spPr>
          <a:xfrm>
            <a:off x="1917064" y="205410"/>
            <a:ext cx="8911687" cy="502325"/>
          </a:xfrm>
        </p:spPr>
        <p:txBody>
          <a:bodyPr>
            <a:normAutofit fontScale="90000"/>
          </a:bodyPr>
          <a:lstStyle/>
          <a:p>
            <a:r>
              <a:rPr lang="en-US" dirty="0"/>
              <a:t>Characteristics of good SRS</a:t>
            </a:r>
            <a:br>
              <a:rPr lang="en-US" dirty="0"/>
            </a:br>
            <a:endParaRPr lang="en-IN" dirty="0"/>
          </a:p>
        </p:txBody>
      </p:sp>
      <p:sp>
        <p:nvSpPr>
          <p:cNvPr id="3" name="Content Placeholder 2">
            <a:extLst>
              <a:ext uri="{FF2B5EF4-FFF2-40B4-BE49-F238E27FC236}">
                <a16:creationId xmlns:a16="http://schemas.microsoft.com/office/drawing/2014/main" id="{4303FF22-1491-41AC-86D3-D97A878B75DC}"/>
              </a:ext>
            </a:extLst>
          </p:cNvPr>
          <p:cNvSpPr>
            <a:spLocks noGrp="1"/>
          </p:cNvSpPr>
          <p:nvPr>
            <p:ph idx="1"/>
          </p:nvPr>
        </p:nvSpPr>
        <p:spPr>
          <a:xfrm>
            <a:off x="2178393" y="861390"/>
            <a:ext cx="9191971" cy="5592419"/>
          </a:xfrm>
        </p:spPr>
        <p:txBody>
          <a:bodyPr>
            <a:normAutofit fontScale="77500" lnSpcReduction="20000"/>
          </a:bodyPr>
          <a:lstStyle/>
          <a:p>
            <a:pPr marL="0" indent="0">
              <a:buNone/>
            </a:pPr>
            <a:r>
              <a:rPr lang="en-US" b="0" i="0" dirty="0">
                <a:solidFill>
                  <a:schemeClr val="tx1"/>
                </a:solidFill>
                <a:effectLst/>
                <a:latin typeface="urw-din"/>
              </a:rPr>
              <a:t>Following are the characteristics of a good SRS document: </a:t>
            </a:r>
          </a:p>
          <a:p>
            <a:pPr algn="l" fontAlgn="base">
              <a:buFont typeface="Wingdings" panose="05000000000000000000" pitchFamily="2" charset="2"/>
              <a:buChar char="Ø"/>
            </a:pPr>
            <a:r>
              <a:rPr lang="en-US" b="1" i="0" dirty="0">
                <a:solidFill>
                  <a:schemeClr val="tx1"/>
                </a:solidFill>
                <a:effectLst/>
                <a:latin typeface="urw-din"/>
              </a:rPr>
              <a:t>Correctness: </a:t>
            </a:r>
            <a:br>
              <a:rPr lang="en-US" b="0" i="0" dirty="0">
                <a:solidFill>
                  <a:schemeClr val="tx1"/>
                </a:solidFill>
                <a:effectLst/>
                <a:latin typeface="urw-din"/>
              </a:rPr>
            </a:br>
            <a:r>
              <a:rPr lang="en-US" b="0" i="0" dirty="0">
                <a:solidFill>
                  <a:schemeClr val="tx1"/>
                </a:solidFill>
                <a:effectLst/>
                <a:latin typeface="urw-din"/>
              </a:rPr>
              <a:t>User review is used to ensure the correctness of requirements stated in the SRS. SRS is said to be correct if it covers all the requirements that are actually expected from the system.  </a:t>
            </a:r>
          </a:p>
          <a:p>
            <a:pPr algn="l" fontAlgn="base">
              <a:buFont typeface="Wingdings" panose="05000000000000000000" pitchFamily="2" charset="2"/>
              <a:buChar char="Ø"/>
            </a:pPr>
            <a:r>
              <a:rPr lang="en-US" b="1" i="0" dirty="0">
                <a:solidFill>
                  <a:schemeClr val="tx1"/>
                </a:solidFill>
                <a:effectLst/>
                <a:latin typeface="urw-din"/>
              </a:rPr>
              <a:t>Completeness: </a:t>
            </a:r>
            <a:br>
              <a:rPr lang="en-US" b="0" i="0" dirty="0">
                <a:solidFill>
                  <a:schemeClr val="tx1"/>
                </a:solidFill>
                <a:effectLst/>
                <a:latin typeface="urw-din"/>
              </a:rPr>
            </a:br>
            <a:r>
              <a:rPr lang="en-US" b="0" i="0" dirty="0">
                <a:solidFill>
                  <a:schemeClr val="tx1"/>
                </a:solidFill>
                <a:effectLst/>
                <a:latin typeface="urw-din"/>
              </a:rPr>
              <a:t>Completeness of SRS indicates every sense of completion including the numbering of all the pages, resolving the to be determined parts to as much extent as possible as well as covering all the functional and non-functional requirements properly.  </a:t>
            </a:r>
          </a:p>
          <a:p>
            <a:pPr algn="l" fontAlgn="base">
              <a:buFont typeface="Wingdings" panose="05000000000000000000" pitchFamily="2" charset="2"/>
              <a:buChar char="Ø"/>
            </a:pPr>
            <a:r>
              <a:rPr lang="en-US" b="1" i="0" dirty="0">
                <a:solidFill>
                  <a:schemeClr val="tx1"/>
                </a:solidFill>
                <a:effectLst/>
                <a:latin typeface="urw-din"/>
              </a:rPr>
              <a:t>Consistency:</a:t>
            </a:r>
            <a:r>
              <a:rPr lang="en-US" b="0" i="0" dirty="0">
                <a:solidFill>
                  <a:schemeClr val="tx1"/>
                </a:solidFill>
                <a:effectLst/>
                <a:latin typeface="urw-din"/>
              </a:rPr>
              <a:t> </a:t>
            </a:r>
            <a:br>
              <a:rPr lang="en-US" b="0" i="0" dirty="0">
                <a:solidFill>
                  <a:schemeClr val="tx1"/>
                </a:solidFill>
                <a:effectLst/>
                <a:latin typeface="urw-din"/>
              </a:rPr>
            </a:br>
            <a:r>
              <a:rPr lang="en-US" b="0" i="0" dirty="0">
                <a:solidFill>
                  <a:schemeClr val="tx1"/>
                </a:solidFill>
                <a:effectLst/>
                <a:latin typeface="urw-din"/>
              </a:rPr>
              <a:t>Requirements in SRS are said to be consistent if there are no conflicts between any set of requirements. Examples of conflict include differences in terminologies used at separate places, logical conflicts like time period of report generation, etc. </a:t>
            </a:r>
          </a:p>
          <a:p>
            <a:pPr algn="l" fontAlgn="base">
              <a:buFont typeface="Wingdings" panose="05000000000000000000" pitchFamily="2" charset="2"/>
              <a:buChar char="Ø"/>
            </a:pPr>
            <a:r>
              <a:rPr lang="en-US" b="1" i="0" dirty="0">
                <a:solidFill>
                  <a:schemeClr val="tx1"/>
                </a:solidFill>
                <a:effectLst/>
                <a:latin typeface="urw-din"/>
              </a:rPr>
              <a:t>Unambiguousness:</a:t>
            </a:r>
            <a:r>
              <a:rPr lang="en-US" b="0" i="0" dirty="0">
                <a:solidFill>
                  <a:schemeClr val="tx1"/>
                </a:solidFill>
                <a:effectLst/>
                <a:latin typeface="urw-din"/>
              </a:rPr>
              <a:t> </a:t>
            </a:r>
            <a:br>
              <a:rPr lang="en-US" b="0" i="0" dirty="0">
                <a:solidFill>
                  <a:schemeClr val="tx1"/>
                </a:solidFill>
                <a:effectLst/>
                <a:latin typeface="urw-din"/>
              </a:rPr>
            </a:br>
            <a:r>
              <a:rPr lang="en-US" b="0" i="0" dirty="0">
                <a:solidFill>
                  <a:schemeClr val="tx1"/>
                </a:solidFill>
                <a:effectLst/>
                <a:latin typeface="urw-din"/>
              </a:rPr>
              <a:t>A SRS is said to be unambiguous if all the requirements stated have only 1 interpretation. Some of the ways to prevent unambiguousness include the use of modelling techniques like ER diagrams, proper reviews and buddy checks, etc.  </a:t>
            </a:r>
          </a:p>
          <a:p>
            <a:endParaRPr lang="en-IN" dirty="0">
              <a:solidFill>
                <a:schemeClr val="tx1"/>
              </a:solidFill>
            </a:endParaRPr>
          </a:p>
        </p:txBody>
      </p:sp>
    </p:spTree>
    <p:extLst>
      <p:ext uri="{BB962C8B-B14F-4D97-AF65-F5344CB8AC3E}">
        <p14:creationId xmlns:p14="http://schemas.microsoft.com/office/powerpoint/2010/main" val="16305425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84366E-4523-491C-844C-24E385CBEDAC}"/>
              </a:ext>
            </a:extLst>
          </p:cNvPr>
          <p:cNvSpPr>
            <a:spLocks noGrp="1"/>
          </p:cNvSpPr>
          <p:nvPr>
            <p:ph idx="1"/>
          </p:nvPr>
        </p:nvSpPr>
        <p:spPr>
          <a:xfrm>
            <a:off x="2072377" y="795131"/>
            <a:ext cx="9417258" cy="5777948"/>
          </a:xfrm>
        </p:spPr>
        <p:txBody>
          <a:bodyPr>
            <a:normAutofit fontScale="92500" lnSpcReduction="20000"/>
          </a:bodyPr>
          <a:lstStyle/>
          <a:p>
            <a:pPr algn="l" fontAlgn="base">
              <a:buFont typeface="Wingdings" panose="05000000000000000000" pitchFamily="2" charset="2"/>
              <a:buChar char="Ø"/>
            </a:pPr>
            <a:r>
              <a:rPr lang="en-US" b="1" i="0" dirty="0">
                <a:solidFill>
                  <a:schemeClr val="tx1"/>
                </a:solidFill>
                <a:effectLst/>
                <a:latin typeface="urw-din"/>
              </a:rPr>
              <a:t>Ranking for importance and stability:</a:t>
            </a:r>
            <a:r>
              <a:rPr lang="en-US" b="0" i="0" dirty="0">
                <a:solidFill>
                  <a:schemeClr val="tx1"/>
                </a:solidFill>
                <a:effectLst/>
                <a:latin typeface="urw-din"/>
              </a:rPr>
              <a:t> </a:t>
            </a:r>
            <a:br>
              <a:rPr lang="en-US" b="0" i="0" dirty="0">
                <a:solidFill>
                  <a:schemeClr val="tx1"/>
                </a:solidFill>
                <a:effectLst/>
                <a:latin typeface="urw-din"/>
              </a:rPr>
            </a:br>
            <a:r>
              <a:rPr lang="en-US" b="0" i="0" dirty="0">
                <a:solidFill>
                  <a:schemeClr val="tx1"/>
                </a:solidFill>
                <a:effectLst/>
                <a:latin typeface="urw-din"/>
              </a:rPr>
              <a:t>There should a criterion to classify the requirements as less or more important or more specifically as desirable or essential. An identifier mark can be used with every requirement to indicate its rank or stability.  </a:t>
            </a:r>
          </a:p>
          <a:p>
            <a:pPr algn="l" fontAlgn="base">
              <a:buFont typeface="Wingdings" panose="05000000000000000000" pitchFamily="2" charset="2"/>
              <a:buChar char="Ø"/>
            </a:pPr>
            <a:r>
              <a:rPr lang="en-US" b="1" i="0" dirty="0">
                <a:solidFill>
                  <a:schemeClr val="tx1"/>
                </a:solidFill>
                <a:effectLst/>
                <a:latin typeface="urw-din"/>
              </a:rPr>
              <a:t>Modifiability:</a:t>
            </a:r>
            <a:r>
              <a:rPr lang="en-US" b="0" i="0" dirty="0">
                <a:solidFill>
                  <a:schemeClr val="tx1"/>
                </a:solidFill>
                <a:effectLst/>
                <a:latin typeface="urw-din"/>
              </a:rPr>
              <a:t> </a:t>
            </a:r>
            <a:br>
              <a:rPr lang="en-US" b="0" i="0" dirty="0">
                <a:solidFill>
                  <a:schemeClr val="tx1"/>
                </a:solidFill>
                <a:effectLst/>
                <a:latin typeface="urw-din"/>
              </a:rPr>
            </a:br>
            <a:r>
              <a:rPr lang="en-US" b="0" i="0" dirty="0">
                <a:solidFill>
                  <a:schemeClr val="tx1"/>
                </a:solidFill>
                <a:effectLst/>
                <a:latin typeface="urw-din"/>
              </a:rPr>
              <a:t>SRS should be made as modifiable as possible and should be capable of easily accepting changes to the system to some extent. Modifications should be properly indexed and cross-referenced.  </a:t>
            </a:r>
          </a:p>
          <a:p>
            <a:pPr algn="l" fontAlgn="base">
              <a:buFont typeface="Wingdings" panose="05000000000000000000" pitchFamily="2" charset="2"/>
              <a:buChar char="Ø"/>
            </a:pPr>
            <a:r>
              <a:rPr lang="en-US" b="1" i="0" dirty="0">
                <a:solidFill>
                  <a:schemeClr val="tx1"/>
                </a:solidFill>
                <a:effectLst/>
                <a:latin typeface="urw-din"/>
              </a:rPr>
              <a:t>Verifiability:</a:t>
            </a:r>
            <a:r>
              <a:rPr lang="en-US" b="0" i="0" dirty="0">
                <a:solidFill>
                  <a:schemeClr val="tx1"/>
                </a:solidFill>
                <a:effectLst/>
                <a:latin typeface="urw-din"/>
              </a:rPr>
              <a:t> </a:t>
            </a:r>
            <a:br>
              <a:rPr lang="en-US" b="0" i="0" dirty="0">
                <a:solidFill>
                  <a:schemeClr val="tx1"/>
                </a:solidFill>
                <a:effectLst/>
                <a:latin typeface="urw-din"/>
              </a:rPr>
            </a:br>
            <a:r>
              <a:rPr lang="en-US" b="0" i="0" dirty="0">
                <a:solidFill>
                  <a:schemeClr val="tx1"/>
                </a:solidFill>
                <a:effectLst/>
                <a:latin typeface="urw-din"/>
              </a:rPr>
              <a:t>A SRS is verifiable if there exists a specific technique to quantifiably measure the extent to which every requirement is met by the system. For example, a requirement starting that the system must be user-friendly is not verifiable and listing such requirements should be avoided.  </a:t>
            </a:r>
          </a:p>
          <a:p>
            <a:pPr algn="l" fontAlgn="base">
              <a:buFont typeface="Wingdings" panose="05000000000000000000" pitchFamily="2" charset="2"/>
              <a:buChar char="Ø"/>
            </a:pPr>
            <a:r>
              <a:rPr lang="en-US" b="1" i="0" dirty="0">
                <a:solidFill>
                  <a:schemeClr val="tx1"/>
                </a:solidFill>
                <a:effectLst/>
                <a:latin typeface="urw-din"/>
              </a:rPr>
              <a:t>Traceability:</a:t>
            </a:r>
            <a:r>
              <a:rPr lang="en-US" b="0" i="0" dirty="0">
                <a:solidFill>
                  <a:schemeClr val="tx1"/>
                </a:solidFill>
                <a:effectLst/>
                <a:latin typeface="urw-din"/>
              </a:rPr>
              <a:t> </a:t>
            </a:r>
            <a:br>
              <a:rPr lang="en-US" b="0" i="0" dirty="0">
                <a:solidFill>
                  <a:schemeClr val="tx1"/>
                </a:solidFill>
                <a:effectLst/>
                <a:latin typeface="urw-din"/>
              </a:rPr>
            </a:br>
            <a:r>
              <a:rPr lang="en-US" b="0" i="0" dirty="0">
                <a:solidFill>
                  <a:schemeClr val="tx1"/>
                </a:solidFill>
                <a:effectLst/>
                <a:latin typeface="urw-din"/>
              </a:rPr>
              <a:t>One should be able to trace a requirement to design component and then to code segment in the program. Similarly, one should be able to trace a requirement to the corresponding test cases.  </a:t>
            </a:r>
          </a:p>
          <a:p>
            <a:pPr>
              <a:buFont typeface="Wingdings" panose="05000000000000000000" pitchFamily="2" charset="2"/>
              <a:buChar char="Ø"/>
            </a:pPr>
            <a:endParaRPr lang="en-IN" dirty="0">
              <a:solidFill>
                <a:schemeClr val="tx1"/>
              </a:solidFill>
            </a:endParaRPr>
          </a:p>
        </p:txBody>
      </p:sp>
    </p:spTree>
    <p:extLst>
      <p:ext uri="{BB962C8B-B14F-4D97-AF65-F5344CB8AC3E}">
        <p14:creationId xmlns:p14="http://schemas.microsoft.com/office/powerpoint/2010/main" val="5023322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3424B7-0FC9-4ACB-A7B8-8518BAEC69B8}"/>
              </a:ext>
            </a:extLst>
          </p:cNvPr>
          <p:cNvSpPr>
            <a:spLocks noGrp="1"/>
          </p:cNvSpPr>
          <p:nvPr>
            <p:ph idx="1"/>
          </p:nvPr>
        </p:nvSpPr>
        <p:spPr>
          <a:xfrm>
            <a:off x="2443438" y="764937"/>
            <a:ext cx="8915400" cy="5328126"/>
          </a:xfrm>
        </p:spPr>
        <p:txBody>
          <a:bodyPr>
            <a:normAutofit fontScale="85000" lnSpcReduction="20000"/>
          </a:bodyPr>
          <a:lstStyle/>
          <a:p>
            <a:pPr algn="l" fontAlgn="base">
              <a:buFont typeface="Wingdings" panose="05000000000000000000" pitchFamily="2" charset="2"/>
              <a:buChar char="Ø"/>
            </a:pPr>
            <a:r>
              <a:rPr lang="en-US" b="1" i="0" dirty="0">
                <a:solidFill>
                  <a:schemeClr val="tx1"/>
                </a:solidFill>
                <a:effectLst/>
                <a:latin typeface="urw-din"/>
              </a:rPr>
              <a:t>Design Independence:</a:t>
            </a:r>
            <a:r>
              <a:rPr lang="en-US" b="0" i="0" dirty="0">
                <a:solidFill>
                  <a:schemeClr val="tx1"/>
                </a:solidFill>
                <a:effectLst/>
                <a:latin typeface="urw-din"/>
              </a:rPr>
              <a:t> </a:t>
            </a:r>
            <a:br>
              <a:rPr lang="en-US" b="0" i="0" dirty="0">
                <a:solidFill>
                  <a:schemeClr val="tx1"/>
                </a:solidFill>
                <a:effectLst/>
                <a:latin typeface="urw-din"/>
              </a:rPr>
            </a:br>
            <a:r>
              <a:rPr lang="en-US" b="0" i="0" dirty="0">
                <a:solidFill>
                  <a:schemeClr val="tx1"/>
                </a:solidFill>
                <a:effectLst/>
                <a:latin typeface="urw-din"/>
              </a:rPr>
              <a:t>There should be an option to choose from multiple design alternatives for the final system. More specifically, the SRS should not include any implementation details.  </a:t>
            </a:r>
          </a:p>
          <a:p>
            <a:pPr algn="l" fontAlgn="base">
              <a:buFont typeface="Wingdings" panose="05000000000000000000" pitchFamily="2" charset="2"/>
              <a:buChar char="Ø"/>
            </a:pPr>
            <a:r>
              <a:rPr lang="en-US" b="1" i="0" dirty="0">
                <a:solidFill>
                  <a:schemeClr val="tx1"/>
                </a:solidFill>
                <a:effectLst/>
                <a:latin typeface="urw-din"/>
              </a:rPr>
              <a:t>Testability:</a:t>
            </a:r>
            <a:r>
              <a:rPr lang="en-US" b="0" i="0" dirty="0">
                <a:solidFill>
                  <a:schemeClr val="tx1"/>
                </a:solidFill>
                <a:effectLst/>
                <a:latin typeface="urw-din"/>
              </a:rPr>
              <a:t> </a:t>
            </a:r>
            <a:br>
              <a:rPr lang="en-US" b="0" i="0" dirty="0">
                <a:solidFill>
                  <a:schemeClr val="tx1"/>
                </a:solidFill>
                <a:effectLst/>
                <a:latin typeface="urw-din"/>
              </a:rPr>
            </a:br>
            <a:r>
              <a:rPr lang="en-US" b="0" i="0" dirty="0">
                <a:solidFill>
                  <a:schemeClr val="tx1"/>
                </a:solidFill>
                <a:effectLst/>
                <a:latin typeface="urw-din"/>
              </a:rPr>
              <a:t>A SRS should be written in such a way that it is easy to generate test cases and test plans from the document. </a:t>
            </a:r>
          </a:p>
          <a:p>
            <a:pPr algn="l" fontAlgn="base">
              <a:buFont typeface="Wingdings" panose="05000000000000000000" pitchFamily="2" charset="2"/>
              <a:buChar char="Ø"/>
            </a:pPr>
            <a:r>
              <a:rPr lang="en-US" b="1" i="0" dirty="0">
                <a:solidFill>
                  <a:schemeClr val="tx1"/>
                </a:solidFill>
                <a:effectLst/>
                <a:latin typeface="urw-din"/>
              </a:rPr>
              <a:t>Understandable by the customer:</a:t>
            </a:r>
            <a:r>
              <a:rPr lang="en-US" b="0" i="0" dirty="0">
                <a:solidFill>
                  <a:schemeClr val="tx1"/>
                </a:solidFill>
                <a:effectLst/>
                <a:latin typeface="urw-din"/>
              </a:rPr>
              <a:t> </a:t>
            </a:r>
            <a:br>
              <a:rPr lang="en-US" b="0" i="0" dirty="0">
                <a:solidFill>
                  <a:schemeClr val="tx1"/>
                </a:solidFill>
                <a:effectLst/>
                <a:latin typeface="urw-din"/>
              </a:rPr>
            </a:br>
            <a:r>
              <a:rPr lang="en-US" b="0" i="0" dirty="0">
                <a:solidFill>
                  <a:schemeClr val="tx1"/>
                </a:solidFill>
                <a:effectLst/>
                <a:latin typeface="urw-din"/>
              </a:rPr>
              <a:t>An end user maybe an expert in his/her specific domain but might not be an expert in computer science. Hence, the use of formal notations and symbols should be avoided to as much extent as possible. The language should be kept easy and clear.  </a:t>
            </a:r>
          </a:p>
          <a:p>
            <a:pPr algn="l" fontAlgn="base">
              <a:buFont typeface="Wingdings" panose="05000000000000000000" pitchFamily="2" charset="2"/>
              <a:buChar char="Ø"/>
            </a:pPr>
            <a:r>
              <a:rPr lang="en-US" b="1" i="0" dirty="0">
                <a:solidFill>
                  <a:schemeClr val="tx1"/>
                </a:solidFill>
                <a:effectLst/>
                <a:latin typeface="urw-din"/>
              </a:rPr>
              <a:t>Right level of abstraction:</a:t>
            </a:r>
            <a:r>
              <a:rPr lang="en-US" b="0" i="0" dirty="0">
                <a:solidFill>
                  <a:schemeClr val="tx1"/>
                </a:solidFill>
                <a:effectLst/>
                <a:latin typeface="urw-din"/>
              </a:rPr>
              <a:t> </a:t>
            </a:r>
            <a:br>
              <a:rPr lang="en-US" b="0" i="0" dirty="0">
                <a:solidFill>
                  <a:schemeClr val="tx1"/>
                </a:solidFill>
                <a:effectLst/>
                <a:latin typeface="urw-din"/>
              </a:rPr>
            </a:br>
            <a:r>
              <a:rPr lang="en-US" b="0" i="0" dirty="0">
                <a:solidFill>
                  <a:schemeClr val="tx1"/>
                </a:solidFill>
                <a:effectLst/>
                <a:latin typeface="urw-din"/>
              </a:rPr>
              <a:t>If the SRS is written for the requirements phase, the details should be explained explicitly. Whereas, for a feasibility study, fewer details can be used. Hence, the level of abstraction varies according to the purpose of the SRS. </a:t>
            </a:r>
          </a:p>
          <a:p>
            <a:pPr>
              <a:buFont typeface="Wingdings" panose="05000000000000000000" pitchFamily="2" charset="2"/>
              <a:buChar char="Ø"/>
            </a:pPr>
            <a:endParaRPr lang="en-IN" dirty="0">
              <a:solidFill>
                <a:schemeClr val="tx1"/>
              </a:solidFill>
            </a:endParaRPr>
          </a:p>
        </p:txBody>
      </p:sp>
    </p:spTree>
    <p:extLst>
      <p:ext uri="{BB962C8B-B14F-4D97-AF65-F5344CB8AC3E}">
        <p14:creationId xmlns:p14="http://schemas.microsoft.com/office/powerpoint/2010/main" val="2605138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6DD0D-9D16-4370-9CEE-6A425AAFC375}"/>
              </a:ext>
            </a:extLst>
          </p:cNvPr>
          <p:cNvSpPr>
            <a:spLocks noGrp="1"/>
          </p:cNvSpPr>
          <p:nvPr>
            <p:ph type="title"/>
          </p:nvPr>
        </p:nvSpPr>
        <p:spPr>
          <a:xfrm>
            <a:off x="2592925" y="624110"/>
            <a:ext cx="8911687" cy="621594"/>
          </a:xfrm>
        </p:spPr>
        <p:txBody>
          <a:bodyPr>
            <a:normAutofit fontScale="90000"/>
          </a:bodyPr>
          <a:lstStyle/>
          <a:p>
            <a:r>
              <a:rPr lang="en-IN" b="1" dirty="0">
                <a:solidFill>
                  <a:schemeClr val="tx1"/>
                </a:solidFill>
                <a:latin typeface="canada-type-gibson"/>
              </a:rPr>
              <a:t>SRS TEMPLATE</a:t>
            </a:r>
            <a:endParaRPr lang="en-IN" dirty="0"/>
          </a:p>
        </p:txBody>
      </p:sp>
      <p:sp>
        <p:nvSpPr>
          <p:cNvPr id="3" name="Content Placeholder 2">
            <a:extLst>
              <a:ext uri="{FF2B5EF4-FFF2-40B4-BE49-F238E27FC236}">
                <a16:creationId xmlns:a16="http://schemas.microsoft.com/office/drawing/2014/main" id="{E9F2A349-7792-43E4-91D1-E5419C1B158A}"/>
              </a:ext>
            </a:extLst>
          </p:cNvPr>
          <p:cNvSpPr>
            <a:spLocks noGrp="1"/>
          </p:cNvSpPr>
          <p:nvPr>
            <p:ph idx="1"/>
          </p:nvPr>
        </p:nvSpPr>
        <p:spPr>
          <a:xfrm>
            <a:off x="2589212" y="1152939"/>
            <a:ext cx="8915400" cy="5526157"/>
          </a:xfrm>
        </p:spPr>
        <p:txBody>
          <a:bodyPr>
            <a:normAutofit lnSpcReduction="10000"/>
          </a:bodyPr>
          <a:lstStyle/>
          <a:p>
            <a:pPr>
              <a:buAutoNum type="arabicPeriod"/>
            </a:pPr>
            <a:r>
              <a:rPr lang="en-US" dirty="0"/>
              <a:t>Introduction</a:t>
            </a:r>
          </a:p>
          <a:p>
            <a:pPr marL="400050" lvl="1" indent="0">
              <a:buNone/>
            </a:pPr>
            <a:r>
              <a:rPr lang="en-US" dirty="0"/>
              <a:t>1.1 Purpose</a:t>
            </a:r>
          </a:p>
          <a:p>
            <a:pPr marL="400050" lvl="1" indent="0">
              <a:buNone/>
            </a:pPr>
            <a:r>
              <a:rPr lang="en-US" dirty="0"/>
              <a:t>1.2 Scope</a:t>
            </a:r>
          </a:p>
          <a:p>
            <a:pPr marL="400050" lvl="1" indent="0">
              <a:buNone/>
            </a:pPr>
            <a:r>
              <a:rPr lang="en-US" dirty="0"/>
              <a:t>1.3 Definition, acronyms and abbreviations.</a:t>
            </a:r>
          </a:p>
          <a:p>
            <a:pPr marL="400050" lvl="1" indent="0">
              <a:buNone/>
            </a:pPr>
            <a:r>
              <a:rPr lang="en-US" dirty="0"/>
              <a:t>1.4 References</a:t>
            </a:r>
          </a:p>
          <a:p>
            <a:pPr marL="400050" lvl="1" indent="0">
              <a:buNone/>
            </a:pPr>
            <a:r>
              <a:rPr lang="en-US" dirty="0"/>
              <a:t>1.5 Overview</a:t>
            </a:r>
          </a:p>
          <a:p>
            <a:pPr>
              <a:buFont typeface="+mj-lt"/>
              <a:buAutoNum type="arabicPeriod"/>
            </a:pPr>
            <a:r>
              <a:rPr lang="en-US" dirty="0"/>
              <a:t>The overall description</a:t>
            </a:r>
          </a:p>
          <a:p>
            <a:pPr marL="457200" lvl="1" indent="0">
              <a:buNone/>
            </a:pPr>
            <a:r>
              <a:rPr lang="en-US" dirty="0"/>
              <a:t>2.1 Product perspective</a:t>
            </a:r>
          </a:p>
          <a:p>
            <a:pPr marL="857250" lvl="2" indent="0">
              <a:buNone/>
            </a:pPr>
            <a:r>
              <a:rPr lang="en-US" dirty="0"/>
              <a:t>2.1.1 System interface</a:t>
            </a:r>
          </a:p>
          <a:p>
            <a:pPr marL="857250" lvl="2" indent="0">
              <a:buNone/>
            </a:pPr>
            <a:r>
              <a:rPr lang="en-US" dirty="0"/>
              <a:t>2.1.2 Interface</a:t>
            </a:r>
          </a:p>
          <a:p>
            <a:pPr marL="857250" lvl="2" indent="0">
              <a:buNone/>
            </a:pPr>
            <a:r>
              <a:rPr lang="en-US" dirty="0"/>
              <a:t>2.2.3 Hardware interface</a:t>
            </a:r>
          </a:p>
          <a:p>
            <a:pPr marL="857250" lvl="2" indent="0">
              <a:buNone/>
            </a:pPr>
            <a:r>
              <a:rPr lang="en-US" dirty="0"/>
              <a:t>2.1.4 Communications interface</a:t>
            </a:r>
          </a:p>
          <a:p>
            <a:pPr marL="857250" lvl="2" indent="0">
              <a:buNone/>
            </a:pPr>
            <a:r>
              <a:rPr lang="en-US" dirty="0"/>
              <a:t>2.1.5 Memory constraints</a:t>
            </a:r>
          </a:p>
          <a:p>
            <a:pPr marL="857250" lvl="2" indent="0">
              <a:buNone/>
            </a:pPr>
            <a:r>
              <a:rPr lang="en-US" dirty="0"/>
              <a:t>2.1.6 Operations</a:t>
            </a:r>
          </a:p>
          <a:p>
            <a:pPr marL="857250" lvl="2" indent="0">
              <a:buNone/>
            </a:pPr>
            <a:r>
              <a:rPr lang="en-US" dirty="0"/>
              <a:t>2.1.7 Site adaption requirements</a:t>
            </a:r>
          </a:p>
          <a:p>
            <a:pPr marL="857250" lvl="2" indent="0">
              <a:buNone/>
            </a:pPr>
            <a:endParaRPr lang="en-US" dirty="0"/>
          </a:p>
          <a:p>
            <a:pPr marL="400050" lvl="1" indent="0">
              <a:buNone/>
            </a:pPr>
            <a:endParaRPr lang="en-US" dirty="0"/>
          </a:p>
        </p:txBody>
      </p:sp>
    </p:spTree>
    <p:extLst>
      <p:ext uri="{BB962C8B-B14F-4D97-AF65-F5344CB8AC3E}">
        <p14:creationId xmlns:p14="http://schemas.microsoft.com/office/powerpoint/2010/main" val="134124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F9C38D-1CFE-4B6D-9590-CA42C1FD05BF}"/>
              </a:ext>
            </a:extLst>
          </p:cNvPr>
          <p:cNvSpPr>
            <a:spLocks noGrp="1"/>
          </p:cNvSpPr>
          <p:nvPr>
            <p:ph idx="1"/>
          </p:nvPr>
        </p:nvSpPr>
        <p:spPr>
          <a:xfrm>
            <a:off x="2589212" y="496958"/>
            <a:ext cx="8915400" cy="5956852"/>
          </a:xfrm>
        </p:spPr>
        <p:txBody>
          <a:bodyPr/>
          <a:lstStyle/>
          <a:p>
            <a:pPr>
              <a:buAutoNum type="arabicPeriod" startAt="3"/>
            </a:pPr>
            <a:r>
              <a:rPr lang="en-US" dirty="0"/>
              <a:t>Specific Requirements</a:t>
            </a:r>
          </a:p>
          <a:p>
            <a:pPr marL="457200" lvl="1" indent="0">
              <a:buNone/>
            </a:pPr>
            <a:r>
              <a:rPr lang="en-US" dirty="0"/>
              <a:t>3.1 External interface</a:t>
            </a:r>
          </a:p>
          <a:p>
            <a:pPr marL="457200" lvl="1" indent="0">
              <a:buNone/>
            </a:pPr>
            <a:r>
              <a:rPr lang="en-US" dirty="0"/>
              <a:t>3.2 Functions</a:t>
            </a:r>
          </a:p>
          <a:p>
            <a:pPr marL="457200" lvl="1" indent="0">
              <a:buNone/>
            </a:pPr>
            <a:r>
              <a:rPr lang="en-IN" dirty="0"/>
              <a:t>3.3 Performance requirements</a:t>
            </a:r>
          </a:p>
          <a:p>
            <a:pPr marL="457200" lvl="1" indent="0">
              <a:buNone/>
            </a:pPr>
            <a:r>
              <a:rPr lang="en-IN" dirty="0"/>
              <a:t>3.4 Logical database requirements</a:t>
            </a:r>
          </a:p>
          <a:p>
            <a:pPr marL="457200" lvl="1" indent="0">
              <a:buNone/>
            </a:pPr>
            <a:r>
              <a:rPr lang="en-IN" dirty="0"/>
              <a:t>3.5 Design constraints</a:t>
            </a:r>
          </a:p>
          <a:p>
            <a:pPr marL="857250" lvl="2" indent="0">
              <a:buNone/>
            </a:pPr>
            <a:r>
              <a:rPr lang="en-IN" dirty="0"/>
              <a:t>3.5.1 Standards compliance</a:t>
            </a:r>
          </a:p>
          <a:p>
            <a:pPr marL="457200" lvl="1" indent="0">
              <a:buNone/>
            </a:pPr>
            <a:r>
              <a:rPr lang="en-IN" dirty="0"/>
              <a:t>3.6 Software system attribute</a:t>
            </a:r>
          </a:p>
          <a:p>
            <a:pPr marL="857250" lvl="2" indent="0">
              <a:buNone/>
            </a:pPr>
            <a:r>
              <a:rPr lang="en-IN" dirty="0"/>
              <a:t>3.6.1 Reliability</a:t>
            </a:r>
          </a:p>
          <a:p>
            <a:pPr marL="857250" lvl="2" indent="0">
              <a:buNone/>
            </a:pPr>
            <a:r>
              <a:rPr lang="en-IN" dirty="0"/>
              <a:t>3.6.2 Availability</a:t>
            </a:r>
          </a:p>
          <a:p>
            <a:pPr marL="857250" lvl="2" indent="0">
              <a:buNone/>
            </a:pPr>
            <a:r>
              <a:rPr lang="en-IN" dirty="0"/>
              <a:t>3.6.3 Security</a:t>
            </a:r>
          </a:p>
          <a:p>
            <a:pPr marL="857250" lvl="2" indent="0">
              <a:buNone/>
            </a:pPr>
            <a:r>
              <a:rPr lang="en-IN" dirty="0"/>
              <a:t>3.6.4 Maintainability</a:t>
            </a:r>
          </a:p>
          <a:p>
            <a:pPr marL="857250" lvl="2" indent="0">
              <a:buNone/>
            </a:pPr>
            <a:r>
              <a:rPr lang="en-IN" dirty="0"/>
              <a:t>3.6.5 Portability</a:t>
            </a:r>
          </a:p>
          <a:p>
            <a:pPr marL="457200" lvl="1" indent="0">
              <a:buNone/>
            </a:pPr>
            <a:r>
              <a:rPr lang="en-IN" dirty="0"/>
              <a:t>3.7 Organising the specific requirements</a:t>
            </a:r>
          </a:p>
          <a:p>
            <a:pPr marL="857250" lvl="2" indent="0">
              <a:buNone/>
            </a:pPr>
            <a:r>
              <a:rPr lang="en-IN" dirty="0"/>
              <a:t>3.7.1 System mode</a:t>
            </a:r>
          </a:p>
          <a:p>
            <a:pPr marL="857250" lvl="2" indent="0">
              <a:buNone/>
            </a:pPr>
            <a:r>
              <a:rPr lang="en-IN" dirty="0"/>
              <a:t>3.7.2 User class</a:t>
            </a:r>
          </a:p>
        </p:txBody>
      </p:sp>
    </p:spTree>
    <p:extLst>
      <p:ext uri="{BB962C8B-B14F-4D97-AF65-F5344CB8AC3E}">
        <p14:creationId xmlns:p14="http://schemas.microsoft.com/office/powerpoint/2010/main" val="2004822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1214A9-1D7A-4B3C-8D69-92F3398625CC}"/>
              </a:ext>
            </a:extLst>
          </p:cNvPr>
          <p:cNvSpPr>
            <a:spLocks noGrp="1"/>
          </p:cNvSpPr>
          <p:nvPr>
            <p:ph idx="1"/>
          </p:nvPr>
        </p:nvSpPr>
        <p:spPr>
          <a:xfrm>
            <a:off x="2589212" y="371061"/>
            <a:ext cx="8915400" cy="5950226"/>
          </a:xfrm>
        </p:spPr>
        <p:txBody>
          <a:bodyPr/>
          <a:lstStyle/>
          <a:p>
            <a:pPr marL="800100" lvl="2" indent="0">
              <a:buNone/>
            </a:pPr>
            <a:r>
              <a:rPr lang="en-US" dirty="0"/>
              <a:t>3.7.3 Objects</a:t>
            </a:r>
          </a:p>
          <a:p>
            <a:pPr marL="800100" lvl="2" indent="0">
              <a:buNone/>
            </a:pPr>
            <a:r>
              <a:rPr lang="en-US" dirty="0"/>
              <a:t>3.7.4 Features</a:t>
            </a:r>
          </a:p>
          <a:p>
            <a:pPr marL="800100" lvl="2" indent="0">
              <a:buNone/>
            </a:pPr>
            <a:r>
              <a:rPr lang="en-US" dirty="0"/>
              <a:t>3.7.5 Features</a:t>
            </a:r>
          </a:p>
          <a:p>
            <a:pPr marL="800100" lvl="2" indent="0">
              <a:buNone/>
            </a:pPr>
            <a:r>
              <a:rPr lang="en-US" dirty="0"/>
              <a:t>3.7.6 Response</a:t>
            </a:r>
          </a:p>
          <a:p>
            <a:pPr marL="800100" lvl="2" indent="0">
              <a:buNone/>
            </a:pPr>
            <a:r>
              <a:rPr lang="en-US" dirty="0"/>
              <a:t>3.7.7 Functional hierarchy</a:t>
            </a:r>
          </a:p>
          <a:p>
            <a:pPr marL="400050" lvl="1" indent="0">
              <a:buNone/>
            </a:pPr>
            <a:r>
              <a:rPr lang="en-US" dirty="0"/>
              <a:t>3.8 Additional comments</a:t>
            </a:r>
          </a:p>
          <a:p>
            <a:pPr>
              <a:buAutoNum type="arabicPeriod" startAt="4"/>
            </a:pPr>
            <a:r>
              <a:rPr lang="en-US" dirty="0"/>
              <a:t>Change managements process</a:t>
            </a:r>
          </a:p>
          <a:p>
            <a:pPr>
              <a:buAutoNum type="arabicPeriod" startAt="4"/>
            </a:pPr>
            <a:r>
              <a:rPr lang="en-US" dirty="0"/>
              <a:t>Documents approvals</a:t>
            </a:r>
          </a:p>
          <a:p>
            <a:pPr>
              <a:buAutoNum type="arabicPeriod" startAt="4"/>
            </a:pPr>
            <a:r>
              <a:rPr lang="en-US" dirty="0"/>
              <a:t>Supporting information</a:t>
            </a:r>
            <a:endParaRPr lang="en-IN" dirty="0"/>
          </a:p>
        </p:txBody>
      </p:sp>
    </p:spTree>
    <p:extLst>
      <p:ext uri="{BB962C8B-B14F-4D97-AF65-F5344CB8AC3E}">
        <p14:creationId xmlns:p14="http://schemas.microsoft.com/office/powerpoint/2010/main" val="15317770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3DEC2C-805A-4D95-9927-657E67F1D200}"/>
              </a:ext>
            </a:extLst>
          </p:cNvPr>
          <p:cNvSpPr>
            <a:spLocks noGrp="1"/>
          </p:cNvSpPr>
          <p:nvPr>
            <p:ph idx="1"/>
          </p:nvPr>
        </p:nvSpPr>
        <p:spPr>
          <a:xfrm>
            <a:off x="2589211" y="543339"/>
            <a:ext cx="9218475" cy="5777948"/>
          </a:xfrm>
        </p:spPr>
        <p:txBody>
          <a:bodyPr>
            <a:normAutofit/>
          </a:bodyPr>
          <a:lstStyle/>
          <a:p>
            <a:pPr marL="0" lvl="0" indent="0">
              <a:spcBef>
                <a:spcPts val="2400"/>
              </a:spcBef>
              <a:spcAft>
                <a:spcPts val="1200"/>
              </a:spcAft>
              <a:buNone/>
            </a:pPr>
            <a:r>
              <a:rPr lang="en-US" sz="2800" b="1" kern="1400" dirty="0">
                <a:solidFill>
                  <a:schemeClr val="accent1"/>
                </a:solidFill>
                <a:effectLst/>
                <a:latin typeface="Times" panose="02020603050405020304" pitchFamily="18" charset="0"/>
                <a:cs typeface="Times New Roman" panose="02020603050405020304" pitchFamily="18" charset="0"/>
              </a:rPr>
              <a:t>Description</a:t>
            </a:r>
            <a:endParaRPr lang="en-US" b="1" kern="1400" dirty="0">
              <a:latin typeface="Times" panose="02020603050405020304" pitchFamily="18" charset="0"/>
              <a:cs typeface="Times New Roman" panose="02020603050405020304" pitchFamily="18" charset="0"/>
            </a:endParaRPr>
          </a:p>
          <a:p>
            <a:pPr marL="342900" lvl="0" indent="-342900">
              <a:spcBef>
                <a:spcPts val="2400"/>
              </a:spcBef>
              <a:spcAft>
                <a:spcPts val="1200"/>
              </a:spcAft>
              <a:buFont typeface="+mj-lt"/>
              <a:buAutoNum type="arabicPeriod"/>
            </a:pPr>
            <a:r>
              <a:rPr lang="en-US" sz="1800" b="1" kern="1400" dirty="0">
                <a:effectLst/>
                <a:latin typeface="Times" panose="02020603050405020304" pitchFamily="18" charset="0"/>
                <a:cs typeface="Times New Roman" panose="02020603050405020304" pitchFamily="18" charset="0"/>
              </a:rPr>
              <a:t>Introduction</a:t>
            </a:r>
            <a:endParaRPr lang="en-IN" sz="1800" b="1" kern="1400" dirty="0">
              <a:effectLst/>
              <a:latin typeface="Times" panose="02020603050405020304" pitchFamily="18" charset="0"/>
              <a:cs typeface="Times New Roman" panose="02020603050405020304" pitchFamily="18" charset="0"/>
            </a:endParaRPr>
          </a:p>
          <a:p>
            <a:pPr marL="400050" lvl="1" indent="0">
              <a:buNone/>
            </a:pPr>
            <a:r>
              <a:rPr lang="en-IN" dirty="0"/>
              <a:t>1.1 </a:t>
            </a:r>
            <a:r>
              <a:rPr lang="en-US" sz="1800" b="1" dirty="0">
                <a:effectLst/>
                <a:latin typeface="Times" panose="02020603050405020304" pitchFamily="18" charset="0"/>
                <a:cs typeface="Times New Roman" panose="02020603050405020304" pitchFamily="18" charset="0"/>
              </a:rPr>
              <a:t>Purpose</a:t>
            </a:r>
            <a:r>
              <a:rPr lang="en-IN" dirty="0"/>
              <a:t> </a:t>
            </a:r>
            <a:r>
              <a:rPr lang="en-IN" dirty="0">
                <a:sym typeface="Wingdings" panose="05000000000000000000" pitchFamily="2" charset="2"/>
              </a:rPr>
              <a:t> </a:t>
            </a:r>
            <a:r>
              <a:rPr lang="en-US" sz="1800" dirty="0">
                <a:effectLst/>
                <a:latin typeface="Times" panose="02020603050405020304" pitchFamily="18" charset="0"/>
                <a:ea typeface="Times New Roman" panose="02020603050405020304" pitchFamily="18" charset="0"/>
                <a:cs typeface="Times New Roman" panose="02020603050405020304" pitchFamily="18" charset="0"/>
              </a:rPr>
              <a:t>Identify the product whose software requirements are specified in this document, including the revision or release number. </a:t>
            </a:r>
          </a:p>
          <a:p>
            <a:pPr marL="400050" lvl="1" indent="0">
              <a:buNone/>
            </a:pPr>
            <a:r>
              <a:rPr lang="en-US" sz="1800" dirty="0">
                <a:latin typeface="Times" panose="02020603050405020304" pitchFamily="18" charset="0"/>
                <a:cs typeface="Times New Roman" panose="02020603050405020304" pitchFamily="18" charset="0"/>
              </a:rPr>
              <a:t>1.2</a:t>
            </a:r>
            <a:r>
              <a:rPr lang="en-IN" sz="1800" dirty="0">
                <a:latin typeface="Times" panose="02020603050405020304" pitchFamily="18" charset="0"/>
                <a:cs typeface="Times New Roman" panose="02020603050405020304" pitchFamily="18" charset="0"/>
                <a:sym typeface="Wingdings" panose="05000000000000000000" pitchFamily="2" charset="2"/>
              </a:rPr>
              <a:t> </a:t>
            </a:r>
            <a:r>
              <a:rPr lang="en-US" sz="1800" b="1" dirty="0">
                <a:effectLst/>
                <a:latin typeface="Times" panose="02020603050405020304" pitchFamily="18" charset="0"/>
                <a:cs typeface="Times New Roman" panose="02020603050405020304" pitchFamily="18" charset="0"/>
              </a:rPr>
              <a:t>Document Conventions </a:t>
            </a:r>
            <a:r>
              <a:rPr lang="en-US" sz="1800" b="1" dirty="0">
                <a:effectLst/>
                <a:latin typeface="Times" panose="02020603050405020304" pitchFamily="18" charset="0"/>
                <a:cs typeface="Times New Roman" panose="02020603050405020304" pitchFamily="18" charset="0"/>
                <a:sym typeface="Wingdings" panose="05000000000000000000" pitchFamily="2" charset="2"/>
              </a:rPr>
              <a:t> </a:t>
            </a:r>
            <a:r>
              <a:rPr lang="en-US" sz="1800" dirty="0">
                <a:effectLst/>
                <a:latin typeface="Times" panose="02020603050405020304" pitchFamily="18" charset="0"/>
                <a:ea typeface="Times New Roman" panose="02020603050405020304" pitchFamily="18" charset="0"/>
                <a:cs typeface="Times New Roman" panose="02020603050405020304" pitchFamily="18" charset="0"/>
              </a:rPr>
              <a:t>Describe any standards or typographical conventions that were followed when writing this SRS, such as fonts or highlighting that have special significance.</a:t>
            </a:r>
          </a:p>
          <a:p>
            <a:pPr marL="400050" lvl="1" indent="0">
              <a:buNone/>
            </a:pPr>
            <a:r>
              <a:rPr lang="en-US" sz="1800" b="1" dirty="0">
                <a:latin typeface="Times" panose="02020603050405020304" pitchFamily="18" charset="0"/>
                <a:cs typeface="Times New Roman" panose="02020603050405020304" pitchFamily="18" charset="0"/>
              </a:rPr>
              <a:t>1.3 </a:t>
            </a:r>
            <a:r>
              <a:rPr lang="en-US" sz="1800" b="1" dirty="0">
                <a:effectLst/>
                <a:latin typeface="Times" panose="02020603050405020304" pitchFamily="18" charset="0"/>
                <a:cs typeface="Times New Roman" panose="02020603050405020304" pitchFamily="18" charset="0"/>
              </a:rPr>
              <a:t>Scope</a:t>
            </a:r>
            <a:r>
              <a:rPr lang="en-IN" sz="1800" b="1" dirty="0">
                <a:latin typeface="Times" panose="02020603050405020304" pitchFamily="18" charset="0"/>
                <a:cs typeface="Times New Roman" panose="02020603050405020304" pitchFamily="18" charset="0"/>
              </a:rPr>
              <a:t> </a:t>
            </a:r>
            <a:r>
              <a:rPr lang="en-IN" sz="1800" b="1" dirty="0">
                <a:latin typeface="Times" panose="02020603050405020304" pitchFamily="18" charset="0"/>
                <a:cs typeface="Times New Roman" panose="02020603050405020304" pitchFamily="18" charset="0"/>
                <a:sym typeface="Wingdings" panose="05000000000000000000" pitchFamily="2" charset="2"/>
              </a:rPr>
              <a:t> </a:t>
            </a:r>
            <a:r>
              <a:rPr lang="en-US" sz="1800" dirty="0">
                <a:effectLst/>
                <a:latin typeface="Times" panose="02020603050405020304" pitchFamily="18" charset="0"/>
                <a:ea typeface="Times New Roman" panose="02020603050405020304" pitchFamily="18" charset="0"/>
                <a:cs typeface="Times New Roman" panose="02020603050405020304" pitchFamily="18" charset="0"/>
              </a:rPr>
              <a:t>. Relate the software to corporate goals or business strategies. If a separate vision and scope document is available, refer to it </a:t>
            </a:r>
            <a:endParaRPr lang="en-IN" sz="1800" b="1" dirty="0">
              <a:latin typeface="Times" panose="02020603050405020304" pitchFamily="18" charset="0"/>
              <a:ea typeface="Times New Roman" panose="02020603050405020304" pitchFamily="18" charset="0"/>
              <a:cs typeface="Times New Roman" panose="02020603050405020304" pitchFamily="18" charset="0"/>
            </a:endParaRPr>
          </a:p>
          <a:p>
            <a:pPr marL="400050" lvl="1" indent="0">
              <a:buNone/>
            </a:pPr>
            <a:r>
              <a:rPr lang="en-IN" sz="1800" b="1" dirty="0">
                <a:effectLst/>
                <a:latin typeface="Times" panose="02020603050405020304" pitchFamily="18" charset="0"/>
                <a:cs typeface="Times New Roman" panose="02020603050405020304" pitchFamily="18" charset="0"/>
              </a:rPr>
              <a:t>1.4 </a:t>
            </a:r>
            <a:r>
              <a:rPr lang="en-US" sz="1800" b="1" dirty="0">
                <a:effectLst/>
                <a:latin typeface="Times" panose="02020603050405020304" pitchFamily="18" charset="0"/>
                <a:cs typeface="Times New Roman" panose="02020603050405020304" pitchFamily="18" charset="0"/>
              </a:rPr>
              <a:t>Reference </a:t>
            </a:r>
            <a:r>
              <a:rPr lang="en-US" sz="1800" b="1" dirty="0">
                <a:effectLst/>
                <a:latin typeface="Times" panose="02020603050405020304" pitchFamily="18" charset="0"/>
                <a:cs typeface="Times New Roman" panose="02020603050405020304" pitchFamily="18" charset="0"/>
                <a:sym typeface="Wingdings" panose="05000000000000000000" pitchFamily="2" charset="2"/>
              </a:rPr>
              <a:t> </a:t>
            </a:r>
            <a:r>
              <a:rPr lang="en-US" sz="1800" dirty="0">
                <a:effectLst/>
                <a:latin typeface="Times" panose="02020603050405020304" pitchFamily="18" charset="0"/>
                <a:ea typeface="Times New Roman" panose="02020603050405020304" pitchFamily="18" charset="0"/>
                <a:cs typeface="Times New Roman" panose="02020603050405020304" pitchFamily="18" charset="0"/>
              </a:rPr>
              <a:t>List any other documents or Web addresses to which this SRS refers. These may include user interface style guides, contracts, standards, etc.</a:t>
            </a:r>
          </a:p>
          <a:p>
            <a:pPr>
              <a:buAutoNum type="arabicPeriod" startAt="2"/>
            </a:pPr>
            <a:r>
              <a:rPr lang="en-US" sz="1800" b="1" kern="1400" dirty="0">
                <a:effectLst/>
                <a:latin typeface="Times" panose="02020603050405020304" pitchFamily="18" charset="0"/>
                <a:cs typeface="Times New Roman" panose="02020603050405020304" pitchFamily="18" charset="0"/>
              </a:rPr>
              <a:t>Overall Description</a:t>
            </a:r>
          </a:p>
          <a:p>
            <a:pPr marL="400050" lvl="1" indent="0">
              <a:buNone/>
            </a:pPr>
            <a:r>
              <a:rPr lang="en-US" b="1" kern="1400" dirty="0">
                <a:latin typeface="Times" panose="02020603050405020304" pitchFamily="18" charset="0"/>
                <a:cs typeface="Times New Roman" panose="02020603050405020304" pitchFamily="18" charset="0"/>
              </a:rPr>
              <a:t>2.1 </a:t>
            </a:r>
            <a:r>
              <a:rPr lang="en-US" sz="1800" b="1" dirty="0">
                <a:effectLst/>
                <a:latin typeface="Times" panose="02020603050405020304" pitchFamily="18" charset="0"/>
                <a:cs typeface="Times New Roman" panose="02020603050405020304" pitchFamily="18" charset="0"/>
              </a:rPr>
              <a:t>Product Perspective</a:t>
            </a:r>
            <a:r>
              <a:rPr lang="en-IN" sz="1800" b="1" dirty="0">
                <a:latin typeface="Times" panose="02020603050405020304" pitchFamily="18" charset="0"/>
                <a:cs typeface="Times New Roman" panose="02020603050405020304" pitchFamily="18" charset="0"/>
              </a:rPr>
              <a:t> </a:t>
            </a:r>
            <a:r>
              <a:rPr lang="en-IN" sz="1800" b="1" dirty="0">
                <a:latin typeface="Times" panose="02020603050405020304" pitchFamily="18" charset="0"/>
                <a:cs typeface="Times New Roman" panose="02020603050405020304" pitchFamily="18" charset="0"/>
                <a:sym typeface="Wingdings" panose="05000000000000000000" pitchFamily="2" charset="2"/>
              </a:rPr>
              <a:t> </a:t>
            </a:r>
            <a:r>
              <a:rPr lang="en-US" sz="1800" dirty="0">
                <a:effectLst/>
                <a:latin typeface="Times" panose="02020603050405020304" pitchFamily="18" charset="0"/>
                <a:ea typeface="Times New Roman" panose="02020603050405020304" pitchFamily="18" charset="0"/>
                <a:cs typeface="Times New Roman" panose="02020603050405020304" pitchFamily="18" charset="0"/>
              </a:rPr>
              <a:t>Describe the context and origin of the product being specified in this SRS. </a:t>
            </a:r>
            <a:endParaRPr lang="en-US" b="1" kern="1400" dirty="0">
              <a:effectLst/>
              <a:latin typeface="Times" panose="02020603050405020304" pitchFamily="18" charset="0"/>
              <a:cs typeface="Times New Roman" panose="02020603050405020304" pitchFamily="18" charset="0"/>
            </a:endParaRPr>
          </a:p>
          <a:p>
            <a:pPr marL="0" indent="0">
              <a:buNone/>
            </a:pPr>
            <a:endParaRPr lang="en-US" sz="1800" b="1" kern="1400" dirty="0">
              <a:effectLst/>
              <a:latin typeface="Times" panose="02020603050405020304" pitchFamily="18" charset="0"/>
              <a:cs typeface="Times New Roman" panose="02020603050405020304" pitchFamily="18" charset="0"/>
            </a:endParaRPr>
          </a:p>
          <a:p>
            <a:pPr marL="0" indent="0">
              <a:buNone/>
            </a:pPr>
            <a:endParaRPr lang="en-IN" sz="1800" b="1" kern="1400" dirty="0">
              <a:effectLst/>
              <a:latin typeface="Times" panose="02020603050405020304" pitchFamily="18" charset="0"/>
              <a:cs typeface="Times New Roman" panose="02020603050405020304" pitchFamily="18" charset="0"/>
            </a:endParaRPr>
          </a:p>
          <a:p>
            <a:pPr marL="0" indent="0">
              <a:buNone/>
            </a:pPr>
            <a:endParaRPr lang="en-IN" sz="2000" b="1" dirty="0">
              <a:effectLst/>
              <a:latin typeface="Times" panose="02020603050405020304" pitchFamily="18" charset="0"/>
              <a:cs typeface="Times New Roman" panose="02020603050405020304" pitchFamily="18" charset="0"/>
            </a:endParaRPr>
          </a:p>
          <a:p>
            <a:pPr marL="0" indent="0">
              <a:buNone/>
            </a:pPr>
            <a:endParaRPr lang="en-IN" sz="2000" b="1" dirty="0">
              <a:effectLst/>
              <a:latin typeface="Times" panose="02020603050405020304" pitchFamily="18" charset="0"/>
              <a:cs typeface="Times New Roman" panose="02020603050405020304" pitchFamily="18" charset="0"/>
            </a:endParaRPr>
          </a:p>
          <a:p>
            <a:pPr marL="400050" lvl="1" indent="0">
              <a:buNone/>
            </a:pPr>
            <a:endParaRPr lang="en-US" sz="1800" dirty="0">
              <a:latin typeface="Times" panose="02020603050405020304" pitchFamily="18" charset="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2166396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8491DA-6997-443A-92AE-EACD875F84EE}"/>
              </a:ext>
            </a:extLst>
          </p:cNvPr>
          <p:cNvSpPr>
            <a:spLocks noGrp="1"/>
          </p:cNvSpPr>
          <p:nvPr>
            <p:ph idx="1"/>
          </p:nvPr>
        </p:nvSpPr>
        <p:spPr>
          <a:xfrm>
            <a:off x="2589212" y="569843"/>
            <a:ext cx="8915400" cy="5341379"/>
          </a:xfrm>
        </p:spPr>
        <p:txBody>
          <a:bodyPr/>
          <a:lstStyle/>
          <a:p>
            <a:pPr marL="400050" lvl="1" indent="0">
              <a:buNone/>
            </a:pPr>
            <a:r>
              <a:rPr lang="en-US" dirty="0"/>
              <a:t>2.2 </a:t>
            </a:r>
            <a:r>
              <a:rPr lang="en-US" sz="1800" b="1" dirty="0">
                <a:effectLst/>
                <a:latin typeface="Times" panose="02020603050405020304" pitchFamily="18" charset="0"/>
                <a:cs typeface="Times New Roman" panose="02020603050405020304" pitchFamily="18" charset="0"/>
              </a:rPr>
              <a:t>Product Functions </a:t>
            </a:r>
            <a:r>
              <a:rPr lang="en-US" sz="1800" b="1" dirty="0">
                <a:effectLst/>
                <a:latin typeface="Times" panose="02020603050405020304" pitchFamily="18" charset="0"/>
                <a:cs typeface="Times New Roman" panose="02020603050405020304" pitchFamily="18" charset="0"/>
                <a:sym typeface="Wingdings" panose="05000000000000000000" pitchFamily="2" charset="2"/>
              </a:rPr>
              <a:t> </a:t>
            </a:r>
            <a:r>
              <a:rPr lang="en-US" sz="1800" dirty="0">
                <a:effectLst/>
                <a:latin typeface="Times" panose="02020603050405020304" pitchFamily="18" charset="0"/>
                <a:ea typeface="Times New Roman" panose="02020603050405020304" pitchFamily="18" charset="0"/>
                <a:cs typeface="Times New Roman" panose="02020603050405020304" pitchFamily="18" charset="0"/>
              </a:rPr>
              <a:t>Summarize the major functions the product must perform or must let the user perform. </a:t>
            </a:r>
          </a:p>
          <a:p>
            <a:pPr marL="400050" lvl="1" indent="0">
              <a:buNone/>
            </a:pPr>
            <a:r>
              <a:rPr lang="en-US" sz="1800" b="1" dirty="0">
                <a:latin typeface="Times" panose="02020603050405020304" pitchFamily="18" charset="0"/>
                <a:cs typeface="Times New Roman" panose="02020603050405020304" pitchFamily="18" charset="0"/>
              </a:rPr>
              <a:t>2.3 </a:t>
            </a:r>
            <a:r>
              <a:rPr lang="en-US" sz="1800" b="1" dirty="0">
                <a:effectLst/>
                <a:latin typeface="Times" panose="02020603050405020304" pitchFamily="18" charset="0"/>
                <a:cs typeface="Times New Roman" panose="02020603050405020304" pitchFamily="18" charset="0"/>
              </a:rPr>
              <a:t>User Classes and Characteristics</a:t>
            </a:r>
            <a:r>
              <a:rPr lang="en-IN" sz="1800" b="1" dirty="0">
                <a:latin typeface="Times" panose="02020603050405020304" pitchFamily="18" charset="0"/>
                <a:cs typeface="Times New Roman" panose="02020603050405020304" pitchFamily="18" charset="0"/>
              </a:rPr>
              <a:t> </a:t>
            </a:r>
            <a:r>
              <a:rPr lang="en-IN" sz="1800" b="1" dirty="0">
                <a:latin typeface="Times" panose="02020603050405020304" pitchFamily="18" charset="0"/>
                <a:cs typeface="Times New Roman" panose="02020603050405020304" pitchFamily="18" charset="0"/>
                <a:sym typeface="Wingdings" panose="05000000000000000000" pitchFamily="2" charset="2"/>
              </a:rPr>
              <a:t> </a:t>
            </a:r>
            <a:r>
              <a:rPr lang="en-US" sz="1800" dirty="0">
                <a:effectLst/>
                <a:latin typeface="Times" panose="02020603050405020304" pitchFamily="18" charset="0"/>
                <a:ea typeface="Times New Roman" panose="02020603050405020304" pitchFamily="18" charset="0"/>
                <a:cs typeface="Times New Roman" panose="02020603050405020304" pitchFamily="18" charset="0"/>
              </a:rPr>
              <a:t>Identify the various user classes that you anticipate will use this product. User classes may be differentiated based on frequency of use, subset of product functions used, technical expertise, security or privilege levels, educational level, or experience. </a:t>
            </a:r>
            <a:endParaRPr lang="en-IN" sz="1800" b="1" dirty="0">
              <a:latin typeface="Times" panose="02020603050405020304" pitchFamily="18" charset="0"/>
              <a:ea typeface="Times New Roman" panose="02020603050405020304" pitchFamily="18" charset="0"/>
              <a:cs typeface="Times New Roman" panose="02020603050405020304" pitchFamily="18" charset="0"/>
            </a:endParaRPr>
          </a:p>
          <a:p>
            <a:pPr marL="400050" lvl="1" indent="0">
              <a:buNone/>
            </a:pPr>
            <a:r>
              <a:rPr lang="en-IN" sz="1800" b="1" dirty="0">
                <a:latin typeface="Times" panose="02020603050405020304" pitchFamily="18" charset="0"/>
                <a:cs typeface="Times New Roman" panose="02020603050405020304" pitchFamily="18" charset="0"/>
              </a:rPr>
              <a:t>2</a:t>
            </a:r>
            <a:r>
              <a:rPr lang="en-IN" sz="1800" b="1" dirty="0">
                <a:effectLst/>
                <a:latin typeface="Times" panose="02020603050405020304" pitchFamily="18" charset="0"/>
                <a:cs typeface="Times New Roman" panose="02020603050405020304" pitchFamily="18" charset="0"/>
              </a:rPr>
              <a:t>.4 </a:t>
            </a:r>
            <a:r>
              <a:rPr lang="en-US" sz="1800" b="1" dirty="0">
                <a:effectLst/>
                <a:latin typeface="Times" panose="02020603050405020304" pitchFamily="18" charset="0"/>
                <a:cs typeface="Times New Roman" panose="02020603050405020304" pitchFamily="18" charset="0"/>
              </a:rPr>
              <a:t>Operating Environment </a:t>
            </a:r>
            <a:r>
              <a:rPr lang="en-US" sz="1800" b="1" dirty="0">
                <a:effectLst/>
                <a:latin typeface="Times" panose="02020603050405020304" pitchFamily="18" charset="0"/>
                <a:cs typeface="Times New Roman" panose="02020603050405020304" pitchFamily="18" charset="0"/>
                <a:sym typeface="Wingdings" panose="05000000000000000000" pitchFamily="2" charset="2"/>
              </a:rPr>
              <a:t> </a:t>
            </a:r>
            <a:r>
              <a:rPr lang="en-US" sz="1800" dirty="0">
                <a:effectLst/>
                <a:latin typeface="Times" panose="02020603050405020304" pitchFamily="18" charset="0"/>
                <a:ea typeface="Times New Roman" panose="02020603050405020304" pitchFamily="18" charset="0"/>
                <a:cs typeface="Times New Roman" panose="02020603050405020304" pitchFamily="18" charset="0"/>
              </a:rPr>
              <a:t>Describe the environment in which the software will operate, including the hardware platform, operating system and versions, and any other software components or applications.</a:t>
            </a:r>
          </a:p>
          <a:p>
            <a:pPr marL="400050" lvl="1" indent="0">
              <a:buNone/>
            </a:pPr>
            <a:r>
              <a:rPr lang="en-US" sz="1800" b="1" dirty="0">
                <a:latin typeface="Times" panose="02020603050405020304" pitchFamily="18" charset="0"/>
                <a:cs typeface="Times New Roman" panose="02020603050405020304" pitchFamily="18" charset="0"/>
              </a:rPr>
              <a:t>2.5 </a:t>
            </a:r>
            <a:r>
              <a:rPr lang="en-US" sz="1800" b="1" dirty="0">
                <a:effectLst/>
                <a:latin typeface="Times" panose="02020603050405020304" pitchFamily="18" charset="0"/>
                <a:cs typeface="Times New Roman" panose="02020603050405020304" pitchFamily="18" charset="0"/>
              </a:rPr>
              <a:t>Design and Implementation Constraints</a:t>
            </a:r>
            <a:r>
              <a:rPr lang="en-IN" sz="1800" b="1" dirty="0">
                <a:latin typeface="Times" panose="02020603050405020304" pitchFamily="18" charset="0"/>
                <a:cs typeface="Times New Roman" panose="02020603050405020304" pitchFamily="18" charset="0"/>
              </a:rPr>
              <a:t> </a:t>
            </a:r>
            <a:r>
              <a:rPr lang="en-IN" sz="1800" b="1" dirty="0">
                <a:latin typeface="Times" panose="02020603050405020304" pitchFamily="18" charset="0"/>
                <a:cs typeface="Times New Roman" panose="02020603050405020304" pitchFamily="18" charset="0"/>
                <a:sym typeface="Wingdings" panose="05000000000000000000" pitchFamily="2" charset="2"/>
              </a:rPr>
              <a:t> </a:t>
            </a:r>
            <a:r>
              <a:rPr lang="en-US" sz="1800" dirty="0">
                <a:effectLst/>
                <a:latin typeface="Times" panose="02020603050405020304" pitchFamily="18" charset="0"/>
                <a:ea typeface="Times New Roman" panose="02020603050405020304" pitchFamily="18" charset="0"/>
                <a:cs typeface="Times New Roman" panose="02020603050405020304" pitchFamily="18" charset="0"/>
              </a:rPr>
              <a:t>Describe any items or issues that will limit the options available to the developers. These might include: corporate or regulatory policies</a:t>
            </a:r>
            <a:r>
              <a:rPr lang="en-IN" sz="1800" b="1" dirty="0">
                <a:latin typeface="Times" panose="02020603050405020304" pitchFamily="18" charset="0"/>
                <a:ea typeface="Times New Roman" panose="02020603050405020304" pitchFamily="18" charset="0"/>
                <a:cs typeface="Times New Roman" panose="02020603050405020304" pitchFamily="18" charset="0"/>
              </a:rPr>
              <a:t>.</a:t>
            </a:r>
          </a:p>
          <a:p>
            <a:pPr marL="400050" lvl="1" indent="0">
              <a:buNone/>
            </a:pPr>
            <a:r>
              <a:rPr lang="en-IN" sz="1800" b="1" dirty="0">
                <a:effectLst/>
                <a:latin typeface="Times" panose="02020603050405020304" pitchFamily="18" charset="0"/>
                <a:cs typeface="Times New Roman" panose="02020603050405020304" pitchFamily="18" charset="0"/>
              </a:rPr>
              <a:t>2.6 </a:t>
            </a:r>
            <a:r>
              <a:rPr lang="en-US" sz="1800" b="1" dirty="0">
                <a:effectLst/>
                <a:latin typeface="Times" panose="02020603050405020304" pitchFamily="18" charset="0"/>
                <a:cs typeface="Times New Roman" panose="02020603050405020304" pitchFamily="18" charset="0"/>
              </a:rPr>
              <a:t>Assumptions and Dependencies</a:t>
            </a:r>
            <a:r>
              <a:rPr lang="en-IN" sz="1800" b="1" dirty="0">
                <a:latin typeface="Times" panose="02020603050405020304" pitchFamily="18" charset="0"/>
                <a:cs typeface="Times New Roman" panose="02020603050405020304" pitchFamily="18" charset="0"/>
              </a:rPr>
              <a:t> </a:t>
            </a:r>
            <a:r>
              <a:rPr lang="en-IN" sz="1800" b="1" dirty="0">
                <a:latin typeface="Times" panose="02020603050405020304" pitchFamily="18" charset="0"/>
                <a:cs typeface="Times New Roman" panose="02020603050405020304" pitchFamily="18" charset="0"/>
                <a:sym typeface="Wingdings" panose="05000000000000000000" pitchFamily="2" charset="2"/>
              </a:rPr>
              <a:t> </a:t>
            </a:r>
            <a:r>
              <a:rPr lang="en-US" sz="1800" dirty="0">
                <a:effectLst/>
                <a:latin typeface="Times" panose="02020603050405020304" pitchFamily="18" charset="0"/>
                <a:ea typeface="Times New Roman" panose="02020603050405020304" pitchFamily="18" charset="0"/>
                <a:cs typeface="Times New Roman" panose="02020603050405020304" pitchFamily="18" charset="0"/>
              </a:rPr>
              <a:t>List any assumed factors (as opposed to known facts) that could affect the requirements stated in the SRS. These could include third-party or commercial components that you plan to use, issues around the development or operating environment, or constraints. </a:t>
            </a:r>
            <a:endParaRPr lang="en-IN" sz="1800" b="1" dirty="0">
              <a:effectLst/>
              <a:latin typeface="Times" panose="02020603050405020304" pitchFamily="18" charset="0"/>
              <a:cs typeface="Times New Roman" panose="02020603050405020304" pitchFamily="18" charset="0"/>
            </a:endParaRPr>
          </a:p>
          <a:p>
            <a:pPr marL="400050" lvl="1" indent="0">
              <a:buNone/>
            </a:pPr>
            <a:endParaRPr lang="en-IN" sz="1800" b="1" dirty="0">
              <a:effectLst/>
              <a:latin typeface="Times" panose="02020603050405020304" pitchFamily="18" charset="0"/>
              <a:cs typeface="Times New Roman" panose="02020603050405020304" pitchFamily="18" charset="0"/>
            </a:endParaRPr>
          </a:p>
          <a:p>
            <a:pPr marL="400050" lvl="1" indent="0">
              <a:buNone/>
            </a:pPr>
            <a:endParaRPr lang="en-IN" dirty="0"/>
          </a:p>
        </p:txBody>
      </p:sp>
    </p:spTree>
    <p:extLst>
      <p:ext uri="{BB962C8B-B14F-4D97-AF65-F5344CB8AC3E}">
        <p14:creationId xmlns:p14="http://schemas.microsoft.com/office/powerpoint/2010/main" val="3396091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E7EDC5-DF4F-42F8-B1EB-3615F122CAE1}"/>
              </a:ext>
            </a:extLst>
          </p:cNvPr>
          <p:cNvSpPr>
            <a:spLocks noGrp="1"/>
          </p:cNvSpPr>
          <p:nvPr>
            <p:ph idx="1"/>
          </p:nvPr>
        </p:nvSpPr>
        <p:spPr>
          <a:xfrm>
            <a:off x="2589212" y="583096"/>
            <a:ext cx="8915400" cy="5328126"/>
          </a:xfrm>
        </p:spPr>
        <p:txBody>
          <a:bodyPr/>
          <a:lstStyle/>
          <a:p>
            <a:pPr>
              <a:buAutoNum type="arabicPeriod" startAt="3"/>
            </a:pPr>
            <a:r>
              <a:rPr lang="en-US" sz="1800" b="1" kern="1400" dirty="0">
                <a:effectLst/>
                <a:latin typeface="Times" panose="02020603050405020304" pitchFamily="18" charset="0"/>
                <a:cs typeface="Times New Roman" panose="02020603050405020304" pitchFamily="18" charset="0"/>
              </a:rPr>
              <a:t>External Interface Requirements</a:t>
            </a:r>
          </a:p>
          <a:p>
            <a:pPr marL="400050" lvl="1" indent="0">
              <a:buNone/>
            </a:pPr>
            <a:r>
              <a:rPr lang="en-US" b="1" kern="1400" dirty="0">
                <a:latin typeface="Times" panose="02020603050405020304" pitchFamily="18" charset="0"/>
                <a:cs typeface="Times New Roman" panose="02020603050405020304" pitchFamily="18" charset="0"/>
              </a:rPr>
              <a:t>3.1 </a:t>
            </a:r>
            <a:r>
              <a:rPr lang="en-US" sz="1800" b="1" dirty="0">
                <a:effectLst/>
                <a:latin typeface="Times" panose="02020603050405020304" pitchFamily="18" charset="0"/>
                <a:cs typeface="Times New Roman" panose="02020603050405020304" pitchFamily="18" charset="0"/>
              </a:rPr>
              <a:t>User Interfaces</a:t>
            </a:r>
            <a:r>
              <a:rPr lang="en-US" sz="1800" b="1" kern="1400" dirty="0">
                <a:effectLst/>
                <a:latin typeface="Times" panose="02020603050405020304" pitchFamily="18" charset="0"/>
                <a:cs typeface="Times New Roman" panose="02020603050405020304" pitchFamily="18" charset="0"/>
                <a:sym typeface="Wingdings" panose="05000000000000000000" pitchFamily="2" charset="2"/>
              </a:rPr>
              <a:t>  </a:t>
            </a:r>
            <a:r>
              <a:rPr lang="en-US" sz="1800" dirty="0">
                <a:effectLst/>
                <a:latin typeface="Times" panose="02020603050405020304" pitchFamily="18" charset="0"/>
                <a:ea typeface="Times New Roman" panose="02020603050405020304" pitchFamily="18" charset="0"/>
                <a:cs typeface="Times New Roman" panose="02020603050405020304" pitchFamily="18" charset="0"/>
              </a:rPr>
              <a:t>Describe the logical characteristics of each interface between the software product and the users. </a:t>
            </a:r>
            <a:endParaRPr lang="en-US" sz="1800" b="1" kern="1400" dirty="0">
              <a:effectLst/>
              <a:latin typeface="Times" panose="02020603050405020304" pitchFamily="18" charset="0"/>
              <a:ea typeface="Times New Roman" panose="02020603050405020304" pitchFamily="18" charset="0"/>
              <a:cs typeface="Times New Roman" panose="02020603050405020304" pitchFamily="18" charset="0"/>
              <a:sym typeface="Wingdings" panose="05000000000000000000" pitchFamily="2" charset="2"/>
            </a:endParaRPr>
          </a:p>
          <a:p>
            <a:pPr marL="400050" lvl="1" indent="0">
              <a:buNone/>
            </a:pPr>
            <a:r>
              <a:rPr lang="en-US" sz="1800" b="1" kern="1400" dirty="0">
                <a:latin typeface="Times" panose="02020603050405020304" pitchFamily="18" charset="0"/>
                <a:cs typeface="Times New Roman" panose="02020603050405020304" pitchFamily="18" charset="0"/>
                <a:sym typeface="Wingdings" panose="05000000000000000000" pitchFamily="2" charset="2"/>
              </a:rPr>
              <a:t>3.2 </a:t>
            </a:r>
            <a:r>
              <a:rPr lang="en-US" sz="1800" b="1" dirty="0">
                <a:effectLst/>
                <a:latin typeface="Times" panose="02020603050405020304" pitchFamily="18" charset="0"/>
                <a:cs typeface="Times New Roman" panose="02020603050405020304" pitchFamily="18" charset="0"/>
              </a:rPr>
              <a:t>Hardware Interfaces</a:t>
            </a:r>
            <a:r>
              <a:rPr lang="en-IN" sz="1800" b="1" dirty="0">
                <a:latin typeface="Times" panose="02020603050405020304" pitchFamily="18" charset="0"/>
                <a:cs typeface="Times New Roman" panose="02020603050405020304" pitchFamily="18" charset="0"/>
              </a:rPr>
              <a:t> </a:t>
            </a:r>
            <a:r>
              <a:rPr lang="en-IN" sz="1800" b="1" dirty="0">
                <a:latin typeface="Times" panose="02020603050405020304" pitchFamily="18" charset="0"/>
                <a:cs typeface="Times New Roman" panose="02020603050405020304" pitchFamily="18" charset="0"/>
                <a:sym typeface="Wingdings" panose="05000000000000000000" pitchFamily="2" charset="2"/>
              </a:rPr>
              <a:t> </a:t>
            </a:r>
            <a:r>
              <a:rPr lang="en-US" sz="1800" dirty="0">
                <a:effectLst/>
                <a:latin typeface="Times" panose="02020603050405020304" pitchFamily="18" charset="0"/>
                <a:ea typeface="Times New Roman" panose="02020603050405020304" pitchFamily="18" charset="0"/>
                <a:cs typeface="Times New Roman" panose="02020603050405020304" pitchFamily="18" charset="0"/>
              </a:rPr>
              <a:t>Describe the logical and physical characteristics of each interface between the software product and the hardware components of the system. This may include the supported device types, the nature of the data and control interactions between the software and the hardware, and communication protocols to be used.</a:t>
            </a:r>
            <a:endParaRPr lang="en-IN" sz="1800" b="1" dirty="0">
              <a:latin typeface="Times" panose="02020603050405020304" pitchFamily="18" charset="0"/>
              <a:ea typeface="Times New Roman" panose="02020603050405020304" pitchFamily="18" charset="0"/>
              <a:cs typeface="Times New Roman" panose="02020603050405020304" pitchFamily="18" charset="0"/>
            </a:endParaRPr>
          </a:p>
          <a:p>
            <a:pPr marL="400050" lvl="1" indent="0">
              <a:buNone/>
            </a:pPr>
            <a:r>
              <a:rPr lang="en-IN" sz="1800" b="1" dirty="0">
                <a:effectLst/>
                <a:latin typeface="Times" panose="02020603050405020304" pitchFamily="18" charset="0"/>
                <a:cs typeface="Times New Roman" panose="02020603050405020304" pitchFamily="18" charset="0"/>
              </a:rPr>
              <a:t>3.3 </a:t>
            </a:r>
            <a:r>
              <a:rPr lang="en-US" sz="1800" b="1" dirty="0">
                <a:effectLst/>
                <a:latin typeface="Times" panose="02020603050405020304" pitchFamily="18" charset="0"/>
                <a:cs typeface="Times New Roman" panose="02020603050405020304" pitchFamily="18" charset="0"/>
              </a:rPr>
              <a:t>Software Interfaces</a:t>
            </a:r>
            <a:r>
              <a:rPr lang="en-IN" sz="1800" b="1" dirty="0">
                <a:latin typeface="Times" panose="02020603050405020304" pitchFamily="18" charset="0"/>
                <a:cs typeface="Times New Roman" panose="02020603050405020304" pitchFamily="18" charset="0"/>
              </a:rPr>
              <a:t> </a:t>
            </a:r>
            <a:r>
              <a:rPr lang="en-IN" sz="1800" b="1" dirty="0">
                <a:latin typeface="Times" panose="02020603050405020304" pitchFamily="18" charset="0"/>
                <a:cs typeface="Times New Roman" panose="02020603050405020304" pitchFamily="18" charset="0"/>
                <a:sym typeface="Wingdings" panose="05000000000000000000" pitchFamily="2" charset="2"/>
              </a:rPr>
              <a:t> </a:t>
            </a:r>
            <a:r>
              <a:rPr lang="en-US" sz="1800" dirty="0">
                <a:effectLst/>
                <a:latin typeface="Times" panose="02020603050405020304" pitchFamily="18" charset="0"/>
                <a:ea typeface="Times New Roman" panose="02020603050405020304" pitchFamily="18" charset="0"/>
                <a:cs typeface="Times New Roman" panose="02020603050405020304" pitchFamily="18" charset="0"/>
              </a:rPr>
              <a:t>Describe the connections between this product and other specific software components (name and version), including databases, operating systems, tools, libraries, and integrated commercial components. </a:t>
            </a:r>
            <a:endParaRPr lang="en-IN" sz="1800" b="1" dirty="0">
              <a:latin typeface="Times" panose="02020603050405020304" pitchFamily="18" charset="0"/>
              <a:ea typeface="Times New Roman" panose="02020603050405020304" pitchFamily="18" charset="0"/>
              <a:cs typeface="Times New Roman" panose="02020603050405020304" pitchFamily="18" charset="0"/>
            </a:endParaRPr>
          </a:p>
          <a:p>
            <a:pPr marL="400050" lvl="1" indent="0">
              <a:buNone/>
            </a:pPr>
            <a:r>
              <a:rPr lang="en-IN" sz="1800" b="1" dirty="0">
                <a:latin typeface="Times" panose="02020603050405020304" pitchFamily="18" charset="0"/>
                <a:cs typeface="Times New Roman" panose="02020603050405020304" pitchFamily="18" charset="0"/>
                <a:sym typeface="Wingdings" panose="05000000000000000000" pitchFamily="2" charset="2"/>
              </a:rPr>
              <a:t>3.4 </a:t>
            </a:r>
            <a:r>
              <a:rPr lang="en-US" sz="1800" b="1" dirty="0">
                <a:effectLst/>
                <a:latin typeface="Times" panose="02020603050405020304" pitchFamily="18" charset="0"/>
                <a:cs typeface="Times New Roman" panose="02020603050405020304" pitchFamily="18" charset="0"/>
              </a:rPr>
              <a:t>Communications Interfaces</a:t>
            </a:r>
            <a:r>
              <a:rPr lang="en-IN" sz="1800" b="1" dirty="0">
                <a:effectLst/>
                <a:latin typeface="Times" panose="02020603050405020304" pitchFamily="18" charset="0"/>
                <a:cs typeface="Times New Roman" panose="02020603050405020304" pitchFamily="18" charset="0"/>
                <a:sym typeface="Wingdings" panose="05000000000000000000" pitchFamily="2" charset="2"/>
              </a:rPr>
              <a:t>  </a:t>
            </a:r>
            <a:r>
              <a:rPr lang="en-US" sz="1800" dirty="0">
                <a:effectLst/>
                <a:latin typeface="Times" panose="02020603050405020304" pitchFamily="18" charset="0"/>
                <a:ea typeface="Times New Roman" panose="02020603050405020304" pitchFamily="18" charset="0"/>
                <a:cs typeface="Times New Roman" panose="02020603050405020304" pitchFamily="18" charset="0"/>
              </a:rPr>
              <a:t>Describe the requirements associated with any communications functions required by this product, including e-mail, web browser, network server communications protocols, electronic forms, and so on. </a:t>
            </a:r>
            <a:endParaRPr lang="en-IN" sz="1800" b="1" dirty="0">
              <a:latin typeface="Times" panose="02020603050405020304" pitchFamily="18" charset="0"/>
              <a:ea typeface="Times New Roman" panose="02020603050405020304" pitchFamily="18" charset="0"/>
              <a:cs typeface="Times New Roman" panose="02020603050405020304" pitchFamily="18" charset="0"/>
            </a:endParaRPr>
          </a:p>
          <a:p>
            <a:pPr>
              <a:buAutoNum type="arabicPeriod" startAt="4"/>
            </a:pPr>
            <a:r>
              <a:rPr lang="en-US" sz="1800" b="1" kern="1400" dirty="0">
                <a:effectLst/>
                <a:latin typeface="Times" panose="02020603050405020304" pitchFamily="18" charset="0"/>
                <a:cs typeface="Times New Roman" panose="02020603050405020304" pitchFamily="18" charset="0"/>
              </a:rPr>
              <a:t>System Features</a:t>
            </a:r>
          </a:p>
          <a:p>
            <a:pPr marL="400050" lvl="1" indent="0">
              <a:buNone/>
            </a:pPr>
            <a:r>
              <a:rPr lang="en-US" sz="1800" dirty="0">
                <a:effectLst/>
                <a:latin typeface="Times" panose="02020603050405020304" pitchFamily="18" charset="0"/>
                <a:ea typeface="Times New Roman" panose="02020603050405020304" pitchFamily="18" charset="0"/>
                <a:cs typeface="Times New Roman" panose="02020603050405020304" pitchFamily="18" charset="0"/>
              </a:rPr>
              <a:t>This template illustrates organizing the functional requirements for the product by system features, the major services provided by the product.</a:t>
            </a:r>
            <a:endParaRPr lang="en-IN" sz="1800" b="1" kern="1400" dirty="0">
              <a:latin typeface="Times" panose="02020603050405020304" pitchFamily="18" charset="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753275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E3A966-ED4D-4D66-A6F8-A9C6BB59333B}"/>
              </a:ext>
            </a:extLst>
          </p:cNvPr>
          <p:cNvSpPr>
            <a:spLocks noGrp="1"/>
          </p:cNvSpPr>
          <p:nvPr>
            <p:ph idx="1"/>
          </p:nvPr>
        </p:nvSpPr>
        <p:spPr>
          <a:xfrm>
            <a:off x="2589212" y="371061"/>
            <a:ext cx="8915400" cy="5540161"/>
          </a:xfrm>
        </p:spPr>
        <p:txBody>
          <a:bodyPr/>
          <a:lstStyle/>
          <a:p>
            <a:pPr marL="400050" lvl="1" indent="0">
              <a:buNone/>
            </a:pPr>
            <a:r>
              <a:rPr lang="en-US" sz="1800" dirty="0">
                <a:effectLst/>
                <a:latin typeface="Times" panose="02020603050405020304" pitchFamily="18" charset="0"/>
                <a:ea typeface="Times New Roman" panose="02020603050405020304" pitchFamily="18" charset="0"/>
                <a:cs typeface="Times New Roman" panose="02020603050405020304" pitchFamily="18" charset="0"/>
              </a:rPr>
              <a:t>You may prefer to organize this section by use case, mode of operation, user class, object class, functional hierarchy, or combinations of these, whatever makes the most logical sense for your product.</a:t>
            </a:r>
            <a:r>
              <a:rPr lang="en-US" dirty="0"/>
              <a:t> </a:t>
            </a:r>
            <a:endParaRPr lang="en-IN" dirty="0"/>
          </a:p>
          <a:p>
            <a:pPr>
              <a:buAutoNum type="arabicPeriod" startAt="5"/>
            </a:pPr>
            <a:r>
              <a:rPr lang="en-US" sz="1800" b="1" kern="1400" dirty="0">
                <a:effectLst/>
                <a:latin typeface="Times" panose="02020603050405020304" pitchFamily="18" charset="0"/>
                <a:cs typeface="Times New Roman" panose="02020603050405020304" pitchFamily="18" charset="0"/>
              </a:rPr>
              <a:t>Other Nonfunctional Requirements</a:t>
            </a:r>
          </a:p>
          <a:p>
            <a:pPr marL="457200" lvl="1" indent="0">
              <a:buNone/>
            </a:pPr>
            <a:r>
              <a:rPr lang="en-US" sz="1800" dirty="0">
                <a:effectLst/>
                <a:latin typeface="Times" panose="02020603050405020304" pitchFamily="18" charset="0"/>
                <a:ea typeface="Times New Roman" panose="02020603050405020304" pitchFamily="18" charset="0"/>
                <a:cs typeface="Times New Roman" panose="02020603050405020304" pitchFamily="18" charset="0"/>
              </a:rPr>
              <a:t>If there are performance requirements for the product under various circumstances, state them here and explain their rationale, to help the developers understand the intent and make suitable design choices.</a:t>
            </a:r>
            <a:endParaRPr lang="en-US" sz="1800" b="1" kern="1400" dirty="0">
              <a:latin typeface="Times" panose="02020603050405020304" pitchFamily="18" charset="0"/>
              <a:ea typeface="Times New Roman" panose="02020603050405020304" pitchFamily="18" charset="0"/>
              <a:cs typeface="Times New Roman" panose="02020603050405020304" pitchFamily="18" charset="0"/>
            </a:endParaRPr>
          </a:p>
          <a:p>
            <a:pPr marL="457200" lvl="1" indent="0">
              <a:buNone/>
            </a:pPr>
            <a:r>
              <a:rPr lang="en-US" sz="1800" dirty="0">
                <a:effectLst/>
                <a:latin typeface="Times" panose="02020603050405020304" pitchFamily="18" charset="0"/>
                <a:ea typeface="Times New Roman" panose="02020603050405020304" pitchFamily="18" charset="0"/>
                <a:cs typeface="Times New Roman" panose="02020603050405020304" pitchFamily="18" charset="0"/>
              </a:rPr>
              <a:t>Specify those requirements that are concerned with possible loss, damage, or harm that could result from the use of the product.</a:t>
            </a:r>
            <a:endParaRPr lang="en-US" sz="1800" b="1" kern="1400" dirty="0">
              <a:effectLst/>
              <a:latin typeface="Times" panose="02020603050405020304" pitchFamily="18" charset="0"/>
              <a:ea typeface="Times New Roman" panose="02020603050405020304" pitchFamily="18" charset="0"/>
              <a:cs typeface="Times New Roman" panose="02020603050405020304" pitchFamily="18" charset="0"/>
            </a:endParaRPr>
          </a:p>
          <a:p>
            <a:pPr marL="457200" lvl="1" indent="0">
              <a:buNone/>
            </a:pPr>
            <a:r>
              <a:rPr lang="en-US" sz="1800" dirty="0">
                <a:effectLst/>
                <a:latin typeface="Times" panose="02020603050405020304" pitchFamily="18" charset="0"/>
                <a:ea typeface="Times New Roman" panose="02020603050405020304" pitchFamily="18" charset="0"/>
                <a:cs typeface="Times New Roman" panose="02020603050405020304" pitchFamily="18" charset="0"/>
              </a:rPr>
              <a:t>Specify any requirements regarding security or privacy issues surrounding use of the product or protection of the data used or created by the product.</a:t>
            </a:r>
            <a:endParaRPr lang="en-US" b="1" kern="1400" dirty="0">
              <a:effectLst/>
              <a:latin typeface="Times" panose="02020603050405020304" pitchFamily="18" charset="0"/>
              <a:cs typeface="Times New Roman" panose="02020603050405020304" pitchFamily="18" charset="0"/>
            </a:endParaRPr>
          </a:p>
          <a:p>
            <a:pPr>
              <a:buFont typeface="Wingdings 3" charset="2"/>
              <a:buAutoNum type="arabicPeriod" startAt="5"/>
            </a:pPr>
            <a:r>
              <a:rPr lang="en-US" sz="1800" b="1" kern="1400" dirty="0">
                <a:effectLst/>
                <a:latin typeface="Times" panose="02020603050405020304" pitchFamily="18" charset="0"/>
                <a:cs typeface="Times New Roman" panose="02020603050405020304" pitchFamily="18" charset="0"/>
              </a:rPr>
              <a:t>Other Requirements</a:t>
            </a:r>
          </a:p>
          <a:p>
            <a:pPr marL="400050" lvl="1" indent="0">
              <a:buNone/>
            </a:pPr>
            <a:r>
              <a:rPr lang="en-US" sz="1800" dirty="0">
                <a:effectLst/>
                <a:latin typeface="Times" panose="02020603050405020304" pitchFamily="18" charset="0"/>
                <a:ea typeface="Times New Roman" panose="02020603050405020304" pitchFamily="18" charset="0"/>
                <a:cs typeface="Times New Roman" panose="02020603050405020304" pitchFamily="18" charset="0"/>
              </a:rPr>
              <a:t>Define any other requirements not covered elsewhere in the SRS. This might include database requirements, internationalization requirements, legal requirements, reuse objectives for the project, and so on. Add any new sections that are pertinent to the project</a:t>
            </a:r>
            <a:r>
              <a:rPr lang="en-US" sz="1800" b="1" kern="1400" dirty="0">
                <a:latin typeface="Times" panose="02020603050405020304" pitchFamily="18" charset="0"/>
                <a:ea typeface="Times New Roman" panose="02020603050405020304" pitchFamily="18" charset="0"/>
                <a:cs typeface="Times New Roman" panose="02020603050405020304" pitchFamily="18" charset="0"/>
              </a:rPr>
              <a:t>.</a:t>
            </a:r>
            <a:endParaRPr lang="en-IN" b="1" kern="1400" dirty="0">
              <a:effectLst/>
              <a:latin typeface="Times" panose="02020603050405020304" pitchFamily="18" charset="0"/>
              <a:cs typeface="Times New Roman" panose="02020603050405020304" pitchFamily="18" charset="0"/>
            </a:endParaRPr>
          </a:p>
          <a:p>
            <a:pPr marL="0" indent="0">
              <a:buNone/>
            </a:pPr>
            <a:endParaRPr lang="en-IN" sz="1800" b="1" kern="1400" dirty="0">
              <a:effectLst/>
              <a:latin typeface="Times"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5266563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233</TotalTime>
  <Words>1633</Words>
  <Application>Microsoft Office PowerPoint</Application>
  <PresentationFormat>Widescreen</PresentationFormat>
  <Paragraphs>107</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Aptos</vt:lpstr>
      <vt:lpstr>Aptos Display</vt:lpstr>
      <vt:lpstr>Arial</vt:lpstr>
      <vt:lpstr>canada-type-gibson</vt:lpstr>
      <vt:lpstr>Times</vt:lpstr>
      <vt:lpstr>urw-din</vt:lpstr>
      <vt:lpstr>Wingdings</vt:lpstr>
      <vt:lpstr>Wingdings 3</vt:lpstr>
      <vt:lpstr>Office Theme</vt:lpstr>
      <vt:lpstr>Software Requirement specification</vt:lpstr>
      <vt:lpstr>Table of Content</vt:lpstr>
      <vt:lpstr>What is SRS</vt:lpstr>
      <vt:lpstr>Nature of SRS</vt:lpstr>
      <vt:lpstr>Role of SRS</vt:lpstr>
      <vt:lpstr>Characteristics of good SRS </vt:lpstr>
      <vt:lpstr>PowerPoint Presentation</vt:lpstr>
      <vt:lpstr>PowerPoint Presentation</vt:lpstr>
      <vt:lpstr>SRS TEMPLATE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Requirement specification</dc:title>
  <dc:creator>Shipra Shakya</dc:creator>
  <cp:lastModifiedBy>Achyut Shankar</cp:lastModifiedBy>
  <cp:revision>73</cp:revision>
  <dcterms:created xsi:type="dcterms:W3CDTF">2021-11-13T13:01:02Z</dcterms:created>
  <dcterms:modified xsi:type="dcterms:W3CDTF">2025-07-27T14:53:00Z</dcterms:modified>
</cp:coreProperties>
</file>