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87" r:id="rId2"/>
    <p:sldId id="289" r:id="rId3"/>
    <p:sldId id="261" r:id="rId4"/>
    <p:sldId id="292" r:id="rId5"/>
    <p:sldId id="279" r:id="rId6"/>
    <p:sldId id="282" r:id="rId7"/>
    <p:sldId id="283" r:id="rId8"/>
    <p:sldId id="284" r:id="rId9"/>
    <p:sldId id="286" r:id="rId10"/>
    <p:sldId id="266" r:id="rId11"/>
    <p:sldId id="268" r:id="rId12"/>
    <p:sldId id="269" r:id="rId13"/>
    <p:sldId id="270" r:id="rId14"/>
    <p:sldId id="271" r:id="rId15"/>
    <p:sldId id="273" r:id="rId16"/>
    <p:sldId id="275" r:id="rId17"/>
    <p:sldId id="276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FC9914"/>
    <a:srgbClr val="FFCC00"/>
    <a:srgbClr val="FF9900"/>
    <a:srgbClr val="99FF33"/>
    <a:srgbClr val="CC0066"/>
    <a:srgbClr val="E7F1F9"/>
    <a:srgbClr val="CCFFFF"/>
    <a:srgbClr val="FF660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>
      <p:cViewPr varScale="1">
        <p:scale>
          <a:sx n="59" d="100"/>
          <a:sy n="59" d="100"/>
        </p:scale>
        <p:origin x="14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Trina\Documents\pareto%20data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Trina\Documents\pareto%20data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75000"/>
              </a:schemeClr>
            </a:solidFill>
          </c:spPr>
          <c:invertIfNegative val="0"/>
          <c:cat>
            <c:strRef>
              <c:f>Sheet1!$B$22:$B$31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 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Sheet1!$D$22:$D$31</c:f>
              <c:numCache>
                <c:formatCode>General</c:formatCode>
                <c:ptCount val="10"/>
                <c:pt idx="0">
                  <c:v>27.52</c:v>
                </c:pt>
                <c:pt idx="1">
                  <c:v>21.1</c:v>
                </c:pt>
                <c:pt idx="2">
                  <c:v>15.6</c:v>
                </c:pt>
                <c:pt idx="3">
                  <c:v>9.17</c:v>
                </c:pt>
                <c:pt idx="4">
                  <c:v>7.34</c:v>
                </c:pt>
                <c:pt idx="5">
                  <c:v>6.42</c:v>
                </c:pt>
                <c:pt idx="6">
                  <c:v>4.59</c:v>
                </c:pt>
                <c:pt idx="7">
                  <c:v>2.52</c:v>
                </c:pt>
                <c:pt idx="8">
                  <c:v>2.52</c:v>
                </c:pt>
                <c:pt idx="9">
                  <c:v>2.52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8-4D83-A529-974F40FA1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1976448"/>
        <c:axId val="51994624"/>
      </c:barChart>
      <c:lineChart>
        <c:grouping val="standard"/>
        <c:varyColors val="0"/>
        <c:ser>
          <c:idx val="1"/>
          <c:order val="1"/>
          <c:spPr>
            <a:ln w="60325">
              <a:solidFill>
                <a:schemeClr val="accent4">
                  <a:lumMod val="60000"/>
                  <a:lumOff val="40000"/>
                </a:schemeClr>
              </a:solidFill>
            </a:ln>
          </c:spPr>
          <c:marker>
            <c:symbol val="none"/>
          </c:marker>
          <c:val>
            <c:numRef>
              <c:f>Sheet1!$E$22:$E$31</c:f>
              <c:numCache>
                <c:formatCode>General</c:formatCode>
                <c:ptCount val="10"/>
                <c:pt idx="0">
                  <c:v>27.52</c:v>
                </c:pt>
                <c:pt idx="1">
                  <c:v>48.620000000000012</c:v>
                </c:pt>
                <c:pt idx="2">
                  <c:v>64.22</c:v>
                </c:pt>
                <c:pt idx="3">
                  <c:v>73.319999999999993</c:v>
                </c:pt>
                <c:pt idx="4">
                  <c:v>80.66</c:v>
                </c:pt>
                <c:pt idx="5">
                  <c:v>87.08</c:v>
                </c:pt>
                <c:pt idx="6">
                  <c:v>91.669999999999987</c:v>
                </c:pt>
                <c:pt idx="7">
                  <c:v>94.19</c:v>
                </c:pt>
                <c:pt idx="8">
                  <c:v>96.710000000000022</c:v>
                </c:pt>
                <c:pt idx="9">
                  <c:v>99.23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58-4D83-A529-974F40FA1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997696"/>
        <c:axId val="51996160"/>
      </c:lineChart>
      <c:catAx>
        <c:axId val="519764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994624"/>
        <c:crosses val="autoZero"/>
        <c:auto val="1"/>
        <c:lblAlgn val="ctr"/>
        <c:lblOffset val="100"/>
        <c:noMultiLvlLbl val="0"/>
      </c:catAx>
      <c:valAx>
        <c:axId val="51994624"/>
        <c:scaling>
          <c:orientation val="minMax"/>
          <c:max val="3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976448"/>
        <c:crosses val="autoZero"/>
        <c:crossBetween val="between"/>
      </c:valAx>
      <c:valAx>
        <c:axId val="51996160"/>
        <c:scaling>
          <c:orientation val="minMax"/>
          <c:max val="100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997696"/>
        <c:crosses val="max"/>
        <c:crossBetween val="between"/>
      </c:valAx>
      <c:catAx>
        <c:axId val="51997696"/>
        <c:scaling>
          <c:orientation val="minMax"/>
        </c:scaling>
        <c:delete val="1"/>
        <c:axPos val="b"/>
        <c:majorTickMark val="out"/>
        <c:minorTickMark val="none"/>
        <c:tickLblPos val="none"/>
        <c:crossAx val="51996160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75000"/>
              </a:schemeClr>
            </a:solidFill>
          </c:spPr>
          <c:invertIfNegative val="0"/>
          <c:cat>
            <c:strRef>
              <c:f>Sheet1!$B$22:$B$31</c:f>
              <c:strCache>
                <c:ptCount val="10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 </c:v>
                </c:pt>
                <c:pt idx="8">
                  <c:v>i</c:v>
                </c:pt>
                <c:pt idx="9">
                  <c:v>j</c:v>
                </c:pt>
              </c:strCache>
            </c:strRef>
          </c:cat>
          <c:val>
            <c:numRef>
              <c:f>Sheet1!$D$22:$D$31</c:f>
              <c:numCache>
                <c:formatCode>General</c:formatCode>
                <c:ptCount val="10"/>
                <c:pt idx="0">
                  <c:v>27.52</c:v>
                </c:pt>
                <c:pt idx="1">
                  <c:v>21.1</c:v>
                </c:pt>
                <c:pt idx="2">
                  <c:v>15.6</c:v>
                </c:pt>
                <c:pt idx="3">
                  <c:v>9.17</c:v>
                </c:pt>
                <c:pt idx="4">
                  <c:v>7.34</c:v>
                </c:pt>
                <c:pt idx="5">
                  <c:v>6.42</c:v>
                </c:pt>
                <c:pt idx="6">
                  <c:v>4.59</c:v>
                </c:pt>
                <c:pt idx="7">
                  <c:v>2.52</c:v>
                </c:pt>
                <c:pt idx="8">
                  <c:v>2.52</c:v>
                </c:pt>
                <c:pt idx="9">
                  <c:v>2.52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BE-419B-ACDB-49C4D59F9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033024"/>
        <c:axId val="52034560"/>
      </c:barChart>
      <c:lineChart>
        <c:grouping val="standard"/>
        <c:varyColors val="0"/>
        <c:ser>
          <c:idx val="1"/>
          <c:order val="1"/>
          <c:spPr>
            <a:ln w="60325">
              <a:solidFill>
                <a:schemeClr val="accent4">
                  <a:lumMod val="60000"/>
                  <a:lumOff val="40000"/>
                </a:schemeClr>
              </a:solidFill>
            </a:ln>
          </c:spPr>
          <c:marker>
            <c:symbol val="none"/>
          </c:marker>
          <c:val>
            <c:numRef>
              <c:f>Sheet1!$E$22:$E$31</c:f>
              <c:numCache>
                <c:formatCode>General</c:formatCode>
                <c:ptCount val="10"/>
                <c:pt idx="0">
                  <c:v>27.52</c:v>
                </c:pt>
                <c:pt idx="1">
                  <c:v>48.620000000000012</c:v>
                </c:pt>
                <c:pt idx="2">
                  <c:v>64.22</c:v>
                </c:pt>
                <c:pt idx="3">
                  <c:v>73.319999999999993</c:v>
                </c:pt>
                <c:pt idx="4">
                  <c:v>80.66</c:v>
                </c:pt>
                <c:pt idx="5">
                  <c:v>87.08</c:v>
                </c:pt>
                <c:pt idx="6">
                  <c:v>91.669999999999987</c:v>
                </c:pt>
                <c:pt idx="7">
                  <c:v>94.19</c:v>
                </c:pt>
                <c:pt idx="8">
                  <c:v>96.710000000000022</c:v>
                </c:pt>
                <c:pt idx="9">
                  <c:v>99.23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BE-419B-ACDB-49C4D59F9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066560"/>
        <c:axId val="52065024"/>
      </c:lineChart>
      <c:catAx>
        <c:axId val="520330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2034560"/>
        <c:crosses val="autoZero"/>
        <c:auto val="1"/>
        <c:lblAlgn val="ctr"/>
        <c:lblOffset val="100"/>
        <c:noMultiLvlLbl val="0"/>
      </c:catAx>
      <c:valAx>
        <c:axId val="52034560"/>
        <c:scaling>
          <c:orientation val="minMax"/>
          <c:max val="3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2033024"/>
        <c:crosses val="autoZero"/>
        <c:crossBetween val="between"/>
      </c:valAx>
      <c:valAx>
        <c:axId val="52065024"/>
        <c:scaling>
          <c:orientation val="minMax"/>
          <c:max val="100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2066560"/>
        <c:crosses val="max"/>
        <c:crossBetween val="between"/>
      </c:valAx>
      <c:catAx>
        <c:axId val="52066560"/>
        <c:scaling>
          <c:orientation val="minMax"/>
        </c:scaling>
        <c:delete val="1"/>
        <c:axPos val="b"/>
        <c:majorTickMark val="out"/>
        <c:minorTickMark val="none"/>
        <c:tickLblPos val="none"/>
        <c:crossAx val="52065024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8"/>
    </mc:Choice>
    <mc:Fallback>
      <c:style val="3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Sheet1!$A$2:$A$20</c:f>
              <c:strCache>
                <c:ptCount val="19"/>
                <c:pt idx="0">
                  <c:v>L</c:v>
                </c:pt>
                <c:pt idx="1">
                  <c:v>O</c:v>
                </c:pt>
                <c:pt idx="2">
                  <c:v>E</c:v>
                </c:pt>
                <c:pt idx="3">
                  <c:v>P</c:v>
                </c:pt>
                <c:pt idx="4">
                  <c:v>R</c:v>
                </c:pt>
                <c:pt idx="5">
                  <c:v>Q</c:v>
                </c:pt>
                <c:pt idx="6">
                  <c:v>H</c:v>
                </c:pt>
                <c:pt idx="7">
                  <c:v>C</c:v>
                </c:pt>
                <c:pt idx="8">
                  <c:v>D</c:v>
                </c:pt>
                <c:pt idx="9">
                  <c:v>F</c:v>
                </c:pt>
                <c:pt idx="10">
                  <c:v>G</c:v>
                </c:pt>
                <c:pt idx="11">
                  <c:v>H</c:v>
                </c:pt>
                <c:pt idx="12">
                  <c:v>I</c:v>
                </c:pt>
                <c:pt idx="13">
                  <c:v>N</c:v>
                </c:pt>
                <c:pt idx="14">
                  <c:v>A</c:v>
                </c:pt>
                <c:pt idx="15">
                  <c:v>B</c:v>
                </c:pt>
                <c:pt idx="16">
                  <c:v>J</c:v>
                </c:pt>
                <c:pt idx="17">
                  <c:v>K</c:v>
                </c:pt>
                <c:pt idx="18">
                  <c:v>M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16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  <c:pt idx="6">
                  <c:v>6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4-4751-82D4-28C0D7BACB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704768"/>
        <c:axId val="52706688"/>
      </c:barChart>
      <c:catAx>
        <c:axId val="527047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causes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706688"/>
        <c:crosses val="autoZero"/>
        <c:auto val="1"/>
        <c:lblAlgn val="ctr"/>
        <c:lblOffset val="100"/>
        <c:noMultiLvlLbl val="0"/>
      </c:catAx>
      <c:valAx>
        <c:axId val="52706688"/>
        <c:scaling>
          <c:orientation val="minMax"/>
          <c:max val="2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704768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8"/>
    </mc:Choice>
    <mc:Fallback>
      <c:style val="3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Sheet1!$A$2:$A$20</c:f>
              <c:strCache>
                <c:ptCount val="19"/>
                <c:pt idx="0">
                  <c:v>L</c:v>
                </c:pt>
                <c:pt idx="1">
                  <c:v>O</c:v>
                </c:pt>
                <c:pt idx="2">
                  <c:v>E</c:v>
                </c:pt>
                <c:pt idx="3">
                  <c:v>P</c:v>
                </c:pt>
                <c:pt idx="4">
                  <c:v>R</c:v>
                </c:pt>
                <c:pt idx="5">
                  <c:v>Q</c:v>
                </c:pt>
                <c:pt idx="6">
                  <c:v>H</c:v>
                </c:pt>
                <c:pt idx="7">
                  <c:v>C</c:v>
                </c:pt>
                <c:pt idx="8">
                  <c:v>D</c:v>
                </c:pt>
                <c:pt idx="9">
                  <c:v>F</c:v>
                </c:pt>
                <c:pt idx="10">
                  <c:v>G</c:v>
                </c:pt>
                <c:pt idx="11">
                  <c:v>H</c:v>
                </c:pt>
                <c:pt idx="12">
                  <c:v>I</c:v>
                </c:pt>
                <c:pt idx="13">
                  <c:v>N</c:v>
                </c:pt>
                <c:pt idx="14">
                  <c:v>A</c:v>
                </c:pt>
                <c:pt idx="15">
                  <c:v>B</c:v>
                </c:pt>
                <c:pt idx="16">
                  <c:v>J</c:v>
                </c:pt>
                <c:pt idx="17">
                  <c:v>K</c:v>
                </c:pt>
                <c:pt idx="18">
                  <c:v>M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16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  <c:pt idx="6">
                  <c:v>6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5-4A31-9C4C-82E943D533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774016"/>
        <c:axId val="52775936"/>
      </c:barChart>
      <c:lineChart>
        <c:grouping val="standard"/>
        <c:varyColors val="0"/>
        <c:ser>
          <c:idx val="1"/>
          <c:order val="1"/>
          <c:spPr>
            <a:ln>
              <a:solidFill>
                <a:srgbClr val="FFC000"/>
              </a:solidFill>
            </a:ln>
          </c:spPr>
          <c:marker>
            <c:symbol val="none"/>
          </c:marker>
          <c:val>
            <c:numRef>
              <c:f>Sheet1!$D$2:$D$20</c:f>
              <c:numCache>
                <c:formatCode>General</c:formatCode>
                <c:ptCount val="19"/>
                <c:pt idx="0">
                  <c:v>16</c:v>
                </c:pt>
                <c:pt idx="1">
                  <c:v>30</c:v>
                </c:pt>
                <c:pt idx="2">
                  <c:v>43</c:v>
                </c:pt>
                <c:pt idx="3">
                  <c:v>55</c:v>
                </c:pt>
                <c:pt idx="4">
                  <c:v>66</c:v>
                </c:pt>
                <c:pt idx="5">
                  <c:v>75</c:v>
                </c:pt>
                <c:pt idx="6">
                  <c:v>81</c:v>
                </c:pt>
                <c:pt idx="7">
                  <c:v>83</c:v>
                </c:pt>
                <c:pt idx="8">
                  <c:v>85</c:v>
                </c:pt>
                <c:pt idx="9">
                  <c:v>87</c:v>
                </c:pt>
                <c:pt idx="10">
                  <c:v>89</c:v>
                </c:pt>
                <c:pt idx="11">
                  <c:v>91</c:v>
                </c:pt>
                <c:pt idx="12">
                  <c:v>93</c:v>
                </c:pt>
                <c:pt idx="13">
                  <c:v>95</c:v>
                </c:pt>
                <c:pt idx="14">
                  <c:v>96</c:v>
                </c:pt>
                <c:pt idx="15">
                  <c:v>97</c:v>
                </c:pt>
                <c:pt idx="16">
                  <c:v>98</c:v>
                </c:pt>
                <c:pt idx="17">
                  <c:v>99</c:v>
                </c:pt>
                <c:pt idx="18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B5-4A31-9C4C-82E943D533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783744"/>
        <c:axId val="52782208"/>
      </c:lineChart>
      <c:catAx>
        <c:axId val="5277401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causes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775936"/>
        <c:crosses val="autoZero"/>
        <c:auto val="1"/>
        <c:lblAlgn val="ctr"/>
        <c:lblOffset val="100"/>
        <c:noMultiLvlLbl val="0"/>
      </c:catAx>
      <c:valAx>
        <c:axId val="52775936"/>
        <c:scaling>
          <c:orientation val="minMax"/>
          <c:max val="2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774016"/>
        <c:crosses val="autoZero"/>
        <c:crossBetween val="between"/>
      </c:valAx>
      <c:valAx>
        <c:axId val="5278220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783744"/>
        <c:crosses val="max"/>
        <c:crossBetween val="between"/>
      </c:valAx>
      <c:catAx>
        <c:axId val="52783744"/>
        <c:scaling>
          <c:orientation val="minMax"/>
        </c:scaling>
        <c:delete val="1"/>
        <c:axPos val="b"/>
        <c:majorTickMark val="out"/>
        <c:minorTickMark val="none"/>
        <c:tickLblPos val="none"/>
        <c:crossAx val="52782208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8"/>
    </mc:Choice>
    <mc:Fallback>
      <c:style val="3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Sheet1!$A$2:$A$20</c:f>
              <c:strCache>
                <c:ptCount val="19"/>
                <c:pt idx="0">
                  <c:v>L</c:v>
                </c:pt>
                <c:pt idx="1">
                  <c:v>O</c:v>
                </c:pt>
                <c:pt idx="2">
                  <c:v>E</c:v>
                </c:pt>
                <c:pt idx="3">
                  <c:v>P</c:v>
                </c:pt>
                <c:pt idx="4">
                  <c:v>R</c:v>
                </c:pt>
                <c:pt idx="5">
                  <c:v>Q</c:v>
                </c:pt>
                <c:pt idx="6">
                  <c:v>H</c:v>
                </c:pt>
                <c:pt idx="7">
                  <c:v>C</c:v>
                </c:pt>
                <c:pt idx="8">
                  <c:v>D</c:v>
                </c:pt>
                <c:pt idx="9">
                  <c:v>F</c:v>
                </c:pt>
                <c:pt idx="10">
                  <c:v>G</c:v>
                </c:pt>
                <c:pt idx="11">
                  <c:v>H</c:v>
                </c:pt>
                <c:pt idx="12">
                  <c:v>I</c:v>
                </c:pt>
                <c:pt idx="13">
                  <c:v>N</c:v>
                </c:pt>
                <c:pt idx="14">
                  <c:v>A</c:v>
                </c:pt>
                <c:pt idx="15">
                  <c:v>B</c:v>
                </c:pt>
                <c:pt idx="16">
                  <c:v>J</c:v>
                </c:pt>
                <c:pt idx="17">
                  <c:v>K</c:v>
                </c:pt>
                <c:pt idx="18">
                  <c:v>M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16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  <c:pt idx="6">
                  <c:v>6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C0-4EB2-9544-E8C6BA81FC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506624"/>
        <c:axId val="52508544"/>
      </c:barChart>
      <c:lineChart>
        <c:grouping val="standard"/>
        <c:varyColors val="0"/>
        <c:ser>
          <c:idx val="1"/>
          <c:order val="1"/>
          <c:spPr>
            <a:ln>
              <a:solidFill>
                <a:srgbClr val="FFC000"/>
              </a:solidFill>
            </a:ln>
          </c:spPr>
          <c:marker>
            <c:symbol val="none"/>
          </c:marker>
          <c:val>
            <c:numRef>
              <c:f>Sheet1!$D$2:$D$20</c:f>
              <c:numCache>
                <c:formatCode>General</c:formatCode>
                <c:ptCount val="19"/>
                <c:pt idx="0">
                  <c:v>16</c:v>
                </c:pt>
                <c:pt idx="1">
                  <c:v>30</c:v>
                </c:pt>
                <c:pt idx="2">
                  <c:v>43</c:v>
                </c:pt>
                <c:pt idx="3">
                  <c:v>55</c:v>
                </c:pt>
                <c:pt idx="4">
                  <c:v>66</c:v>
                </c:pt>
                <c:pt idx="5">
                  <c:v>75</c:v>
                </c:pt>
                <c:pt idx="6">
                  <c:v>81</c:v>
                </c:pt>
                <c:pt idx="7">
                  <c:v>83</c:v>
                </c:pt>
                <c:pt idx="8">
                  <c:v>85</c:v>
                </c:pt>
                <c:pt idx="9">
                  <c:v>87</c:v>
                </c:pt>
                <c:pt idx="10">
                  <c:v>89</c:v>
                </c:pt>
                <c:pt idx="11">
                  <c:v>91</c:v>
                </c:pt>
                <c:pt idx="12">
                  <c:v>93</c:v>
                </c:pt>
                <c:pt idx="13">
                  <c:v>95</c:v>
                </c:pt>
                <c:pt idx="14">
                  <c:v>96</c:v>
                </c:pt>
                <c:pt idx="15">
                  <c:v>97</c:v>
                </c:pt>
                <c:pt idx="16">
                  <c:v>98</c:v>
                </c:pt>
                <c:pt idx="17">
                  <c:v>99</c:v>
                </c:pt>
                <c:pt idx="18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C0-4EB2-9544-E8C6BA81FC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516352"/>
        <c:axId val="52514816"/>
      </c:lineChart>
      <c:catAx>
        <c:axId val="525066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causes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508544"/>
        <c:crosses val="autoZero"/>
        <c:auto val="1"/>
        <c:lblAlgn val="ctr"/>
        <c:lblOffset val="100"/>
        <c:noMultiLvlLbl val="0"/>
      </c:catAx>
      <c:valAx>
        <c:axId val="52508544"/>
        <c:scaling>
          <c:orientation val="minMax"/>
          <c:max val="2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506624"/>
        <c:crosses val="autoZero"/>
        <c:crossBetween val="between"/>
      </c:valAx>
      <c:valAx>
        <c:axId val="5251481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516352"/>
        <c:crosses val="max"/>
        <c:crossBetween val="between"/>
      </c:valAx>
      <c:catAx>
        <c:axId val="52516352"/>
        <c:scaling>
          <c:orientation val="minMax"/>
        </c:scaling>
        <c:delete val="1"/>
        <c:axPos val="b"/>
        <c:majorTickMark val="out"/>
        <c:minorTickMark val="none"/>
        <c:tickLblPos val="none"/>
        <c:crossAx val="52514816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8"/>
    </mc:Choice>
    <mc:Fallback>
      <c:style val="3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Sheet1!$A$2:$A$20</c:f>
              <c:strCache>
                <c:ptCount val="19"/>
                <c:pt idx="0">
                  <c:v>L</c:v>
                </c:pt>
                <c:pt idx="1">
                  <c:v>O</c:v>
                </c:pt>
                <c:pt idx="2">
                  <c:v>E</c:v>
                </c:pt>
                <c:pt idx="3">
                  <c:v>P</c:v>
                </c:pt>
                <c:pt idx="4">
                  <c:v>R</c:v>
                </c:pt>
                <c:pt idx="5">
                  <c:v>Q</c:v>
                </c:pt>
                <c:pt idx="6">
                  <c:v>H</c:v>
                </c:pt>
                <c:pt idx="7">
                  <c:v>C</c:v>
                </c:pt>
                <c:pt idx="8">
                  <c:v>D</c:v>
                </c:pt>
                <c:pt idx="9">
                  <c:v>F</c:v>
                </c:pt>
                <c:pt idx="10">
                  <c:v>G</c:v>
                </c:pt>
                <c:pt idx="11">
                  <c:v>H</c:v>
                </c:pt>
                <c:pt idx="12">
                  <c:v>I</c:v>
                </c:pt>
                <c:pt idx="13">
                  <c:v>N</c:v>
                </c:pt>
                <c:pt idx="14">
                  <c:v>A</c:v>
                </c:pt>
                <c:pt idx="15">
                  <c:v>B</c:v>
                </c:pt>
                <c:pt idx="16">
                  <c:v>J</c:v>
                </c:pt>
                <c:pt idx="17">
                  <c:v>K</c:v>
                </c:pt>
                <c:pt idx="18">
                  <c:v>M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16</c:v>
                </c:pt>
                <c:pt idx="1">
                  <c:v>14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  <c:pt idx="6">
                  <c:v>6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24-4CE3-9CC7-64E139008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906624"/>
        <c:axId val="52916992"/>
      </c:barChart>
      <c:lineChart>
        <c:grouping val="standard"/>
        <c:varyColors val="0"/>
        <c:ser>
          <c:idx val="1"/>
          <c:order val="1"/>
          <c:spPr>
            <a:ln>
              <a:solidFill>
                <a:srgbClr val="FFC000"/>
              </a:solidFill>
            </a:ln>
          </c:spPr>
          <c:marker>
            <c:symbol val="none"/>
          </c:marker>
          <c:val>
            <c:numRef>
              <c:f>Sheet1!$D$2:$D$20</c:f>
              <c:numCache>
                <c:formatCode>General</c:formatCode>
                <c:ptCount val="19"/>
                <c:pt idx="0">
                  <c:v>16</c:v>
                </c:pt>
                <c:pt idx="1">
                  <c:v>30</c:v>
                </c:pt>
                <c:pt idx="2">
                  <c:v>43</c:v>
                </c:pt>
                <c:pt idx="3">
                  <c:v>55</c:v>
                </c:pt>
                <c:pt idx="4">
                  <c:v>66</c:v>
                </c:pt>
                <c:pt idx="5">
                  <c:v>75</c:v>
                </c:pt>
                <c:pt idx="6">
                  <c:v>81</c:v>
                </c:pt>
                <c:pt idx="7">
                  <c:v>83</c:v>
                </c:pt>
                <c:pt idx="8">
                  <c:v>85</c:v>
                </c:pt>
                <c:pt idx="9">
                  <c:v>87</c:v>
                </c:pt>
                <c:pt idx="10">
                  <c:v>89</c:v>
                </c:pt>
                <c:pt idx="11">
                  <c:v>91</c:v>
                </c:pt>
                <c:pt idx="12">
                  <c:v>93</c:v>
                </c:pt>
                <c:pt idx="13">
                  <c:v>95</c:v>
                </c:pt>
                <c:pt idx="14">
                  <c:v>96</c:v>
                </c:pt>
                <c:pt idx="15">
                  <c:v>97</c:v>
                </c:pt>
                <c:pt idx="16">
                  <c:v>98</c:v>
                </c:pt>
                <c:pt idx="17">
                  <c:v>99</c:v>
                </c:pt>
                <c:pt idx="18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24-4CE3-9CC7-64E139008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920704"/>
        <c:axId val="52918912"/>
      </c:lineChart>
      <c:catAx>
        <c:axId val="529066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causes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916992"/>
        <c:crosses val="autoZero"/>
        <c:auto val="1"/>
        <c:lblAlgn val="ctr"/>
        <c:lblOffset val="100"/>
        <c:noMultiLvlLbl val="0"/>
      </c:catAx>
      <c:valAx>
        <c:axId val="52916992"/>
        <c:scaling>
          <c:orientation val="minMax"/>
          <c:max val="2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906624"/>
        <c:crosses val="autoZero"/>
        <c:crossBetween val="between"/>
      </c:valAx>
      <c:valAx>
        <c:axId val="5291891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2920704"/>
        <c:crosses val="max"/>
        <c:crossBetween val="between"/>
      </c:valAx>
      <c:catAx>
        <c:axId val="52920704"/>
        <c:scaling>
          <c:orientation val="minMax"/>
        </c:scaling>
        <c:delete val="1"/>
        <c:axPos val="b"/>
        <c:majorTickMark val="out"/>
        <c:minorTickMark val="none"/>
        <c:tickLblPos val="none"/>
        <c:crossAx val="52918912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19D5C-EB3A-4A66-9293-7E0B7B72F39F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5A919-464F-4D0E-B017-8A3B46E78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5A919-464F-4D0E-B017-8A3B46E7841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FCA10-7569-47BD-AE84-8CED4512188C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40803-61DD-43DF-BE7B-8E8DF05B4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1066800"/>
          </a:xfrm>
        </p:spPr>
        <p:txBody>
          <a:bodyPr>
            <a:normAutofit/>
          </a:bodyPr>
          <a:lstStyle/>
          <a:p>
            <a:r>
              <a:rPr lang="en-US" sz="5800" b="1" dirty="0"/>
              <a:t>Pareto Analysis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4572000"/>
            <a:ext cx="6400800" cy="175260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Achyut Shankar</a:t>
            </a:r>
            <a:b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Bennett University,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/>
              <a:t>Introduction</a:t>
            </a:r>
            <a:r>
              <a:rPr lang="tr-TR" sz="4800" b="1" dirty="0"/>
              <a:t> 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899025"/>
          </a:xfrm>
        </p:spPr>
        <p:txBody>
          <a:bodyPr>
            <a:normAutofit lnSpcReduction="10000"/>
          </a:bodyPr>
          <a:lstStyle/>
          <a:p>
            <a:pPr algn="just"/>
            <a:r>
              <a:rPr lang="tr-TR" sz="2600" dirty="0"/>
              <a:t>Pareto analysis is a formal technique useful where many possible courses of action are competing for attention</a:t>
            </a:r>
            <a:endParaRPr lang="en-US" sz="2600" dirty="0"/>
          </a:p>
          <a:p>
            <a:pPr algn="just">
              <a:buNone/>
            </a:pPr>
            <a:endParaRPr lang="en-US" sz="2600" dirty="0"/>
          </a:p>
          <a:p>
            <a:pPr algn="just"/>
            <a:r>
              <a:rPr lang="tr-TR" sz="2600" dirty="0"/>
              <a:t>Pareto analysis is a creative way of looking at causes of problems because it helps stimulate thinking and organize thoughts</a:t>
            </a:r>
            <a:endParaRPr lang="en-US" sz="2600" dirty="0"/>
          </a:p>
          <a:p>
            <a:pPr algn="just">
              <a:buNone/>
            </a:pPr>
            <a:endParaRPr lang="en-US" sz="2600" dirty="0"/>
          </a:p>
          <a:p>
            <a:pPr algn="just"/>
            <a:r>
              <a:rPr lang="tr-TR" sz="2600" dirty="0"/>
              <a:t>This technique helps to identify the top 20% of causes that needs to be addressed to resolve the 80% of the problems</a:t>
            </a:r>
            <a:endParaRPr lang="en-US" sz="2600" dirty="0"/>
          </a:p>
          <a:p>
            <a:pPr algn="just">
              <a:buNone/>
            </a:pPr>
            <a:endParaRPr lang="tr-TR" sz="2600" dirty="0"/>
          </a:p>
          <a:p>
            <a:pPr algn="just"/>
            <a:r>
              <a:rPr lang="en-US" sz="2600" dirty="0"/>
              <a:t>Works on principle of “the vital few and the trivial many”</a:t>
            </a:r>
          </a:p>
          <a:p>
            <a:pPr algn="just"/>
            <a:endParaRPr lang="tr-TR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24000"/>
            <a:ext cx="800100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 Named after </a:t>
            </a:r>
            <a:r>
              <a:rPr lang="en-US" sz="2600" dirty="0" err="1"/>
              <a:t>Vilfredo</a:t>
            </a:r>
            <a:r>
              <a:rPr lang="en-US" sz="2600" dirty="0"/>
              <a:t> Pareto, an Italian economist and sociologist who lived from 1848 to 1923</a:t>
            </a:r>
          </a:p>
          <a:p>
            <a:pPr lvl="0" algn="just">
              <a:lnSpc>
                <a:spcPct val="150000"/>
              </a:lnSpc>
            </a:pPr>
            <a:endParaRPr lang="en-US" sz="2600" dirty="0"/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600" dirty="0"/>
              <a:t> In 1906, He created a mathematical formula to describe the unequal distribution of wealth in his country, observing that twenty percent of the people owned eighty percent of the wealth</a:t>
            </a: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282A-8F5B-1301-547F-6BF67B40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 and 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3CEB4-38E5-5ADD-37B1-3212A199D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Pareto Analysis is a decision-making technique based on the Pareto Principle (80/20 rule), which states that 80% of problems are often caused by 20% of the causes. It helps prioritize efforts by identifying the most significant factors contributing to an issue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Key Concepts</a:t>
            </a:r>
          </a:p>
          <a:p>
            <a:pPr marL="0" indent="0">
              <a:buNone/>
            </a:pPr>
            <a:r>
              <a:rPr lang="en-US" dirty="0"/>
              <a:t>• 	Pareto Principle: Focus on the "vital few" rather than the "trivial many."</a:t>
            </a:r>
          </a:p>
          <a:p>
            <a:pPr marL="0" indent="0">
              <a:buNone/>
            </a:pPr>
            <a:r>
              <a:rPr lang="en-US" dirty="0"/>
              <a:t>• 	Cause vs. Impact: Rank causes by their impact on the problem.</a:t>
            </a:r>
          </a:p>
          <a:p>
            <a:pPr marL="0" indent="0">
              <a:buNone/>
            </a:pPr>
            <a:r>
              <a:rPr lang="en-US" dirty="0"/>
              <a:t>• 	Cumulative Contribution: Helps visualize how few causes lead to most of the effect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6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Analysis: Procedure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304800" y="1752600"/>
            <a:ext cx="4495800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b="1" dirty="0"/>
              <a:t>1.</a:t>
            </a:r>
            <a:r>
              <a:rPr lang="en-US" sz="2600" dirty="0"/>
              <a:t> Gather data on the frequency of the causes</a:t>
            </a:r>
          </a:p>
          <a:p>
            <a:pPr algn="just"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Rectangle 3"/>
          <p:cNvSpPr/>
          <p:nvPr/>
        </p:nvSpPr>
        <p:spPr>
          <a:xfrm>
            <a:off x="304800" y="3581400"/>
            <a:ext cx="4572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b="1" dirty="0"/>
              <a:t>2.</a:t>
            </a:r>
            <a:r>
              <a:rPr lang="en-US" sz="2600" dirty="0"/>
              <a:t> Rank the causes from the most to the least important, and calculate the cumulative percentage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53000" y="1981198"/>
          <a:ext cx="4191000" cy="4627978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1012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1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Causes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Percentage of Total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Cumulative Percent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A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20%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20%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B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18%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38%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C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15%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53%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D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11%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64%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10%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74%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F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6%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80% 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G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6%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86%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H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6%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92%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I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5%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97%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J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/>
                        <a:t>3%</a:t>
                      </a:r>
                      <a:endParaRPr lang="en-US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/>
                        <a:t>100%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Analysis: Procedure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81000" y="1752600"/>
            <a:ext cx="77724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b="1" dirty="0"/>
              <a:t>3.</a:t>
            </a:r>
            <a:r>
              <a:rPr lang="en-US" sz="2600" dirty="0"/>
              <a:t> Plot with the different causes on the x-axis, ordered from the most to least frequent, and the percentages on the y-axis, from 0 to 100%. Construct a bar graph based on the percentage of each cause</a:t>
            </a:r>
          </a:p>
          <a:p>
            <a:pPr algn="just">
              <a:lnSpc>
                <a:spcPct val="150000"/>
              </a:lnSpc>
            </a:pPr>
            <a:endParaRPr lang="en-US" sz="2600" dirty="0"/>
          </a:p>
          <a:p>
            <a:pPr algn="just">
              <a:lnSpc>
                <a:spcPct val="150000"/>
              </a:lnSpc>
            </a:pPr>
            <a:r>
              <a:rPr lang="en-US" sz="2600" b="1" dirty="0"/>
              <a:t>4.</a:t>
            </a:r>
            <a:r>
              <a:rPr lang="en-US" sz="2600" dirty="0"/>
              <a:t> Construct a line graph of the cumulative percent</a:t>
            </a:r>
          </a:p>
        </p:txBody>
      </p:sp>
    </p:spTree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Analysis: Procedure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Chart 8"/>
          <p:cNvGraphicFramePr/>
          <p:nvPr/>
        </p:nvGraphicFramePr>
        <p:xfrm>
          <a:off x="685800" y="1828800"/>
          <a:ext cx="77724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Analysis: Procedure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219200"/>
            <a:ext cx="85344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b="1" dirty="0"/>
              <a:t>5.</a:t>
            </a:r>
            <a:r>
              <a:rPr lang="en-US" sz="2600" dirty="0"/>
              <a:t> Draw a line from 80% on the y-axis (of cumulative percent) to the line graph that is parallel to the x-axis, and then drop the line down to the X axis. This line separates the important causes from the trivial ones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2895600" y="3810000"/>
          <a:ext cx="55626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5791200" y="3886200"/>
            <a:ext cx="2133600" cy="0"/>
          </a:xfrm>
          <a:prstGeom prst="line">
            <a:avLst/>
          </a:prstGeom>
          <a:ln w="444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4686300" y="4991100"/>
            <a:ext cx="2209800" cy="0"/>
          </a:xfrm>
          <a:prstGeom prst="line">
            <a:avLst/>
          </a:prstGeom>
          <a:ln w="444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Analysis: Example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52400" y="1447800"/>
            <a:ext cx="89154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/>
              <a:t>Mr. X is trying to determine why his clinic has been reaching such a small proportion of its eligible clients. 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In carrying out the exercise, he forms a  team. The team will first identify the primary reason why users are not using the services. They will then establish the causes for the problem and define a strategy and a plan of action for solving it.</a:t>
            </a:r>
          </a:p>
          <a:p>
            <a:pPr algn="just">
              <a:lnSpc>
                <a:spcPct val="150000"/>
              </a:lnSpc>
            </a:pPr>
            <a:r>
              <a:rPr lang="en-US" sz="2600" dirty="0"/>
              <a:t>The objective of the process will be to improve the quality of the services offered.</a:t>
            </a:r>
          </a:p>
        </p:txBody>
      </p:sp>
    </p:spTree>
  </p:cSld>
  <p:clrMapOvr>
    <a:masterClrMapping/>
  </p:clrMapOvr>
  <p:transition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24000"/>
            <a:ext cx="175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Step 1.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1524000"/>
            <a:ext cx="30074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C0066"/>
                </a:solidFill>
              </a:rPr>
              <a:t>Frequency analysis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90600" y="2209800"/>
          <a:ext cx="7239000" cy="4480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Possible Causes of Long Waiting Time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Percent of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(A)</a:t>
                      </a:r>
                      <a:r>
                        <a:rPr kumimoji="0" lang="en-US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Policies require excess information on users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(B) Policies require complicated procedures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(C) Too much paperwork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(D) Not enough funding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(E) Inadequate schedules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(F) Inadequate policies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(G) Clinic personnel have too many chores at home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(H) Clinic personnel have other jobs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1447800"/>
          <a:ext cx="7239000" cy="5120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(H)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Clinic personnel lack punctuality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(I) Clinic personnel have insufficient training</a:t>
                      </a:r>
                      <a:endParaRPr lang="en-US" sz="16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(J) Clinic personnel aren't motivated</a:t>
                      </a:r>
                      <a:endParaRPr lang="en-US" sz="1600" dirty="0"/>
                    </a:p>
                  </a:txBody>
                  <a:tcPr anchor="ctr"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(K) Clinic personnel are careless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(L) Clinic personnel don't follow the schedule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(M) Users forget ID cards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(N) Users don't keep appointments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(O) Delay in handing over lab results to doctors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(P) Outdated methods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(Q)Lack of automation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(R) Procedures take too long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47800"/>
            <a:ext cx="175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Step 2.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1447800"/>
            <a:ext cx="254909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Ranking causes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2286000"/>
          <a:ext cx="7010400" cy="441960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06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Percentage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Cumulative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(L) Clinic personnel don't follow the schedule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(O) </a:t>
                      </a:r>
                      <a:r>
                        <a:rPr lang="en-US" sz="1600" dirty="0">
                          <a:latin typeface="+mn-lt"/>
                          <a:ea typeface="Times New Roman"/>
                          <a:cs typeface="Times New Roman"/>
                        </a:rPr>
                        <a:t>Delay in handing over lab results to doctors</a:t>
                      </a:r>
                      <a:endParaRPr lang="en-US" sz="16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(E) Inadequate schedules</a:t>
                      </a:r>
                      <a:endParaRPr lang="en-US" sz="16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(P) </a:t>
                      </a:r>
                      <a:r>
                        <a:rPr lang="en-US" sz="1600" dirty="0">
                          <a:latin typeface="+mn-lt"/>
                          <a:ea typeface="Times New Roman"/>
                          <a:cs typeface="Times New Roman"/>
                        </a:rPr>
                        <a:t>Outdated methods</a:t>
                      </a:r>
                      <a:endParaRPr lang="en-US" sz="16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(R) </a:t>
                      </a:r>
                      <a:r>
                        <a:rPr lang="en-US" sz="1600" dirty="0">
                          <a:latin typeface="+mn-lt"/>
                          <a:ea typeface="Times New Roman"/>
                          <a:cs typeface="Times New Roman"/>
                        </a:rPr>
                        <a:t>Procedures take too long</a:t>
                      </a:r>
                      <a:endParaRPr lang="en-US" sz="16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(Q) Lack of automation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(H) Clinic personnel lack punctuality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pPr algn="l"/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(C) Too much paperwork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1752600"/>
          <a:ext cx="7086600" cy="475012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r>
                        <a:rPr kumimoji="0"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 enough funding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85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(F)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Inadequate policies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87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(G)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Clinic personnel have too many chores at home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(H)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Clinic personnel have other jobs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(I)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Clinic personnel have insufficient training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Users don't keep appointments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Policies require excess information on users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719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Policies require complicated procedures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(J)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Clinic personnel aren't motivated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(K)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Clinic personnel are careless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kumimoji="0"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(M) 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Users forget ID cards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24000"/>
            <a:ext cx="175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Step 3.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24000"/>
            <a:ext cx="7391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Construct a bar graph based on the percentage of each cause</a:t>
            </a:r>
          </a:p>
          <a:p>
            <a:endParaRPr lang="en-US" sz="3000" dirty="0">
              <a:solidFill>
                <a:srgbClr val="CC0066"/>
              </a:solidFill>
            </a:endParaRPr>
          </a:p>
        </p:txBody>
      </p:sp>
      <p:graphicFrame>
        <p:nvGraphicFramePr>
          <p:cNvPr id="8" name="Chart 7"/>
          <p:cNvGraphicFramePr/>
          <p:nvPr/>
        </p:nvGraphicFramePr>
        <p:xfrm>
          <a:off x="228600" y="2362200"/>
          <a:ext cx="77724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24000"/>
            <a:ext cx="175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Step 4.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24000"/>
            <a:ext cx="728244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Construct a line graph based on cumulative %</a:t>
            </a:r>
          </a:p>
        </p:txBody>
      </p:sp>
      <p:graphicFrame>
        <p:nvGraphicFramePr>
          <p:cNvPr id="10" name="Chart 9"/>
          <p:cNvGraphicFramePr/>
          <p:nvPr/>
        </p:nvGraphicFramePr>
        <p:xfrm>
          <a:off x="0" y="2362200"/>
          <a:ext cx="8077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series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24000"/>
            <a:ext cx="175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Step 5.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24000"/>
            <a:ext cx="260218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Pareto Diagram</a:t>
            </a:r>
          </a:p>
        </p:txBody>
      </p:sp>
      <p:graphicFrame>
        <p:nvGraphicFramePr>
          <p:cNvPr id="10" name="Chart 9"/>
          <p:cNvGraphicFramePr/>
          <p:nvPr/>
        </p:nvGraphicFramePr>
        <p:xfrm>
          <a:off x="0" y="2362200"/>
          <a:ext cx="8077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3124200" y="3657600"/>
            <a:ext cx="0" cy="2819400"/>
          </a:xfrm>
          <a:prstGeom prst="line">
            <a:avLst/>
          </a:prstGeom>
          <a:ln w="38100">
            <a:solidFill>
              <a:srgbClr val="FF339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1524000"/>
            <a:ext cx="792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C0066"/>
                </a:solidFill>
              </a:rPr>
              <a:t>Interpretation of results</a:t>
            </a:r>
          </a:p>
        </p:txBody>
      </p:sp>
      <p:graphicFrame>
        <p:nvGraphicFramePr>
          <p:cNvPr id="10" name="Chart 9"/>
          <p:cNvGraphicFramePr/>
          <p:nvPr/>
        </p:nvGraphicFramePr>
        <p:xfrm>
          <a:off x="0" y="2362200"/>
          <a:ext cx="8077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3124200" y="3657600"/>
            <a:ext cx="0" cy="2819400"/>
          </a:xfrm>
          <a:prstGeom prst="line">
            <a:avLst/>
          </a:prstGeom>
          <a:ln w="38100">
            <a:solidFill>
              <a:srgbClr val="FF339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5800" y="6172200"/>
            <a:ext cx="2667000" cy="304800"/>
          </a:xfrm>
          <a:prstGeom prst="ellipse">
            <a:avLst/>
          </a:prstGeom>
          <a:noFill/>
          <a:ln w="38100"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553200" y="884872"/>
            <a:ext cx="259080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2000"/>
            </a:schemeClr>
          </a:solidFill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500" dirty="0"/>
              <a:t>Approximately 7 factors are responsible for 80% of the waiting time problem. The other 12 factors are responsible for only 20% of the said problem.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Solves efficiently a problem by the identification and the ranking, according to their importance, of the main causes of the faults</a:t>
            </a:r>
          </a:p>
          <a:p>
            <a:pPr algn="just">
              <a:buNone/>
            </a:pPr>
            <a:endParaRPr lang="en-US" sz="2600" dirty="0"/>
          </a:p>
          <a:p>
            <a:pPr algn="just"/>
            <a:r>
              <a:rPr lang="en-US" sz="2600" dirty="0"/>
              <a:t>Shows where to focus efforts</a:t>
            </a:r>
          </a:p>
          <a:p>
            <a:pPr algn="just">
              <a:buNone/>
            </a:pPr>
            <a:endParaRPr lang="en-US" sz="2600" dirty="0"/>
          </a:p>
          <a:p>
            <a:pPr algn="just"/>
            <a:r>
              <a:rPr lang="en-US" sz="2600" dirty="0"/>
              <a:t>Allows better use of limited resources </a:t>
            </a:r>
          </a:p>
          <a:p>
            <a:pPr algn="just">
              <a:buNone/>
            </a:pPr>
            <a:endParaRPr lang="en-US" sz="2600" dirty="0"/>
          </a:p>
          <a:p>
            <a:pPr algn="just"/>
            <a:r>
              <a:rPr lang="en-US" sz="2600" dirty="0"/>
              <a:t>Enhances problem-solving skills</a:t>
            </a:r>
          </a:p>
          <a:p>
            <a:pPr algn="just">
              <a:buNone/>
            </a:pPr>
            <a:endParaRPr lang="en-US" sz="2600" dirty="0"/>
          </a:p>
          <a:p>
            <a:pPr algn="just"/>
            <a:r>
              <a:rPr lang="en-US" sz="2600" dirty="0"/>
              <a:t>Improves decision making</a:t>
            </a:r>
          </a:p>
          <a:p>
            <a:pPr algn="just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</TotalTime>
  <Words>1037</Words>
  <Application>Microsoft Office PowerPoint</Application>
  <PresentationFormat>On-screen Show (4:3)</PresentationFormat>
  <Paragraphs>221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Pareto Analysis</vt:lpstr>
      <vt:lpstr>Introduction  </vt:lpstr>
      <vt:lpstr>History</vt:lpstr>
      <vt:lpstr>Definition and Key concepts</vt:lpstr>
      <vt:lpstr>Pareto Analysis: Procedure</vt:lpstr>
      <vt:lpstr>Pareto Analysis: Procedure</vt:lpstr>
      <vt:lpstr>Pareto Analysis: Procedure</vt:lpstr>
      <vt:lpstr>Pareto Analysis: Procedure</vt:lpstr>
      <vt:lpstr>Pareto Analysis: Example</vt:lpstr>
      <vt:lpstr>Pareto Analysis</vt:lpstr>
      <vt:lpstr>Pareto Analysis</vt:lpstr>
      <vt:lpstr>Pareto Analysis</vt:lpstr>
      <vt:lpstr>Pareto Analysis</vt:lpstr>
      <vt:lpstr>Pareto Analysis</vt:lpstr>
      <vt:lpstr>Pareto Analysis</vt:lpstr>
      <vt:lpstr>Pareto Analysis</vt:lpstr>
      <vt:lpstr>Pareto Analysis</vt:lpstr>
      <vt:lpstr>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pareto analysis</dc:title>
  <dc:subject>SR&amp;T</dc:subject>
  <dc:creator>nilmani</dc:creator>
  <cp:lastModifiedBy>Achyut Shankar</cp:lastModifiedBy>
  <cp:revision>197</cp:revision>
  <dcterms:created xsi:type="dcterms:W3CDTF">2012-02-28T17:44:25Z</dcterms:created>
  <dcterms:modified xsi:type="dcterms:W3CDTF">2025-10-02T19:53:43Z</dcterms:modified>
</cp:coreProperties>
</file>