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1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73" r:id="rId13"/>
    <p:sldId id="274" r:id="rId14"/>
    <p:sldId id="266" r:id="rId15"/>
    <p:sldId id="269" r:id="rId16"/>
    <p:sldId id="270" r:id="rId17"/>
    <p:sldId id="271" r:id="rId18"/>
    <p:sldId id="272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2B007-1230-47F5-AF8D-B9B8D20E683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55CC8-0E03-4801-9F8D-0B264A579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6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</a:t>
            </a:r>
            <a:r>
              <a:rPr lang="en-US" baseline="0" dirty="0"/>
              <a:t> in  book named “software Engineering Economics”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155CC8-0E03-4801-9F8D-0B264A5795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13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0E58-743B-468D-8559-3AE449437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6BAD9-CA0C-1B19-656B-BCF0B4799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12599-80A6-1888-9E00-202CBAFB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CCC0-D61B-662B-6958-9F5778ED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EB0DE-72D2-20FD-FD93-EF7FEDF9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48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B9C6-504D-1E50-BA1A-D1D79FCC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69BBA-58CE-A31E-427A-83162591A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2C9A5-CA14-5D19-745F-C42F5FAD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4C310-10C1-1873-8ACE-9D4319B3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200AB-2739-3002-09D1-2BBCE0D8F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02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C449-3BFB-D106-5199-4881EFD4A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4F515-0549-9F93-3D8C-23574F945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BE71-3F6B-88D7-ADA1-F3C730F72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0F646-3A0D-74DF-0D55-F15AB066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EF03A-76D1-DAA4-5B05-BF38736D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0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E80D-9A0E-DDAB-1ECA-07533913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05A40-B98E-B2B2-B6B3-712D97DEF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9BEEB-8E10-D41F-DDA2-C2825FA9D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9659B-BA78-87D7-7FBF-BFAD7DC46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8DC2B-0F92-C000-DFE2-230C72E36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F0251-37AE-FA8A-1791-765FD014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90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7F6C-CE55-414A-B058-1F4D3F269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42961-B687-CD13-0878-F9ACB7CE4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8FE7E-8E8A-D118-1DA6-45E2EA793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061A0-4D99-70B4-54DD-B809AAB5E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4E8EB9-D814-D48D-BF7D-4F42A8C68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4D187-3EA9-BDB3-94C3-23BA3BBCB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D1B06B-21B9-AAD2-0E5D-63FE8888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E130E6-4411-7D85-C10C-DFBA1930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8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EDAD-F5D9-85D6-56EC-262C129D7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D8B03-494C-1722-D231-2D44A545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89831-80DB-0BE3-DCFE-965597018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50C30-FF86-5C51-7561-EB771D6F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6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919BEC-B9F4-46B2-DEE9-F9423DAA3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1FCCB-0B99-AB1A-CF07-A1BAA52B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AD6FA-4D7C-54F7-6C18-12BC269C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17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A9A8-BB93-A0C0-4678-AAB1C86A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E5A1-B058-5792-3691-8BF338879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B1D0C-0A13-9A97-8A4B-FBE512493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42994-CE81-7DAA-5A05-816947B1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74CD2-EA43-105D-4E07-0FAC6238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CB85B-F87F-37C6-33B9-41D9BE2B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69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8692-057D-BFF2-CD9C-7949297AA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B1AEA-2B7B-A0C2-9155-D644D2804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19D62-954C-210D-2CC0-998FACFC3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0120A-771D-B390-6D73-04F1B63C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80478-4F00-3A6A-B81B-D2085424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EFA8C-7FF7-31BD-1744-0AA40981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9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EF8D-9DB7-4742-6E3A-728F742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4B387-FBB0-F1DA-4EE6-DD385A26A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14FE1-0873-A52E-7E89-294F5759A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83121-0366-7B8E-F3BE-965473ED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52F64-9397-C44C-AD80-44D1BE57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85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1466E9-AECB-2A27-BBFA-3DAF66D0B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AF22-E0EC-2F26-163D-DDF14D096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23F7B-F111-DD1C-1487-7564F6EB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31B4F-6ECF-C6C8-08E8-BB86505D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96152-0E1C-1F6D-9489-63512DD2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29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AF52B-0AA0-2D8F-CB7E-A198EC0D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16EC3-B6E9-BBE0-75FD-7F6DA33C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9E78-DC53-C159-48A9-12DF4B80F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F1133-3259-4C45-BABA-5B62D9C6F78D}" type="datetimeFigureOut">
              <a:rPr lang="en-US" smtClean="0"/>
              <a:t>9/16/2025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67BE4-5A46-B589-4E59-978764AE2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CC519-EA0C-6A8F-89E0-36B445DD0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1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MODEL</a:t>
            </a:r>
          </a:p>
        </p:txBody>
      </p:sp>
    </p:spTree>
    <p:extLst>
      <p:ext uri="{BB962C8B-B14F-4D97-AF65-F5344CB8AC3E}">
        <p14:creationId xmlns:p14="http://schemas.microsoft.com/office/powerpoint/2010/main" val="123050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551" y="958225"/>
            <a:ext cx="9144000" cy="1601921"/>
          </a:xfrm>
        </p:spPr>
        <p:txBody>
          <a:bodyPr/>
          <a:lstStyle/>
          <a:p>
            <a:pPr algn="ctr"/>
            <a:r>
              <a:rPr lang="en-US" dirty="0"/>
              <a:t>COCOMO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551" y="204200"/>
            <a:ext cx="9144000" cy="75402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 Constructive Cost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460" y="2590204"/>
            <a:ext cx="100455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constructive cost model was developed by Barry W. Boehm in the late 1970s and published in Boehm's 1981 as a model for estimating effort, cost, and schedule for software projects.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i="1" dirty="0"/>
          </a:p>
          <a:p>
            <a:pPr marL="514350" indent="-514350" algn="ctr">
              <a:buFont typeface="+mj-lt"/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COCOMO I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COCOMO II</a:t>
            </a:r>
          </a:p>
        </p:txBody>
      </p:sp>
    </p:spTree>
    <p:extLst>
      <p:ext uri="{BB962C8B-B14F-4D97-AF65-F5344CB8AC3E}">
        <p14:creationId xmlns:p14="http://schemas.microsoft.com/office/powerpoint/2010/main" val="180773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has further 3 types.</a:t>
            </a:r>
          </a:p>
          <a:p>
            <a:pPr marL="914400" lvl="2" indent="0">
              <a:buNone/>
            </a:pPr>
            <a:r>
              <a:rPr lang="en-US" sz="4400" dirty="0"/>
              <a:t>1-</a:t>
            </a:r>
            <a:r>
              <a:rPr lang="en-US" sz="3200" dirty="0"/>
              <a:t>Basic Model</a:t>
            </a:r>
          </a:p>
          <a:p>
            <a:pPr marL="1371600" lvl="3" indent="0">
              <a:buNone/>
            </a:pPr>
            <a:r>
              <a:rPr lang="en-US" sz="2800" dirty="0"/>
              <a:t>It estimate the software in a rough and quick manner.</a:t>
            </a:r>
          </a:p>
          <a:p>
            <a:pPr marL="1371600" lvl="3" indent="0">
              <a:buNone/>
            </a:pPr>
            <a:r>
              <a:rPr lang="en-US" sz="2800" dirty="0"/>
              <a:t>Mostly used for small and medium sized projects.</a:t>
            </a:r>
          </a:p>
          <a:p>
            <a:pPr marL="1371600" lvl="3" indent="0">
              <a:buNone/>
            </a:pPr>
            <a:r>
              <a:rPr lang="en-US" sz="2800" dirty="0"/>
              <a:t>3 modes of development</a:t>
            </a:r>
          </a:p>
          <a:p>
            <a:pPr marL="1371600" lvl="3" indent="0">
              <a:buNone/>
            </a:pPr>
            <a:endParaRPr lang="en-US" sz="2200" dirty="0"/>
          </a:p>
          <a:p>
            <a:pPr marL="1828800" lvl="3" indent="-457200">
              <a:buFont typeface="+mj-lt"/>
              <a:buAutoNum type="alphaLcParenR"/>
            </a:pPr>
            <a:r>
              <a:rPr lang="en-US" sz="3200" dirty="0"/>
              <a:t>	Organic</a:t>
            </a:r>
          </a:p>
          <a:p>
            <a:pPr marL="1828800" lvl="3" indent="-457200">
              <a:buFont typeface="+mj-lt"/>
              <a:buAutoNum type="alphaLcParenR"/>
            </a:pPr>
            <a:r>
              <a:rPr lang="en-US" sz="3200" dirty="0"/>
              <a:t>	Semi Detached</a:t>
            </a:r>
          </a:p>
          <a:p>
            <a:pPr marL="1828800" lvl="3" indent="-457200">
              <a:buFont typeface="+mj-lt"/>
              <a:buAutoNum type="alphaLcParenR"/>
            </a:pPr>
            <a:r>
              <a:rPr lang="en-US" sz="3200" dirty="0"/>
              <a:t>	Embedded</a:t>
            </a:r>
          </a:p>
        </p:txBody>
      </p:sp>
    </p:spTree>
    <p:extLst>
      <p:ext uri="{BB962C8B-B14F-4D97-AF65-F5344CB8AC3E}">
        <p14:creationId xmlns:p14="http://schemas.microsoft.com/office/powerpoint/2010/main" val="1008508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0469"/>
          </a:xfrm>
        </p:spPr>
        <p:txBody>
          <a:bodyPr/>
          <a:lstStyle/>
          <a:p>
            <a:r>
              <a:rPr lang="en-US" dirty="0"/>
              <a:t>COCOMO I Modes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187355"/>
              </p:ext>
            </p:extLst>
          </p:nvPr>
        </p:nvGraphicFramePr>
        <p:xfrm>
          <a:off x="504968" y="1255594"/>
          <a:ext cx="11231420" cy="5437940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2075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9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3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u="sng" dirty="0"/>
                        <a:t>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0" u="sng" dirty="0"/>
                        <a:t>Semi Detached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/>
                        <a:t>Embedded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621">
                <a:tc>
                  <a:txBody>
                    <a:bodyPr/>
                    <a:lstStyle/>
                    <a:p>
                      <a:r>
                        <a:rPr lang="en-US" sz="2400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2-50</a:t>
                      </a:r>
                      <a:r>
                        <a:rPr lang="en-US" sz="2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KLOC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50-300</a:t>
                      </a:r>
                      <a:r>
                        <a:rPr lang="en-US" sz="2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KLOC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 KLOC or above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388">
                <a:tc>
                  <a:txBody>
                    <a:bodyPr/>
                    <a:lstStyle/>
                    <a:p>
                      <a:r>
                        <a:rPr lang="en-US" sz="2400" dirty="0"/>
                        <a:t>Team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</a:t>
                      </a:r>
                      <a:r>
                        <a:rPr lang="en-US" baseline="0" dirty="0"/>
                        <a:t> size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621">
                <a:tc>
                  <a:txBody>
                    <a:bodyPr/>
                    <a:lstStyle/>
                    <a:p>
                      <a:r>
                        <a:rPr lang="en-US" sz="2400" dirty="0"/>
                        <a:t>Developer</a:t>
                      </a:r>
                    </a:p>
                    <a:p>
                      <a:r>
                        <a:rPr lang="en-US" sz="2400" dirty="0"/>
                        <a:t>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Experienced</a:t>
                      </a:r>
                      <a:r>
                        <a:rPr lang="en-US" baseline="0" dirty="0"/>
                        <a:t> developers needed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experienced</a:t>
                      </a:r>
                      <a:r>
                        <a:rPr lang="en-US" baseline="0" dirty="0"/>
                        <a:t> developers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little experienced</a:t>
                      </a:r>
                      <a:r>
                        <a:rPr lang="en-US" baseline="0" dirty="0"/>
                        <a:t> people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38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Familiar Environment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</a:t>
                      </a:r>
                      <a:r>
                        <a:rPr lang="en-US" baseline="0" dirty="0"/>
                        <a:t> Familiar Environment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Significant Environment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( almost new )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38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Middle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Major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38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Dead</a:t>
                      </a:r>
                      <a:r>
                        <a:rPr lang="en-US" sz="2400" baseline="0" dirty="0"/>
                        <a:t>line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Tight deadlines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38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Payroll</a:t>
                      </a:r>
                      <a:r>
                        <a:rPr lang="en-US" baseline="0" dirty="0"/>
                        <a:t>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Utility</a:t>
                      </a:r>
                      <a:r>
                        <a:rPr lang="en-US" baseline="0" dirty="0"/>
                        <a:t> Systems (compiler)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657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8582"/>
          </a:xfrm>
        </p:spPr>
        <p:txBody>
          <a:bodyPr>
            <a:normAutofit/>
          </a:bodyPr>
          <a:lstStyle/>
          <a:p>
            <a:r>
              <a:rPr lang="en-US" dirty="0"/>
              <a:t>Basic Model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789564"/>
              </p:ext>
            </p:extLst>
          </p:nvPr>
        </p:nvGraphicFramePr>
        <p:xfrm>
          <a:off x="1417854" y="1546446"/>
          <a:ext cx="8313003" cy="21913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7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1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261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261">
                <a:tc>
                  <a:txBody>
                    <a:bodyPr/>
                    <a:lstStyle/>
                    <a:p>
                      <a:r>
                        <a:rPr lang="en-US" dirty="0"/>
                        <a:t>Efforts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=a(KLOC)</a:t>
                      </a:r>
                      <a:r>
                        <a:rPr lang="en-US" baseline="30000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Persons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261">
                <a:tc>
                  <a:txBody>
                    <a:bodyPr/>
                    <a:lstStyle/>
                    <a:p>
                      <a:r>
                        <a:rPr lang="en-US" dirty="0"/>
                        <a:t>Development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c(effort)</a:t>
                      </a:r>
                      <a:r>
                        <a:rPr lang="en-US" baseline="30000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Months</a:t>
                      </a:r>
                      <a:endParaRPr lang="en-US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261">
                <a:tc>
                  <a:txBody>
                    <a:bodyPr/>
                    <a:lstStyle/>
                    <a:p>
                      <a:r>
                        <a:rPr lang="en-US" dirty="0"/>
                        <a:t>Effort Staff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effort/dev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persons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261">
                <a:tc>
                  <a:txBody>
                    <a:bodyPr/>
                    <a:lstStyle/>
                    <a:p>
                      <a:r>
                        <a:rPr lang="en-US" dirty="0"/>
                        <a:t>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KLOC/Effort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KLOC/PM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518078"/>
              </p:ext>
            </p:extLst>
          </p:nvPr>
        </p:nvGraphicFramePr>
        <p:xfrm>
          <a:off x="1417854" y="4391849"/>
          <a:ext cx="8313005" cy="211540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62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2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2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Software project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</a:t>
                      </a:r>
                      <a:r>
                        <a:rPr lang="en-US" baseline="-25000" dirty="0">
                          <a:effectLst/>
                        </a:rPr>
                        <a:t>b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b</a:t>
                      </a:r>
                      <a:r>
                        <a:rPr lang="en-US" baseline="-25000">
                          <a:effectLst/>
                        </a:rPr>
                        <a:t>b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c</a:t>
                      </a:r>
                      <a:r>
                        <a:rPr lang="en-US" baseline="-25000">
                          <a:effectLst/>
                        </a:rPr>
                        <a:t>b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d</a:t>
                      </a:r>
                      <a:r>
                        <a:rPr lang="en-US" baseline="-25000">
                          <a:effectLst/>
                        </a:rPr>
                        <a:t>b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8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Organic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2.4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1.05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2.5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0.38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Semi-detached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3.0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1.12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2.5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0.35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Embedded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3.6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1.20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2.5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0.32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17854" y="3868297"/>
            <a:ext cx="1325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854" y="1173708"/>
            <a:ext cx="131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Equations</a:t>
            </a:r>
          </a:p>
        </p:txBody>
      </p:sp>
    </p:spTree>
    <p:extLst>
      <p:ext uri="{BB962C8B-B14F-4D97-AF65-F5344CB8AC3E}">
        <p14:creationId xmlns:p14="http://schemas.microsoft.com/office/powerpoint/2010/main" val="277036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Suppose a project was estimated to be 400 KLOC. Calculate effort and time for organic mode.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organic</a:t>
            </a:r>
          </a:p>
          <a:p>
            <a:pPr marL="0" indent="0">
              <a:buNone/>
            </a:pPr>
            <a:r>
              <a:rPr lang="en-US" dirty="0"/>
              <a:t>		effort=a(KLOC)</a:t>
            </a:r>
            <a:r>
              <a:rPr lang="en-US" baseline="30000" dirty="0"/>
              <a:t>b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aseline="30000" dirty="0"/>
              <a:t>		</a:t>
            </a:r>
            <a:r>
              <a:rPr lang="en-US" dirty="0"/>
              <a:t>effort=2.4(400)</a:t>
            </a:r>
            <a:r>
              <a:rPr lang="en-US" baseline="30000" dirty="0"/>
              <a:t>1.05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aseline="30000" dirty="0"/>
              <a:t>		</a:t>
            </a:r>
            <a:r>
              <a:rPr lang="en-US" dirty="0"/>
              <a:t>Person Months=1295PM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04228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/>
              <a:t>-Intermediate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Basic model was quick but inaccurate and it provide rough time period but intermediate model includes a set of 15 additional predictors (cost drivers) for calculation.</a:t>
            </a:r>
          </a:p>
          <a:p>
            <a:pPr marL="0" indent="0">
              <a:buNone/>
            </a:pPr>
            <a:r>
              <a:rPr lang="en-US" b="1" u="sng" dirty="0"/>
              <a:t>15 cost drivers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Product attributes</a:t>
            </a:r>
          </a:p>
          <a:p>
            <a:pPr lvl="2"/>
            <a:r>
              <a:rPr lang="en-US" dirty="0"/>
              <a:t>Required software reliability.</a:t>
            </a:r>
          </a:p>
          <a:p>
            <a:pPr lvl="2"/>
            <a:r>
              <a:rPr lang="en-US" dirty="0"/>
              <a:t>Database size</a:t>
            </a:r>
          </a:p>
          <a:p>
            <a:pPr lvl="2"/>
            <a:r>
              <a:rPr lang="en-US" dirty="0"/>
              <a:t>Product complexity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124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 cost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Computer attributes</a:t>
            </a:r>
          </a:p>
          <a:p>
            <a:pPr lvl="2"/>
            <a:r>
              <a:rPr lang="en-US" dirty="0"/>
              <a:t>Execution Time</a:t>
            </a:r>
          </a:p>
          <a:p>
            <a:pPr lvl="2"/>
            <a:r>
              <a:rPr lang="en-US" dirty="0"/>
              <a:t>Storage</a:t>
            </a:r>
          </a:p>
          <a:p>
            <a:pPr lvl="2"/>
            <a:r>
              <a:rPr lang="en-US" dirty="0"/>
              <a:t>Virtual machine</a:t>
            </a:r>
          </a:p>
          <a:p>
            <a:pPr lvl="2"/>
            <a:r>
              <a:rPr lang="en-US" dirty="0"/>
              <a:t>Computer turnaround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Personal attributes</a:t>
            </a:r>
          </a:p>
          <a:p>
            <a:pPr lvl="2"/>
            <a:r>
              <a:rPr lang="en-US" dirty="0"/>
              <a:t>Analyst capabilities</a:t>
            </a:r>
          </a:p>
          <a:p>
            <a:pPr lvl="2"/>
            <a:r>
              <a:rPr lang="en-US" dirty="0"/>
              <a:t>Programmer capabilities</a:t>
            </a:r>
          </a:p>
          <a:p>
            <a:pPr lvl="2"/>
            <a:r>
              <a:rPr lang="en-US" dirty="0"/>
              <a:t>Virtual machine experience </a:t>
            </a:r>
          </a:p>
          <a:p>
            <a:pPr lvl="2"/>
            <a:r>
              <a:rPr lang="en-US" dirty="0"/>
              <a:t>Programming language experience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Project Attributes</a:t>
            </a:r>
          </a:p>
          <a:p>
            <a:pPr lvl="2"/>
            <a:r>
              <a:rPr lang="en-US" dirty="0"/>
              <a:t>Modern programming practices</a:t>
            </a:r>
          </a:p>
          <a:p>
            <a:pPr lvl="2"/>
            <a:r>
              <a:rPr lang="en-US" dirty="0"/>
              <a:t>Use of software tools</a:t>
            </a:r>
          </a:p>
          <a:p>
            <a:pPr lvl="2"/>
            <a:r>
              <a:rPr lang="en-US" dirty="0"/>
              <a:t>Required development schedule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588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 of intermediate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488" y="3545242"/>
            <a:ext cx="10233800" cy="2732728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E= </a:t>
            </a:r>
            <a:r>
              <a:rPr lang="en-US" b="1" i="1" dirty="0"/>
              <a:t>a </a:t>
            </a:r>
            <a:r>
              <a:rPr lang="en-US" b="1" dirty="0"/>
              <a:t>(</a:t>
            </a:r>
            <a:r>
              <a:rPr lang="en-US" b="1" dirty="0" err="1"/>
              <a:t>KLoC</a:t>
            </a:r>
            <a:r>
              <a:rPr lang="en-US" b="1" dirty="0"/>
              <a:t>)</a:t>
            </a:r>
            <a:r>
              <a:rPr lang="en-US" b="1" i="1" baseline="30000" dirty="0"/>
              <a:t>(b)</a:t>
            </a:r>
            <a:r>
              <a:rPr lang="en-US" b="1" i="1" dirty="0"/>
              <a:t> x </a:t>
            </a:r>
            <a:r>
              <a:rPr lang="en-US" b="1" dirty="0"/>
              <a:t>(EAF)  (effort adjustment factor)</a:t>
            </a:r>
          </a:p>
          <a:p>
            <a:r>
              <a:rPr lang="en-US" b="1" dirty="0"/>
              <a:t>E=2.8(400)</a:t>
            </a:r>
            <a:r>
              <a:rPr lang="en-US" b="1" baseline="30000" dirty="0"/>
              <a:t>1.20</a:t>
            </a:r>
            <a:r>
              <a:rPr lang="en-US" b="1" dirty="0"/>
              <a:t> x (EAF)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915209"/>
              </p:ext>
            </p:extLst>
          </p:nvPr>
        </p:nvGraphicFramePr>
        <p:xfrm>
          <a:off x="979488" y="1886445"/>
          <a:ext cx="10233024" cy="1463040"/>
        </p:xfrm>
        <a:graphic>
          <a:graphicData uri="http://schemas.openxmlformats.org/drawingml/2006/table">
            <a:tbl>
              <a:tblPr firstCol="1">
                <a:tableStyleId>{3C2FFA5D-87B4-456A-9821-1D502468CF0F}</a:tableStyleId>
              </a:tblPr>
              <a:tblGrid>
                <a:gridCol w="3411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1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Software project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</a:t>
                      </a:r>
                      <a:r>
                        <a:rPr lang="en-US" baseline="-25000">
                          <a:effectLst/>
                        </a:rPr>
                        <a:t>i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b</a:t>
                      </a:r>
                      <a:r>
                        <a:rPr lang="en-US" baseline="-25000">
                          <a:effectLst/>
                        </a:rPr>
                        <a:t>i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Organic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3.2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1.05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Semi-detached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3.0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1.12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Embedded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2.8</a:t>
                      </a:r>
                      <a:endParaRPr lang="en-US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1.20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00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91"/>
          <a:stretch/>
        </p:blipFill>
        <p:spPr>
          <a:xfrm>
            <a:off x="0" y="0"/>
            <a:ext cx="12192000" cy="6858000"/>
          </a:xfrm>
          <a:ln>
            <a:solidFill>
              <a:srgbClr val="C00000"/>
            </a:solidFill>
          </a:ln>
        </p:spPr>
      </p:pic>
      <p:sp>
        <p:nvSpPr>
          <p:cNvPr id="8" name="Oval 7"/>
          <p:cNvSpPr/>
          <p:nvPr/>
        </p:nvSpPr>
        <p:spPr>
          <a:xfrm>
            <a:off x="259308" y="3657600"/>
            <a:ext cx="3766782" cy="34119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59308" y="4490114"/>
            <a:ext cx="3493826" cy="47767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9007522" y="3705367"/>
            <a:ext cx="791570" cy="2456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94579" y="4728949"/>
            <a:ext cx="777923" cy="2388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11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8707"/>
          </a:xfrm>
        </p:spPr>
        <p:txBody>
          <a:bodyPr/>
          <a:lstStyle/>
          <a:p>
            <a:r>
              <a:rPr lang="en-US" dirty="0"/>
              <a:t>Numerical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1323832"/>
            <a:ext cx="11900848" cy="1787858"/>
          </a:xfrm>
        </p:spPr>
        <p:txBody>
          <a:bodyPr numCol="1">
            <a:normAutofit fontScale="77500" lnSpcReduction="20000"/>
          </a:bodyPr>
          <a:lstStyle/>
          <a:p>
            <a:r>
              <a:rPr lang="en-US" dirty="0"/>
              <a:t>A new project with 400 KLOC </a:t>
            </a:r>
          </a:p>
          <a:p>
            <a:r>
              <a:rPr lang="en-US" dirty="0"/>
              <a:t>has a choice of hiring from 2 pools of developers</a:t>
            </a:r>
          </a:p>
          <a:p>
            <a:r>
              <a:rPr lang="en-US" sz="2400" dirty="0"/>
              <a:t>1-very high capable (w.r.t application) but little experience in programming.</a:t>
            </a:r>
          </a:p>
          <a:p>
            <a:r>
              <a:rPr lang="en-US" sz="2400" dirty="0"/>
              <a:t>2-developers of low quality but a lot of programming experience.</a:t>
            </a:r>
          </a:p>
          <a:p>
            <a:pPr marL="0" indent="0">
              <a:buNone/>
            </a:pPr>
            <a:r>
              <a:rPr lang="en-US" dirty="0"/>
              <a:t>Which is better choice.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22830" y="3176467"/>
            <a:ext cx="11900848" cy="3524583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13000"/>
                        <a:lumOff val="87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CASE I</a:t>
            </a:r>
          </a:p>
          <a:p>
            <a:pPr marL="0" indent="0">
              <a:buNone/>
            </a:pPr>
            <a:r>
              <a:rPr lang="en-US" dirty="0"/>
              <a:t>E=a(KLOC)</a:t>
            </a:r>
            <a:r>
              <a:rPr lang="en-US" baseline="30000" dirty="0"/>
              <a:t> b</a:t>
            </a:r>
            <a:r>
              <a:rPr lang="en-US" dirty="0"/>
              <a:t> x EAF</a:t>
            </a:r>
          </a:p>
          <a:p>
            <a:pPr marL="0" indent="0">
              <a:buNone/>
            </a:pPr>
            <a:r>
              <a:rPr lang="en-US" dirty="0"/>
              <a:t>EAF=0.82x1.14</a:t>
            </a:r>
          </a:p>
          <a:p>
            <a:pPr marL="0" indent="0">
              <a:buNone/>
            </a:pPr>
            <a:r>
              <a:rPr lang="en-US" dirty="0"/>
              <a:t>	=0.93</a:t>
            </a:r>
          </a:p>
          <a:p>
            <a:pPr marL="0" indent="0">
              <a:buNone/>
            </a:pPr>
            <a:r>
              <a:rPr lang="en-US" dirty="0"/>
              <a:t>E=2.8(400)</a:t>
            </a:r>
            <a:r>
              <a:rPr lang="en-US" baseline="30000" dirty="0"/>
              <a:t>1.20</a:t>
            </a:r>
            <a:r>
              <a:rPr lang="en-US" dirty="0"/>
              <a:t> x 0.934</a:t>
            </a:r>
          </a:p>
          <a:p>
            <a:pPr marL="0" indent="0">
              <a:buNone/>
            </a:pPr>
            <a:r>
              <a:rPr lang="en-US" dirty="0"/>
              <a:t>E=3470 PM (person months)</a:t>
            </a:r>
          </a:p>
          <a:p>
            <a:r>
              <a:rPr lang="en-US" dirty="0"/>
              <a:t>CASE II</a:t>
            </a:r>
          </a:p>
          <a:p>
            <a:pPr marL="0" indent="0">
              <a:buNone/>
            </a:pPr>
            <a:r>
              <a:rPr lang="en-US" sz="3200" dirty="0"/>
              <a:t>     E=a(KLOC)</a:t>
            </a:r>
            <a:r>
              <a:rPr lang="en-US" sz="3200" baseline="30000" dirty="0"/>
              <a:t>b</a:t>
            </a:r>
            <a:r>
              <a:rPr lang="en-US" sz="3200" dirty="0"/>
              <a:t> x EAF</a:t>
            </a:r>
          </a:p>
          <a:p>
            <a:pPr marL="0" indent="0">
              <a:buNone/>
            </a:pPr>
            <a:r>
              <a:rPr lang="en-US" sz="3200" dirty="0"/>
              <a:t>     EAF=1.29x0.95</a:t>
            </a:r>
          </a:p>
          <a:p>
            <a:pPr marL="457200" lvl="1" indent="0">
              <a:buNone/>
            </a:pPr>
            <a:r>
              <a:rPr lang="en-US" sz="3200" dirty="0"/>
              <a:t>	=1.22</a:t>
            </a:r>
          </a:p>
          <a:p>
            <a:pPr marL="457200" lvl="1" indent="0">
              <a:buNone/>
            </a:pPr>
            <a:r>
              <a:rPr lang="en-US" sz="3200" dirty="0"/>
              <a:t>E=3412  x 1.22</a:t>
            </a:r>
          </a:p>
          <a:p>
            <a:pPr marL="457200" lvl="1" indent="0">
              <a:buNone/>
            </a:pPr>
            <a:r>
              <a:rPr lang="en-US" sz="3200" dirty="0"/>
              <a:t>E=4528 PM </a:t>
            </a:r>
          </a:p>
        </p:txBody>
      </p:sp>
    </p:spTree>
    <p:extLst>
      <p:ext uri="{BB962C8B-B14F-4D97-AF65-F5344CB8AC3E}">
        <p14:creationId xmlns:p14="http://schemas.microsoft.com/office/powerpoint/2010/main" val="282381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COCOMO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detailed COCOMO , the whole software is divided into different modules and then we apply COCOMO in different modules to estimate effort and then sum the effort.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effort is calculated as a function of program size and a set of cost drivers are given according to each phase of the software life cycle.</a:t>
            </a:r>
          </a:p>
        </p:txBody>
      </p:sp>
    </p:spTree>
    <p:extLst>
      <p:ext uri="{BB962C8B-B14F-4D97-AF65-F5344CB8AC3E}">
        <p14:creationId xmlns:p14="http://schemas.microsoft.com/office/powerpoint/2010/main" val="3222917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phases of detailed COCOMO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planning and requirements</a:t>
            </a:r>
          </a:p>
          <a:p>
            <a:r>
              <a:rPr lang="en-US" dirty="0"/>
              <a:t>system design</a:t>
            </a:r>
          </a:p>
          <a:p>
            <a:r>
              <a:rPr lang="en-US" dirty="0"/>
              <a:t>detailed design</a:t>
            </a:r>
          </a:p>
          <a:p>
            <a:r>
              <a:rPr lang="en-US" dirty="0"/>
              <a:t>module code and test</a:t>
            </a:r>
          </a:p>
          <a:p>
            <a:r>
              <a:rPr lang="en-US" dirty="0"/>
              <a:t>integration and test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959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COCOMO II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490" y="1825625"/>
            <a:ext cx="109853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was also developed by Barry Boehm</a:t>
            </a:r>
          </a:p>
          <a:p>
            <a:r>
              <a:rPr lang="en-US" dirty="0"/>
              <a:t>In detailed COCOMO, the whole software is divided into different modules and then we apply COCOMO in different modules to estimate effort and then sum the effort.</a:t>
            </a:r>
          </a:p>
          <a:p>
            <a:pPr marL="0" indent="0">
              <a:buNone/>
            </a:pPr>
            <a:r>
              <a:rPr lang="en-US" dirty="0"/>
              <a:t>COCOMO II has 3 stages.</a:t>
            </a:r>
          </a:p>
          <a:p>
            <a:pPr marL="0" indent="0">
              <a:buNone/>
            </a:pPr>
            <a:r>
              <a:rPr lang="en-US" dirty="0"/>
              <a:t>		Application Composition Estimation</a:t>
            </a:r>
          </a:p>
          <a:p>
            <a:pPr marL="0" indent="0">
              <a:buNone/>
            </a:pPr>
            <a:r>
              <a:rPr lang="en-US" dirty="0"/>
              <a:t>		Early Design Estimation</a:t>
            </a:r>
          </a:p>
          <a:p>
            <a:pPr marL="0" indent="0">
              <a:buNone/>
            </a:pPr>
            <a:r>
              <a:rPr lang="en-US" dirty="0"/>
              <a:t>		Post Architecture Estimation</a:t>
            </a:r>
          </a:p>
        </p:txBody>
      </p:sp>
    </p:spTree>
    <p:extLst>
      <p:ext uri="{BB962C8B-B14F-4D97-AF65-F5344CB8AC3E}">
        <p14:creationId xmlns:p14="http://schemas.microsoft.com/office/powerpoint/2010/main" val="151196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composition estimation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those application which can be</a:t>
            </a:r>
          </a:p>
          <a:p>
            <a:pPr lvl="1"/>
            <a:r>
              <a:rPr lang="en-US" dirty="0"/>
              <a:t>Quickly developed using interoperated components</a:t>
            </a:r>
          </a:p>
          <a:p>
            <a:pPr lvl="1"/>
            <a:r>
              <a:rPr lang="en-US" dirty="0"/>
              <a:t>E.g. GUI , Database manger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Size is estimated using objects points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Screens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Reports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3GL components</a:t>
            </a:r>
          </a:p>
        </p:txBody>
      </p:sp>
    </p:spTree>
    <p:extLst>
      <p:ext uri="{BB962C8B-B14F-4D97-AF65-F5344CB8AC3E}">
        <p14:creationId xmlns:p14="http://schemas.microsoft.com/office/powerpoint/2010/main" val="3509810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composition estimation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 for effort estimation</a:t>
            </a:r>
          </a:p>
          <a:p>
            <a:r>
              <a:rPr lang="en-US" dirty="0"/>
              <a:t>Access objects counts</a:t>
            </a:r>
          </a:p>
          <a:p>
            <a:pPr lvl="1"/>
            <a:r>
              <a:rPr lang="en-US" dirty="0"/>
              <a:t>Estimate the numbers of screens , reports and 3GL components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Classify complexity levels of each object.</a:t>
            </a:r>
          </a:p>
          <a:p>
            <a:pPr lvl="1"/>
            <a:r>
              <a:rPr lang="en-US" dirty="0"/>
              <a:t>Classify each point into </a:t>
            </a:r>
            <a:r>
              <a:rPr lang="en-US" b="1" dirty="0"/>
              <a:t>Simple , medium and difficult.</a:t>
            </a:r>
          </a:p>
          <a:p>
            <a:pPr lvl="1"/>
            <a:r>
              <a:rPr lang="en-US" dirty="0"/>
              <a:t>screens are classify on the base of </a:t>
            </a:r>
            <a:r>
              <a:rPr lang="en-US" b="1" dirty="0"/>
              <a:t>views and sources.</a:t>
            </a:r>
            <a:endParaRPr lang="en-US" dirty="0"/>
          </a:p>
          <a:p>
            <a:pPr lvl="1"/>
            <a:r>
              <a:rPr lang="en-US" dirty="0"/>
              <a:t>Reports are classify on the base of </a:t>
            </a:r>
            <a:r>
              <a:rPr lang="en-US" b="1" dirty="0"/>
              <a:t>Section + 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042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Classification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030851"/>
              </p:ext>
            </p:extLst>
          </p:nvPr>
        </p:nvGraphicFramePr>
        <p:xfrm>
          <a:off x="838200" y="1825625"/>
          <a:ext cx="10515600" cy="395234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1847">
                <a:tc>
                  <a:txBody>
                    <a:bodyPr/>
                    <a:lstStyle/>
                    <a:p>
                      <a:r>
                        <a:rPr lang="en-US" sz="2800" dirty="0"/>
                        <a:t>NO of Views</a:t>
                      </a:r>
                      <a:endParaRPr lang="en-US" dirty="0"/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2-3 Screens</a:t>
                      </a:r>
                    </a:p>
                    <a:p>
                      <a:r>
                        <a:rPr lang="en-US" sz="2800" dirty="0"/>
                        <a:t>servers</a:t>
                      </a:r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&lt;8 screens</a:t>
                      </a:r>
                      <a:endParaRPr lang="en-US" dirty="0"/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8+</a:t>
                      </a:r>
                      <a:r>
                        <a:rPr lang="en-US" sz="3200" baseline="0" dirty="0"/>
                        <a:t> screens</a:t>
                      </a:r>
                    </a:p>
                    <a:p>
                      <a:r>
                        <a:rPr lang="en-US" sz="3200" baseline="0" dirty="0"/>
                        <a:t>Servers</a:t>
                      </a:r>
                      <a:endParaRPr lang="en-US" dirty="0"/>
                    </a:p>
                  </a:txBody>
                  <a:tcPr marL="93965" marR="9396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847">
                <a:tc>
                  <a:txBody>
                    <a:bodyPr/>
                    <a:lstStyle/>
                    <a:p>
                      <a:r>
                        <a:rPr lang="en-US" sz="4400" dirty="0"/>
                        <a:t>&lt;3</a:t>
                      </a:r>
                      <a:endParaRPr lang="en-US" dirty="0"/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Simple</a:t>
                      </a:r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Simple</a:t>
                      </a:r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Medium</a:t>
                      </a:r>
                    </a:p>
                  </a:txBody>
                  <a:tcPr marL="93965" marR="9396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847">
                <a:tc>
                  <a:txBody>
                    <a:bodyPr/>
                    <a:lstStyle/>
                    <a:p>
                      <a:r>
                        <a:rPr lang="en-US" sz="4000" u="none" dirty="0"/>
                        <a:t>3-7</a:t>
                      </a:r>
                      <a:endParaRPr lang="en-US" u="none" dirty="0"/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Simple</a:t>
                      </a:r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Medium</a:t>
                      </a:r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Difficult</a:t>
                      </a:r>
                    </a:p>
                  </a:txBody>
                  <a:tcPr marL="93965" marR="9396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1847">
                <a:tc>
                  <a:txBody>
                    <a:bodyPr/>
                    <a:lstStyle/>
                    <a:p>
                      <a:r>
                        <a:rPr lang="en-US" sz="4000" dirty="0"/>
                        <a:t>&gt;8</a:t>
                      </a:r>
                      <a:endParaRPr lang="en-US" dirty="0"/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Medium</a:t>
                      </a:r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Difficult</a:t>
                      </a:r>
                    </a:p>
                  </a:txBody>
                  <a:tcPr marL="93965" marR="93965"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Difficult</a:t>
                      </a:r>
                    </a:p>
                  </a:txBody>
                  <a:tcPr marL="93965" marR="9396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904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207810"/>
              </p:ext>
            </p:extLst>
          </p:nvPr>
        </p:nvGraphicFramePr>
        <p:xfrm>
          <a:off x="1120775" y="1825623"/>
          <a:ext cx="10233024" cy="395234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558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8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1847">
                <a:tc>
                  <a:txBody>
                    <a:bodyPr/>
                    <a:lstStyle/>
                    <a:p>
                      <a:r>
                        <a:rPr lang="en-US" sz="2800" dirty="0"/>
                        <a:t>NO of Views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2-3 Screens</a:t>
                      </a:r>
                    </a:p>
                    <a:p>
                      <a:r>
                        <a:rPr lang="en-US" sz="2800" dirty="0"/>
                        <a:t>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&lt;8 screens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8+</a:t>
                      </a:r>
                      <a:r>
                        <a:rPr lang="en-US" sz="3200" baseline="0" dirty="0"/>
                        <a:t> screens</a:t>
                      </a:r>
                    </a:p>
                    <a:p>
                      <a:r>
                        <a:rPr lang="en-US" sz="3200" baseline="0" dirty="0"/>
                        <a:t>Servers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847">
                <a:tc>
                  <a:txBody>
                    <a:bodyPr/>
                    <a:lstStyle/>
                    <a:p>
                      <a:r>
                        <a:rPr lang="en-US" sz="4400" dirty="0"/>
                        <a:t>0-1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847">
                <a:tc>
                  <a:txBody>
                    <a:bodyPr/>
                    <a:lstStyle/>
                    <a:p>
                      <a:r>
                        <a:rPr lang="en-US" sz="4000" u="none" dirty="0"/>
                        <a:t>2</a:t>
                      </a:r>
                      <a:r>
                        <a:rPr lang="en-US" sz="4000" u="none" baseline="0" dirty="0"/>
                        <a:t> or 3</a:t>
                      </a:r>
                      <a:endParaRPr lang="en-US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Difficult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1847">
                <a:tc>
                  <a:txBody>
                    <a:bodyPr/>
                    <a:lstStyle/>
                    <a:p>
                      <a:r>
                        <a:rPr lang="en-US" sz="4000" dirty="0"/>
                        <a:t>4+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Difficult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89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COCOMO II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Six phases of detailed COCOMO are:-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planning and requirements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system design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detailed design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module code and test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integration and test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Cost Constructive model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17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943</TotalTime>
  <Words>814</Words>
  <Application>Microsoft Office PowerPoint</Application>
  <PresentationFormat>Widescreen</PresentationFormat>
  <Paragraphs>244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Wingdings</vt:lpstr>
      <vt:lpstr>Office Theme</vt:lpstr>
      <vt:lpstr>COCOMO MODEL</vt:lpstr>
      <vt:lpstr>COCOMO</vt:lpstr>
      <vt:lpstr>COCOMO I</vt:lpstr>
      <vt:lpstr>COCOMO I Modes</vt:lpstr>
      <vt:lpstr>Basic Model Example</vt:lpstr>
      <vt:lpstr>Numerical</vt:lpstr>
      <vt:lpstr>2-Intermediate Model</vt:lpstr>
      <vt:lpstr>15 cost Drivers</vt:lpstr>
      <vt:lpstr>Equation of intermediate model</vt:lpstr>
      <vt:lpstr>PowerPoint Presentation</vt:lpstr>
      <vt:lpstr>Numerical</vt:lpstr>
      <vt:lpstr>Detailed COCOMO</vt:lpstr>
      <vt:lpstr>The phases of detailed COCOMO</vt:lpstr>
      <vt:lpstr> COCOMO II model</vt:lpstr>
      <vt:lpstr>Application composition estimation </vt:lpstr>
      <vt:lpstr>Application composition estimation </vt:lpstr>
      <vt:lpstr>Screen Classification</vt:lpstr>
      <vt:lpstr>Reports classification</vt:lpstr>
      <vt:lpstr>COCOMO II Phases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COCOMO</dc:title>
  <dc:creator>Awais Siddique</dc:creator>
  <cp:lastModifiedBy>Achyut Shankar</cp:lastModifiedBy>
  <cp:revision>36</cp:revision>
  <dcterms:created xsi:type="dcterms:W3CDTF">2018-05-02T14:21:13Z</dcterms:created>
  <dcterms:modified xsi:type="dcterms:W3CDTF">2025-09-16T07:04:30Z</dcterms:modified>
</cp:coreProperties>
</file>